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9" r:id="rId2"/>
    <p:sldId id="336" r:id="rId3"/>
    <p:sldId id="262" r:id="rId4"/>
    <p:sldId id="366" r:id="rId5"/>
    <p:sldId id="367" r:id="rId6"/>
    <p:sldId id="368" r:id="rId7"/>
    <p:sldId id="369" r:id="rId8"/>
    <p:sldId id="370" r:id="rId9"/>
    <p:sldId id="373" r:id="rId10"/>
    <p:sldId id="348" r:id="rId11"/>
    <p:sldId id="372" r:id="rId12"/>
    <p:sldId id="374" r:id="rId13"/>
    <p:sldId id="371" r:id="rId14"/>
    <p:sldId id="376" r:id="rId15"/>
    <p:sldId id="375" r:id="rId16"/>
    <p:sldId id="377" r:id="rId17"/>
    <p:sldId id="378" r:id="rId18"/>
    <p:sldId id="379" r:id="rId19"/>
    <p:sldId id="380" r:id="rId20"/>
    <p:sldId id="384" r:id="rId21"/>
    <p:sldId id="381" r:id="rId22"/>
    <p:sldId id="382" r:id="rId23"/>
    <p:sldId id="383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2" r:id="rId32"/>
    <p:sldId id="393" r:id="rId33"/>
    <p:sldId id="394" r:id="rId34"/>
    <p:sldId id="395" r:id="rId35"/>
    <p:sldId id="396" r:id="rId36"/>
    <p:sldId id="397" r:id="rId37"/>
    <p:sldId id="398" r:id="rId38"/>
    <p:sldId id="399" r:id="rId39"/>
    <p:sldId id="400" r:id="rId40"/>
    <p:sldId id="401" r:id="rId41"/>
    <p:sldId id="402" r:id="rId42"/>
    <p:sldId id="403" r:id="rId43"/>
    <p:sldId id="404" r:id="rId44"/>
    <p:sldId id="406" r:id="rId45"/>
    <p:sldId id="405" r:id="rId46"/>
    <p:sldId id="407" r:id="rId47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612" y="80"/>
      </p:cViewPr>
      <p:guideLst>
        <p:guide orient="horz" pos="2160"/>
        <p:guide pos="3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6E0AF-CF27-4EBF-95FD-353059CD133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30F0E-DC3D-4285-B4EF-5163287D2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2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77138-3BC2-4722-8FB5-C522C73BB8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4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82296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038"/>
            <a:ext cx="82296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0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5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709739"/>
            <a:ext cx="946404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589464"/>
            <a:ext cx="946404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3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6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65126"/>
            <a:ext cx="946404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681163"/>
            <a:ext cx="464200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505075"/>
            <a:ext cx="464200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681163"/>
            <a:ext cx="4664869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505075"/>
            <a:ext cx="4664869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2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5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87426"/>
            <a:ext cx="555498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5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87426"/>
            <a:ext cx="555498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2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01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65125"/>
            <a:ext cx="236601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65125"/>
            <a:ext cx="696087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3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825625"/>
            <a:ext cx="946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12B01-1403-42A1-9DED-A8A821F83A9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7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6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w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13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1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8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5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2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5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3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wmf"/><Relationship Id="rId4" Type="http://schemas.openxmlformats.org/officeDocument/2006/relationships/oleObject" Target="../embeddings/oleObject3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wmf"/><Relationship Id="rId4" Type="http://schemas.openxmlformats.org/officeDocument/2006/relationships/oleObject" Target="../embeddings/oleObject3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wmf"/><Relationship Id="rId4" Type="http://schemas.openxmlformats.org/officeDocument/2006/relationships/oleObject" Target="../embeddings/oleObject3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71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74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44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47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76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55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7A6B394-0A1E-964E-C6AF-CFE9D3A0C996}"/>
              </a:ext>
            </a:extLst>
          </p:cNvPr>
          <p:cNvSpPr/>
          <p:nvPr/>
        </p:nvSpPr>
        <p:spPr>
          <a:xfrm>
            <a:off x="141149" y="1925961"/>
            <a:ext cx="10690502" cy="1447976"/>
          </a:xfrm>
          <a:prstGeom prst="rect">
            <a:avLst/>
          </a:prstGeom>
          <a:solidFill>
            <a:srgbClr val="002060"/>
          </a:solidFill>
          <a:ln cap="rnd"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ym typeface="+mn-ea"/>
              </a:rPr>
              <a:t>MATH417 L7</a:t>
            </a:r>
            <a:endParaRPr lang="zh-CN" altLang="en-US" sz="4400" b="1" dirty="0">
              <a:ln w="10160" cap="rnd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09EFE95-7FCC-662D-168E-BFE3A96CF9ED}"/>
              </a:ext>
            </a:extLst>
          </p:cNvPr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586740" y="3741415"/>
            <a:ext cx="9799320" cy="211455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Chuqi CHEN</a:t>
            </a:r>
          </a:p>
          <a:p>
            <a:endParaRPr lang="en-US" altLang="zh-CN" sz="2000" dirty="0"/>
          </a:p>
          <a:p>
            <a:r>
              <a:rPr lang="en-US" altLang="zh-CN" dirty="0"/>
              <a:t>February 2, 2026</a:t>
            </a:r>
          </a:p>
        </p:txBody>
      </p:sp>
      <p:pic>
        <p:nvPicPr>
          <p:cNvPr id="8" name="Picture 6" descr="University of Michigan Logo and symbol, meaning, history, PNG, brand">
            <a:extLst>
              <a:ext uri="{FF2B5EF4-FFF2-40B4-BE49-F238E27FC236}">
                <a16:creationId xmlns:a16="http://schemas.microsoft.com/office/drawing/2014/main" id="{AA367B7F-C39E-3B5E-C389-F6151769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3045" y="5754936"/>
            <a:ext cx="1969757" cy="110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53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85056-A161-6BA2-7F27-1501E2CA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A6098A-00E7-BAAE-F5CB-4B258DB9815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Warm up</a:t>
            </a:r>
            <a:endParaRPr lang="zh-CN" altLang="en-US" sz="3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74ADBE-BEBD-BAC6-57D5-7B7DCA00C406}"/>
              </a:ext>
            </a:extLst>
          </p:cNvPr>
          <p:cNvSpPr txBox="1"/>
          <p:nvPr/>
        </p:nvSpPr>
        <p:spPr>
          <a:xfrm>
            <a:off x="846896" y="5813374"/>
            <a:ext cx="43813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Homework 1: due date: 02/06</a:t>
            </a:r>
          </a:p>
          <a:p>
            <a:r>
              <a:rPr lang="en-US" sz="2400" b="1" dirty="0"/>
              <a:t>Homework 2: due data: 02/16  </a:t>
            </a:r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6155AF03-51DB-0356-54F0-1BE0E0626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96" y="1439995"/>
            <a:ext cx="9698054" cy="408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49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1B1E-3FFC-E81D-8020-2A0B8221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9F15EF-E95F-ADA4-9303-FEC2B13E1BC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32833A-87D6-C150-D642-6A6860C4CDE4}"/>
              </a:ext>
            </a:extLst>
          </p:cNvPr>
          <p:cNvSpPr txBox="1"/>
          <p:nvPr/>
        </p:nvSpPr>
        <p:spPr>
          <a:xfrm>
            <a:off x="1435145" y="1651177"/>
            <a:ext cx="9289875" cy="4231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Review on Gaussian Elimination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Computation cost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Gaussian elimination with Partial Pivoting</a:t>
            </a:r>
            <a:endParaRPr lang="en-US" altLang="zh-CN" sz="2800" b="1" dirty="0"/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407150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DBDF1-ACF7-B15D-936E-EBB04606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FBAEA6-9689-B2A7-B425-1BAF7171339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99B66E-370E-F514-E617-EE64F620D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84" y="1808210"/>
            <a:ext cx="9698054" cy="408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6B336-4375-0F1D-1895-CDD0F7D1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FCBABFC-53F5-D83B-399D-FDFF423E9FA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18F5DB-CB3F-81E9-33C4-9C781701D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71" y="1774593"/>
            <a:ext cx="7492633" cy="345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2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872C5-38D7-C79E-43EE-63A7E8AF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D5EDF7-86A1-61A6-4585-353222EBBC3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148643-7582-2496-B4B4-391BB693A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05" y="1586333"/>
            <a:ext cx="7931901" cy="412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31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65A68-86EA-8819-4754-E6F338A5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E8A2C8-3FD1-D21A-D0E4-52F917CA9AD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5ECF260-EA65-0914-09EA-4F7F8C99C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476" y="1246009"/>
            <a:ext cx="8030999" cy="48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27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CCA1A-F8A5-6112-72B3-2E3F6C582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6FF8517-6E45-913C-0F71-EED9A1FCF0C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32142EA5-4B26-6726-5A24-44F4AC283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194" y="1219097"/>
            <a:ext cx="8853199" cy="506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8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A3F4-6469-15DB-EEE9-F2EDA72D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5A8276-CB2D-88A9-A2E6-E89CBF8B71A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639C49-1A78-A1A4-5684-C6CA94F4D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81" y="825451"/>
            <a:ext cx="7466637" cy="598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87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5050-82D7-3D84-4804-D7411251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67D87D-62B0-F0D8-EA2A-EE99EECD78A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How can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Ax</a:t>
            </a:r>
            <a:r>
              <a:rPr lang="zh-CN" altLang="en-US" sz="3200" dirty="0"/>
              <a:t> </a:t>
            </a:r>
            <a:r>
              <a:rPr lang="en-US" altLang="zh-CN" sz="3200" dirty="0"/>
              <a:t>= b?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AAC516-B0CE-773C-68EA-448B81C85EA9}"/>
              </a:ext>
            </a:extLst>
          </p:cNvPr>
          <p:cNvSpPr txBox="1"/>
          <p:nvPr/>
        </p:nvSpPr>
        <p:spPr>
          <a:xfrm>
            <a:off x="429584" y="1086234"/>
            <a:ext cx="5849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Gaussian elimination: Back substitution</a:t>
            </a:r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EB43FBBA-9D88-8B6C-41C7-9E682CE21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89" y="1547899"/>
            <a:ext cx="9217958" cy="47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09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8C4B9-46C7-38A6-6A1B-3C058B667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7B99D3-7BF8-1F50-6AAE-36BCA85E891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9801B37C-4F5C-FBCF-7D9F-F6184ABF9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065" y="1269527"/>
            <a:ext cx="8805209" cy="464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43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D95D-65E8-1C8D-EECA-EAB4B686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78FEA8-A3DF-666F-1BEA-806ECCC590DA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A8096609-BDBA-BF11-F75A-6FAED11D3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581734"/>
              </p:ext>
            </p:extLst>
          </p:nvPr>
        </p:nvGraphicFramePr>
        <p:xfrm>
          <a:off x="289111" y="1257299"/>
          <a:ext cx="5299148" cy="244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9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0160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Add/sub Flops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Mul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Div</a:t>
                      </a:r>
                      <a:r>
                        <a:rPr lang="en-US" sz="2400" dirty="0"/>
                        <a:t> Flops</a:t>
                      </a:r>
                    </a:p>
                  </a:txBody>
                  <a:tcPr marL="91431" marR="91431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16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(n-1)</a:t>
                      </a:r>
                      <a:r>
                        <a:rPr lang="en-US" sz="2400" dirty="0" err="1"/>
                        <a:t>xn</a:t>
                      </a:r>
                      <a:endParaRPr lang="en-US" sz="2400" dirty="0"/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(n-1)x(n+1)</a:t>
                      </a:r>
                    </a:p>
                  </a:txBody>
                  <a:tcPr marL="91431" marR="91431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16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(n-2)x(n-1)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(n-2)</a:t>
                      </a:r>
                      <a:r>
                        <a:rPr lang="en-US" sz="2400" dirty="0" err="1"/>
                        <a:t>xn</a:t>
                      </a:r>
                      <a:endParaRPr lang="en-US" sz="2400" dirty="0"/>
                    </a:p>
                  </a:txBody>
                  <a:tcPr marL="91431" marR="91431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160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</a:t>
                      </a:r>
                      <a:r>
                        <a:rPr lang="en-US" sz="2400" dirty="0" err="1"/>
                        <a:t>i</a:t>
                      </a:r>
                      <a:r>
                        <a:rPr lang="en-US" sz="2400" dirty="0"/>
                        <a:t>)x(n-i+1)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(n-</a:t>
                      </a:r>
                      <a:r>
                        <a:rPr lang="en-US" sz="2400" dirty="0" err="1"/>
                        <a:t>i</a:t>
                      </a:r>
                      <a:r>
                        <a:rPr lang="en-US" sz="2400" dirty="0"/>
                        <a:t>)x(n-i+2)</a:t>
                      </a:r>
                    </a:p>
                  </a:txBody>
                  <a:tcPr marL="91431" marR="91431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3C00E86A-6315-2D4B-9371-003BB2DBF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412918"/>
              </p:ext>
            </p:extLst>
          </p:nvPr>
        </p:nvGraphicFramePr>
        <p:xfrm>
          <a:off x="6975625" y="1363090"/>
          <a:ext cx="3039323" cy="20659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3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18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solidFill>
                            <a:schemeClr val="tx1"/>
                          </a:solidFill>
                          <a:effectLst/>
                        </a:rPr>
                        <a:t>Step 1: Make an upper triangular matrix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0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>
                    <a:blipFill>
                      <a:blip r:embed="rId2"/>
                      <a:stretch>
                        <a:fillRect l="-401" t="-58636" r="-802" b="-7727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01EEE508-A197-CCAF-4E94-1C20BCDA6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891" y="4109733"/>
            <a:ext cx="7334124" cy="35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6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58337-416C-512C-4D37-F6DFB262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3C9A7F-B944-DC1B-9948-A9BCB6BF53C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8A05E65-01A6-F070-309C-94A0DFAD3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19" y="1277745"/>
            <a:ext cx="8762304" cy="484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66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7217-1B3E-EB38-C16D-F8EF2ED6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383A61-416D-EBBC-0841-FC60F5B02C89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563E97F-50DB-1FD7-A020-A833D5B81C1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28712" y="1891930"/>
            <a:ext cx="4185505" cy="61831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7099EA-FC6A-A2A7-0932-6A3987A053E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43038" y="2895600"/>
            <a:ext cx="3811749" cy="55399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19ED93-1C65-AC7D-9184-FFFD00509AD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08267" y="3752644"/>
            <a:ext cx="3965445" cy="55399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0619CEF-382E-3A5D-AAC6-30B048AC8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72" y="5028080"/>
            <a:ext cx="1030530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r>
              <a:rPr lang="en-US" altLang="en-US" sz="3000">
                <a:solidFill>
                  <a:srgbClr val="FF0000"/>
                </a:solidFill>
                <a:latin typeface="Roboto" panose="02000000000000000000" pitchFamily="2" charset="0"/>
              </a:rPr>
              <a:t>This algorithm is </a:t>
            </a:r>
            <a:r>
              <a:rPr lang="en-US" altLang="en-US" sz="3000" b="1">
                <a:solidFill>
                  <a:srgbClr val="FF0000"/>
                </a:solidFill>
                <a:latin typeface="Roboto" panose="02000000000000000000" pitchFamily="2" charset="0"/>
              </a:rPr>
              <a:t>very slow</a:t>
            </a:r>
            <a:r>
              <a:rPr lang="en-US" altLang="en-US" sz="3000">
                <a:solidFill>
                  <a:srgbClr val="FF0000"/>
                </a:solidFill>
                <a:latin typeface="Roboto" panose="02000000000000000000" pitchFamily="2" charset="0"/>
              </a:rPr>
              <a:t> for </a:t>
            </a:r>
            <a:r>
              <a:rPr lang="en-US" altLang="en-US" sz="3000" b="1">
                <a:solidFill>
                  <a:srgbClr val="FF0000"/>
                </a:solidFill>
                <a:latin typeface="Roboto" panose="02000000000000000000" pitchFamily="2" charset="0"/>
              </a:rPr>
              <a:t>large</a:t>
            </a:r>
            <a:r>
              <a:rPr lang="en-US" altLang="en-US" sz="3000">
                <a:solidFill>
                  <a:srgbClr val="FF0000"/>
                </a:solidFill>
                <a:latin typeface="Roboto" panose="02000000000000000000" pitchFamily="2" charset="0"/>
              </a:rPr>
              <a:t> n due to the big flops!</a:t>
            </a:r>
            <a:endParaRPr lang="en-US" altLang="en-US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06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8A773-AAEB-47A1-CF2E-6D7C38A2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51B6CA-3B65-B8E6-4244-263ED8E14E0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Pitfalls for Gaussian elimination</a:t>
            </a:r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ACB013B1-5835-A6FB-8D4D-AE8B648F34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306501"/>
              </p:ext>
            </p:extLst>
          </p:nvPr>
        </p:nvGraphicFramePr>
        <p:xfrm>
          <a:off x="3758348" y="2131554"/>
          <a:ext cx="3505200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9200" imgH="685800" progId="Equation.3">
                  <p:embed/>
                </p:oleObj>
              </mc:Choice>
              <mc:Fallback>
                <p:oleObj name="Equation" r:id="rId2" imgW="1219200" imgH="685800" progId="Equation.3">
                  <p:embed/>
                  <p:pic>
                    <p:nvPicPr>
                      <p:cNvPr id="5122" name="Object 12">
                        <a:extLst>
                          <a:ext uri="{FF2B5EF4-FFF2-40B4-BE49-F238E27FC236}">
                            <a16:creationId xmlns:a16="http://schemas.microsoft.com/office/drawing/2014/main" id="{E8D71367-898C-C8A3-ED2F-FCCDD42164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348" y="2131554"/>
                        <a:ext cx="3505200" cy="197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>
            <a:extLst>
              <a:ext uri="{FF2B5EF4-FFF2-40B4-BE49-F238E27FC236}">
                <a16:creationId xmlns:a16="http://schemas.microsoft.com/office/drawing/2014/main" id="{4D60C7DA-8B3F-CA14-C838-EFC04A883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0948" y="988554"/>
            <a:ext cx="6858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400" dirty="0"/>
              <a:t>Pitfall#1. Division by zero</a:t>
            </a:r>
          </a:p>
        </p:txBody>
      </p:sp>
      <p:graphicFrame>
        <p:nvGraphicFramePr>
          <p:cNvPr id="6" name="Object 15">
            <a:extLst>
              <a:ext uri="{FF2B5EF4-FFF2-40B4-BE49-F238E27FC236}">
                <a16:creationId xmlns:a16="http://schemas.microsoft.com/office/drawing/2014/main" id="{A57F421A-E104-C72D-FF8E-2BF65F0380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999725"/>
              </p:ext>
            </p:extLst>
          </p:nvPr>
        </p:nvGraphicFramePr>
        <p:xfrm>
          <a:off x="3529748" y="4417554"/>
          <a:ext cx="3886200" cy="174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500" imgH="711200" progId="Equation.3">
                  <p:embed/>
                </p:oleObj>
              </mc:Choice>
              <mc:Fallback>
                <p:oleObj name="Equation" r:id="rId4" imgW="1587500" imgH="711200" progId="Equation.3">
                  <p:embed/>
                  <p:pic>
                    <p:nvPicPr>
                      <p:cNvPr id="5124" name="Object 15">
                        <a:extLst>
                          <a:ext uri="{FF2B5EF4-FFF2-40B4-BE49-F238E27FC236}">
                            <a16:creationId xmlns:a16="http://schemas.microsoft.com/office/drawing/2014/main" id="{19FA7536-8A2F-8566-CE19-EB284F0550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748" y="4417554"/>
                        <a:ext cx="3886200" cy="174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1740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08FA5-F73B-1ED9-CA27-940F5D2A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8B70CE-53E3-95E6-92B9-1AFA8B53CC39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Pitfalls for Gaussian elimination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98479B-C02C-8805-D2B8-607D3AD1A746}"/>
              </a:ext>
            </a:extLst>
          </p:cNvPr>
          <p:cNvSpPr txBox="1">
            <a:spLocks noChangeArrowheads="1"/>
          </p:cNvSpPr>
          <p:nvPr/>
        </p:nvSpPr>
        <p:spPr>
          <a:xfrm>
            <a:off x="1316368" y="59375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/>
              <a:t>Is division by zero an issue here?</a:t>
            </a:r>
            <a:endParaRPr lang="en-US" altLang="en-US" sz="4000" dirty="0"/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F1D3EB96-01B3-FCB9-3FE5-BEE5017EE0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391174"/>
              </p:ext>
            </p:extLst>
          </p:nvPr>
        </p:nvGraphicFramePr>
        <p:xfrm>
          <a:off x="3602368" y="1919320"/>
          <a:ext cx="3581400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900" imgH="685800" progId="Equation.3">
                  <p:embed/>
                </p:oleObj>
              </mc:Choice>
              <mc:Fallback>
                <p:oleObj name="Equation" r:id="rId2" imgW="1358900" imgH="685800" progId="Equation.3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1B7BBC8A-E51B-3F55-420C-8B43673051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368" y="1919320"/>
                        <a:ext cx="3581400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F8961ED0-8E99-AE47-E2CA-D76F9BB054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231603"/>
              </p:ext>
            </p:extLst>
          </p:nvPr>
        </p:nvGraphicFramePr>
        <p:xfrm>
          <a:off x="3297568" y="4052920"/>
          <a:ext cx="4343400" cy="184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400" imgH="711200" progId="Equation.3">
                  <p:embed/>
                </p:oleObj>
              </mc:Choice>
              <mc:Fallback>
                <p:oleObj name="Equation" r:id="rId4" imgW="1676400" imgH="711200" progId="Equation.3">
                  <p:embed/>
                  <p:pic>
                    <p:nvPicPr>
                      <p:cNvPr id="7172" name="Object 5">
                        <a:extLst>
                          <a:ext uri="{FF2B5EF4-FFF2-40B4-BE49-F238E27FC236}">
                            <a16:creationId xmlns:a16="http://schemas.microsoft.com/office/drawing/2014/main" id="{27437124-4BCF-C248-6358-ACD31B0F0A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568" y="4052920"/>
                        <a:ext cx="4343400" cy="184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1028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C4AF2-02D3-AE8A-49B8-FB3D7DF66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1838EE-27C9-4D5D-815B-7EE3487EA7D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Pitfalls for Gaussian elimination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86EBFFF-7F4B-7328-A008-6C7CE56404F0}"/>
              </a:ext>
            </a:extLst>
          </p:cNvPr>
          <p:cNvSpPr txBox="1">
            <a:spLocks noChangeArrowheads="1"/>
          </p:cNvSpPr>
          <p:nvPr/>
        </p:nvSpPr>
        <p:spPr>
          <a:xfrm>
            <a:off x="1371600" y="36669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/>
              <a:t>Is division by zero an issue here? YES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28042EDA-30B7-9466-DCB7-9256663031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674654"/>
              </p:ext>
            </p:extLst>
          </p:nvPr>
        </p:nvGraphicFramePr>
        <p:xfrm>
          <a:off x="3962400" y="1692253"/>
          <a:ext cx="3073400" cy="155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900" imgH="685800" progId="Equation.3">
                  <p:embed/>
                </p:oleObj>
              </mc:Choice>
              <mc:Fallback>
                <p:oleObj name="Equation" r:id="rId2" imgW="1358900" imgH="685800" progId="Equation.3">
                  <p:embed/>
                  <p:pic>
                    <p:nvPicPr>
                      <p:cNvPr id="9219" name="Object 3">
                        <a:extLst>
                          <a:ext uri="{FF2B5EF4-FFF2-40B4-BE49-F238E27FC236}">
                            <a16:creationId xmlns:a16="http://schemas.microsoft.com/office/drawing/2014/main" id="{7E7B3CBF-04CA-5900-EA73-42F703C42F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692253"/>
                        <a:ext cx="3073400" cy="155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EDBC6E5-E497-C0FD-F6E0-96DA877B24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881675"/>
              </p:ext>
            </p:extLst>
          </p:nvPr>
        </p:nvGraphicFramePr>
        <p:xfrm>
          <a:off x="1219200" y="3673453"/>
          <a:ext cx="3657600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88367" imgH="710891" progId="Equation.3">
                  <p:embed/>
                </p:oleObj>
              </mc:Choice>
              <mc:Fallback>
                <p:oleObj name="Equation" r:id="rId4" imgW="1688367" imgH="710891" progId="Equation.3">
                  <p:embed/>
                  <p:pic>
                    <p:nvPicPr>
                      <p:cNvPr id="9220" name="Object 5">
                        <a:extLst>
                          <a:ext uri="{FF2B5EF4-FFF2-40B4-BE49-F238E27FC236}">
                            <a16:creationId xmlns:a16="http://schemas.microsoft.com/office/drawing/2014/main" id="{F2426EEB-60E5-ACBC-1B11-BFD154F00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673453"/>
                        <a:ext cx="3657600" cy="154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4C24E034-F46F-B60F-2364-A629582B3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36978"/>
              </p:ext>
            </p:extLst>
          </p:nvPr>
        </p:nvGraphicFramePr>
        <p:xfrm>
          <a:off x="5943600" y="3749653"/>
          <a:ext cx="3771900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6100" imgH="711200" progId="Equation.3">
                  <p:embed/>
                </p:oleObj>
              </mc:Choice>
              <mc:Fallback>
                <p:oleObj name="Equation" r:id="rId6" imgW="1816100" imgH="711200" progId="Equation.3">
                  <p:embed/>
                  <p:pic>
                    <p:nvPicPr>
                      <p:cNvPr id="9221" name="Object 6">
                        <a:extLst>
                          <a:ext uri="{FF2B5EF4-FFF2-40B4-BE49-F238E27FC236}">
                            <a16:creationId xmlns:a16="http://schemas.microsoft.com/office/drawing/2014/main" id="{060D08B5-EFAA-82F1-43B1-93E5C1ADEC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749653"/>
                        <a:ext cx="3771900" cy="147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ine 7">
            <a:extLst>
              <a:ext uri="{FF2B5EF4-FFF2-40B4-BE49-F238E27FC236}">
                <a16:creationId xmlns:a16="http://schemas.microsoft.com/office/drawing/2014/main" id="{526CC777-5490-C7C5-8F86-78844978B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359253"/>
            <a:ext cx="609600" cy="0"/>
          </a:xfrm>
          <a:prstGeom prst="line">
            <a:avLst/>
          </a:prstGeom>
          <a:noFill/>
          <a:ln w="4127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A45E662-5A1B-C336-E5D5-0D90CFD16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50225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Division by zero is a possibility at any step of forward elimination</a:t>
            </a:r>
          </a:p>
        </p:txBody>
      </p:sp>
    </p:spTree>
    <p:extLst>
      <p:ext uri="{BB962C8B-B14F-4D97-AF65-F5344CB8AC3E}">
        <p14:creationId xmlns:p14="http://schemas.microsoft.com/office/powerpoint/2010/main" val="1878140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D2E94-99F6-BE0E-B85C-F77F9336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6D8BDF5-4BA6-5730-36AD-0429200921C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Pitfalls for Gaussian elimination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D95B44C-4CC7-A609-38AF-D315579FA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871953"/>
            <a:ext cx="8610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400" dirty="0"/>
              <a:t>Pitfall#2. Large Round-off Errors</a:t>
            </a:r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1127AB1C-160B-9500-E54D-3E084A2A00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167932"/>
              </p:ext>
            </p:extLst>
          </p:nvPr>
        </p:nvGraphicFramePr>
        <p:xfrm>
          <a:off x="2552700" y="1862553"/>
          <a:ext cx="53340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600" imgH="711200" progId="Equation.3">
                  <p:embed/>
                </p:oleObj>
              </mc:Choice>
              <mc:Fallback>
                <p:oleObj name="Equation" r:id="rId2" imgW="2133600" imgH="711200" progId="Equation.3">
                  <p:embed/>
                  <p:pic>
                    <p:nvPicPr>
                      <p:cNvPr id="11267" name="Object 11">
                        <a:extLst>
                          <a:ext uri="{FF2B5EF4-FFF2-40B4-BE49-F238E27FC236}">
                            <a16:creationId xmlns:a16="http://schemas.microsoft.com/office/drawing/2014/main" id="{41300AB0-33C7-1702-5F5F-E269E022A1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1862553"/>
                        <a:ext cx="533400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2">
            <a:extLst>
              <a:ext uri="{FF2B5EF4-FFF2-40B4-BE49-F238E27FC236}">
                <a16:creationId xmlns:a16="http://schemas.microsoft.com/office/drawing/2014/main" id="{480DE3D4-C6F3-BFD0-5307-F3D955693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3843753"/>
            <a:ext cx="8763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/>
              <a:t>Exact Solution           5-significant digits      6-significant digits</a:t>
            </a:r>
          </a:p>
        </p:txBody>
      </p:sp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71A6FFC0-170F-7425-768F-D982208BBF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872339"/>
              </p:ext>
            </p:extLst>
          </p:nvPr>
        </p:nvGraphicFramePr>
        <p:xfrm>
          <a:off x="1257300" y="4605753"/>
          <a:ext cx="1738313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711200" progId="Equation.3">
                  <p:embed/>
                </p:oleObj>
              </mc:Choice>
              <mc:Fallback>
                <p:oleObj name="Equation" r:id="rId4" imgW="685800" imgH="711200" progId="Equation.3">
                  <p:embed/>
                  <p:pic>
                    <p:nvPicPr>
                      <p:cNvPr id="11269" name="Object 13">
                        <a:extLst>
                          <a:ext uri="{FF2B5EF4-FFF2-40B4-BE49-F238E27FC236}">
                            <a16:creationId xmlns:a16="http://schemas.microsoft.com/office/drawing/2014/main" id="{4CD809BE-71E2-B981-C29D-0127DE00B5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4605753"/>
                        <a:ext cx="1738313" cy="180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">
            <a:extLst>
              <a:ext uri="{FF2B5EF4-FFF2-40B4-BE49-F238E27FC236}">
                <a16:creationId xmlns:a16="http://schemas.microsoft.com/office/drawing/2014/main" id="{F44A45C0-D05C-9BD2-A24B-9B1D66D5C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775" y="4508916"/>
            <a:ext cx="2609850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11669218-83C8-D41B-9CC0-9AB034955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475" y="4447003"/>
            <a:ext cx="3019425" cy="206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8985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C0612-C25E-6333-3D3F-4E346934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8969C0-0BBA-F109-DA1A-4D90017418D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Pitfalls for Gaussian elimination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D50DC0C2-50E5-FE39-647B-642FBA6C3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298" y="957869"/>
            <a:ext cx="8610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400" dirty="0"/>
              <a:t>Pitfall#2. Large Round-off Errors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7">
                <a:extLst>
                  <a:ext uri="{FF2B5EF4-FFF2-40B4-BE49-F238E27FC236}">
                    <a16:creationId xmlns:a16="http://schemas.microsoft.com/office/drawing/2014/main" id="{F421D40D-F955-3092-563C-8DC37BCB2E0B}"/>
                  </a:ext>
                </a:extLst>
              </p:cNvPr>
              <p:cNvSpPr txBox="1"/>
              <p:nvPr/>
            </p:nvSpPr>
            <p:spPr>
              <a:xfrm>
                <a:off x="2982665" y="2109863"/>
                <a:ext cx="5136471" cy="1478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US" sz="5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9" name="文本框 7">
                <a:extLst>
                  <a:ext uri="{FF2B5EF4-FFF2-40B4-BE49-F238E27FC236}">
                    <a16:creationId xmlns:a16="http://schemas.microsoft.com/office/drawing/2014/main" id="{F421D40D-F955-3092-563C-8DC37BCB2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665" y="2109863"/>
                <a:ext cx="5136471" cy="1478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3F0922-0EA0-51CF-3463-FFA3D3D77304}"/>
                  </a:ext>
                </a:extLst>
              </p:cNvPr>
              <p:cNvSpPr txBox="1"/>
              <p:nvPr/>
            </p:nvSpPr>
            <p:spPr>
              <a:xfrm>
                <a:off x="2517667" y="4220332"/>
                <a:ext cx="5817792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3F0922-0EA0-51CF-3463-FFA3D3D77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667" y="4220332"/>
                <a:ext cx="5817792" cy="16312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22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33E8-97B0-3A96-63E2-EBA5BA4D6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B13191D-D471-4E51-9C5F-428FD8BFD62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Pitfalls for Gaussian elimination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0AC579AB-4397-377C-AEA9-CC53C7B1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298" y="957869"/>
            <a:ext cx="8610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400" dirty="0"/>
              <a:t>Pitfall#2. Large Round-off Errors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7">
                <a:extLst>
                  <a:ext uri="{FF2B5EF4-FFF2-40B4-BE49-F238E27FC236}">
                    <a16:creationId xmlns:a16="http://schemas.microsoft.com/office/drawing/2014/main" id="{BCEF1BDA-2DE9-E1D8-96D7-3E5CB139C084}"/>
                  </a:ext>
                </a:extLst>
              </p:cNvPr>
              <p:cNvSpPr txBox="1"/>
              <p:nvPr/>
            </p:nvSpPr>
            <p:spPr>
              <a:xfrm>
                <a:off x="2789903" y="1950005"/>
                <a:ext cx="5136471" cy="1478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   1</m:t>
                              </m:r>
                            </m:e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US" sz="5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4" name="文本框 7">
                <a:extLst>
                  <a:ext uri="{FF2B5EF4-FFF2-40B4-BE49-F238E27FC236}">
                    <a16:creationId xmlns:a16="http://schemas.microsoft.com/office/drawing/2014/main" id="{BCEF1BDA-2DE9-E1D8-96D7-3E5CB139C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903" y="1950005"/>
                <a:ext cx="5136471" cy="1478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4B3EFD3-D8BC-A89B-7055-6A2CC5DFAA98}"/>
              </a:ext>
            </a:extLst>
          </p:cNvPr>
          <p:cNvGrpSpPr/>
          <p:nvPr/>
        </p:nvGrpSpPr>
        <p:grpSpPr>
          <a:xfrm>
            <a:off x="1801804" y="3766708"/>
            <a:ext cx="7584897" cy="2504853"/>
            <a:chOff x="1801804" y="3766708"/>
            <a:chExt cx="7584897" cy="250485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7">
                  <a:extLst>
                    <a:ext uri="{FF2B5EF4-FFF2-40B4-BE49-F238E27FC236}">
                      <a16:creationId xmlns:a16="http://schemas.microsoft.com/office/drawing/2014/main" id="{964C2602-9E30-127A-29F1-8F6D252E30AC}"/>
                    </a:ext>
                  </a:extLst>
                </p:cNvPr>
                <p:cNvSpPr txBox="1"/>
                <p:nvPr/>
              </p:nvSpPr>
              <p:spPr>
                <a:xfrm>
                  <a:off x="1801804" y="3766708"/>
                  <a:ext cx="7584897" cy="25048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6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6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6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en-US" sz="6000" i="1">
                                    <a:latin typeface="Cambria Math" panose="02040503050406030204" pitchFamily="18" charset="0"/>
                                  </a:rPr>
                                  <m:t>   1   </m:t>
                                </m:r>
                                <m: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  <m:t>           1</m:t>
                                </m:r>
                              </m:e>
                              <m:e>
                                <m: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60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6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6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6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60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den>
                                </m:f>
                                <m: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  <m:t>       2−</m:t>
                                </m:r>
                                <m:f>
                                  <m:fPr>
                                    <m:ctrlPr>
                                      <a:rPr lang="en-US" sz="6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6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60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den>
                                </m:f>
                              </m:e>
                            </m:eqArr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</m:d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>
            <p:sp>
              <p:nvSpPr>
                <p:cNvPr id="5" name="文本框 7">
                  <a:extLst>
                    <a:ext uri="{FF2B5EF4-FFF2-40B4-BE49-F238E27FC236}">
                      <a16:creationId xmlns:a16="http://schemas.microsoft.com/office/drawing/2014/main" id="{964C2602-9E30-127A-29F1-8F6D252E30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1804" y="3766708"/>
                  <a:ext cx="7584897" cy="250485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78A1DBA-CC18-18BB-AFAC-0DD5A2D8E7DA}"/>
                </a:ext>
              </a:extLst>
            </p:cNvPr>
            <p:cNvCxnSpPr/>
            <p:nvPr/>
          </p:nvCxnSpPr>
          <p:spPr>
            <a:xfrm>
              <a:off x="5504811" y="3886873"/>
              <a:ext cx="0" cy="2264521"/>
            </a:xfrm>
            <a:prstGeom prst="line">
              <a:avLst/>
            </a:prstGeom>
            <a:ln w="571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746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2D26-ADF4-71A1-02DF-57680783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69B06C-AEFE-C694-17B9-9D3143D6DA8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Pitfalls for Gaussian elimination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74B0AD-B19E-D981-807D-ABEB1955AB93}"/>
                  </a:ext>
                </a:extLst>
              </p:cNvPr>
              <p:cNvSpPr txBox="1"/>
              <p:nvPr/>
            </p:nvSpPr>
            <p:spPr>
              <a:xfrm>
                <a:off x="383558" y="3070964"/>
                <a:ext cx="5569248" cy="1942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den>
                          </m:f>
                        </m:num>
                        <m:den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74B0AD-B19E-D981-807D-ABEB1955A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58" y="3070964"/>
                <a:ext cx="5569248" cy="19423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044C17-A964-BA24-62EA-DEA7B6F624D3}"/>
                  </a:ext>
                </a:extLst>
              </p:cNvPr>
              <p:cNvSpPr txBox="1"/>
              <p:nvPr/>
            </p:nvSpPr>
            <p:spPr>
              <a:xfrm>
                <a:off x="4618537" y="3547061"/>
                <a:ext cx="5569248" cy="1133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𝜺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044C17-A964-BA24-62EA-DEA7B6F62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537" y="3547061"/>
                <a:ext cx="5569248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9E45014-48CE-CCDE-DEA2-B96031E8B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5213" y="5589850"/>
            <a:ext cx="11282184" cy="5888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7">
                <a:extLst>
                  <a:ext uri="{FF2B5EF4-FFF2-40B4-BE49-F238E27FC236}">
                    <a16:creationId xmlns:a16="http://schemas.microsoft.com/office/drawing/2014/main" id="{79C88A8F-4560-BD67-7673-14D575C36EF2}"/>
                  </a:ext>
                </a:extLst>
              </p:cNvPr>
              <p:cNvSpPr txBox="1"/>
              <p:nvPr/>
            </p:nvSpPr>
            <p:spPr>
              <a:xfrm>
                <a:off x="2918165" y="1158344"/>
                <a:ext cx="5136471" cy="1478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   1</m:t>
                              </m:r>
                            </m:e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US" sz="5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13" name="文本框 7">
                <a:extLst>
                  <a:ext uri="{FF2B5EF4-FFF2-40B4-BE49-F238E27FC236}">
                    <a16:creationId xmlns:a16="http://schemas.microsoft.com/office/drawing/2014/main" id="{79C88A8F-4560-BD67-7673-14D575C36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165" y="1158344"/>
                <a:ext cx="5136471" cy="14789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14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0AFB1-605B-A307-6624-66DAFFFBF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0D6B78-8294-C68F-7608-06D9B07DF18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Pitfalls for Gaussian elimination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7A631973-7D2B-51EA-9D12-1D0B39159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944" y="1147091"/>
            <a:ext cx="914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dirty="0"/>
              <a:t>Is there a way to reduce the round off error?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9962F0-F13E-087B-3F48-B48B77D1D7BC}"/>
              </a:ext>
            </a:extLst>
          </p:cNvPr>
          <p:cNvGrpSpPr/>
          <p:nvPr/>
        </p:nvGrpSpPr>
        <p:grpSpPr>
          <a:xfrm>
            <a:off x="752944" y="2061662"/>
            <a:ext cx="8624416" cy="1478995"/>
            <a:chOff x="752944" y="2061662"/>
            <a:chExt cx="8624416" cy="14789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7">
                  <a:extLst>
                    <a:ext uri="{FF2B5EF4-FFF2-40B4-BE49-F238E27FC236}">
                      <a16:creationId xmlns:a16="http://schemas.microsoft.com/office/drawing/2014/main" id="{BCC899BA-DA67-70B2-63E7-9770EF5F5454}"/>
                    </a:ext>
                  </a:extLst>
                </p:cNvPr>
                <p:cNvSpPr txBox="1"/>
                <p:nvPr/>
              </p:nvSpPr>
              <p:spPr>
                <a:xfrm>
                  <a:off x="4222038" y="2061662"/>
                  <a:ext cx="5155322" cy="14789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5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54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5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5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en-US" sz="5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5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  <m:r>
                          <a:rPr lang="en-US" sz="54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5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5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54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i="1" dirty="0"/>
                </a:p>
              </p:txBody>
            </p:sp>
          </mc:Choice>
          <mc:Fallback>
            <p:sp>
              <p:nvSpPr>
                <p:cNvPr id="4" name="文本框 7">
                  <a:extLst>
                    <a:ext uri="{FF2B5EF4-FFF2-40B4-BE49-F238E27FC236}">
                      <a16:creationId xmlns:a16="http://schemas.microsoft.com/office/drawing/2014/main" id="{BCC899BA-DA67-70B2-63E7-9770EF5F54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038" y="2061662"/>
                  <a:ext cx="5155322" cy="147899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12636FE3-E07B-CE1C-FC0C-ADDC28175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944" y="2564889"/>
              <a:ext cx="8610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dirty="0"/>
                <a:t>Switch equations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742F4D9-35C5-1B7E-BACD-56661E5ADE14}"/>
              </a:ext>
            </a:extLst>
          </p:cNvPr>
          <p:cNvGrpSpPr/>
          <p:nvPr/>
        </p:nvGrpSpPr>
        <p:grpSpPr>
          <a:xfrm>
            <a:off x="708812" y="4231914"/>
            <a:ext cx="8829553" cy="1478995"/>
            <a:chOff x="708812" y="4231914"/>
            <a:chExt cx="8829553" cy="1478995"/>
          </a:xfrm>
        </p:grpSpPr>
        <p:sp>
          <p:nvSpPr>
            <p:cNvPr id="5" name="Text Box 3">
              <a:extLst>
                <a:ext uri="{FF2B5EF4-FFF2-40B4-BE49-F238E27FC236}">
                  <a16:creationId xmlns:a16="http://schemas.microsoft.com/office/drawing/2014/main" id="{A71C72BB-6E84-EA0E-4917-7AD5BC742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812" y="4546697"/>
              <a:ext cx="8610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dirty="0"/>
                <a:t>Switch variables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7">
                  <a:extLst>
                    <a:ext uri="{FF2B5EF4-FFF2-40B4-BE49-F238E27FC236}">
                      <a16:creationId xmlns:a16="http://schemas.microsoft.com/office/drawing/2014/main" id="{4D9FAAE6-D827-8215-0AA3-E865FD4B6DEF}"/>
                    </a:ext>
                  </a:extLst>
                </p:cNvPr>
                <p:cNvSpPr txBox="1"/>
                <p:nvPr/>
              </p:nvSpPr>
              <p:spPr>
                <a:xfrm>
                  <a:off x="4222038" y="4231914"/>
                  <a:ext cx="5316327" cy="14789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5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54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5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5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5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  <m:r>
                          <a:rPr lang="en-US" sz="54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5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5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54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i="1" dirty="0"/>
                </a:p>
              </p:txBody>
            </p:sp>
          </mc:Choice>
          <mc:Fallback>
            <p:sp>
              <p:nvSpPr>
                <p:cNvPr id="7" name="文本框 7">
                  <a:extLst>
                    <a:ext uri="{FF2B5EF4-FFF2-40B4-BE49-F238E27FC236}">
                      <a16:creationId xmlns:a16="http://schemas.microsoft.com/office/drawing/2014/main" id="{4D9FAAE6-D827-8215-0AA3-E865FD4B6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038" y="4231914"/>
                  <a:ext cx="5316327" cy="14789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0164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27B2-BFBA-536C-C831-92513A2C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A16D67-CE7A-0188-BCAB-2CB37BCD69F5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Pivoting strategy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C21EC2-6987-A4B9-2308-DC6703D914B2}"/>
              </a:ext>
            </a:extLst>
          </p:cNvPr>
          <p:cNvSpPr txBox="1">
            <a:spLocks noChangeArrowheads="1"/>
          </p:cNvSpPr>
          <p:nvPr/>
        </p:nvSpPr>
        <p:spPr>
          <a:xfrm>
            <a:off x="1254998" y="53852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Avoiding Pitfalls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D62D9B8E-A5E7-095E-2EA2-CFA7070EE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68" y="2133089"/>
            <a:ext cx="10140226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01638" indent="-40163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dirty="0"/>
              <a:t>Pivoting strategy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/>
              <a:t>Partial pivoting: switch either the equations or the variables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/>
              <a:t>Complete pivoting: switch both the equations and the variables (</a:t>
            </a:r>
            <a:r>
              <a:rPr lang="en-US" altLang="en-US" sz="2800" dirty="0">
                <a:solidFill>
                  <a:srgbClr val="FF0000"/>
                </a:solidFill>
              </a:rPr>
              <a:t>computational cost is too large</a:t>
            </a:r>
            <a:r>
              <a:rPr lang="en-US" altLang="en-US" sz="2800" dirty="0"/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In our class, we refer the partial pivoting to switch the equations only.</a:t>
            </a:r>
            <a:endParaRPr lang="en-US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00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8BD26-5183-AA53-050A-CA81C040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84D27B-1B2C-A3CC-B12F-D5CC2E24822C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0B5375-C33C-DFEF-CB79-E24C3602BDB7}"/>
              </a:ext>
            </a:extLst>
          </p:cNvPr>
          <p:cNvSpPr/>
          <p:nvPr/>
        </p:nvSpPr>
        <p:spPr>
          <a:xfrm>
            <a:off x="1238634" y="4205290"/>
            <a:ext cx="97341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en-US" sz="3200" dirty="0"/>
              <a:t>To Avoid the Pitfalls of Na</a:t>
            </a:r>
            <a:r>
              <a:rPr lang="en-US" altLang="zh-CN" sz="3200" dirty="0"/>
              <a:t>i</a:t>
            </a:r>
            <a:r>
              <a:rPr lang="en-US" altLang="en-US" sz="3200" dirty="0"/>
              <a:t>ve Gauss Elimination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3200" dirty="0"/>
              <a:t>Possible division by zero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3200" dirty="0"/>
              <a:t>Large round-off errors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1C90ABF-9DA3-47D0-2850-4A4123374A34}"/>
              </a:ext>
            </a:extLst>
          </p:cNvPr>
          <p:cNvSpPr txBox="1">
            <a:spLocks noChangeArrowheads="1"/>
          </p:cNvSpPr>
          <p:nvPr/>
        </p:nvSpPr>
        <p:spPr>
          <a:xfrm>
            <a:off x="400434" y="-352361"/>
            <a:ext cx="9956630" cy="495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800" dirty="0"/>
              <a:t>Gauss Elimination with Partial Pivoting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49917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3FAF4-B3E6-EDD2-071A-642B1DB18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F23D6E-696E-C7A3-6694-F511E746C2AA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AFE0D6-E242-F0C7-91E7-A6D3ED068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24" y="1161091"/>
            <a:ext cx="7785267" cy="226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9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489B3-E5B1-B6CF-D72F-9B45B7615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A70DF7-BB31-5698-0C3C-9C0ED9AB4BEA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5EFDA5-6CA5-4D34-0F7F-F8D4E740E605}"/>
              </a:ext>
            </a:extLst>
          </p:cNvPr>
          <p:cNvSpPr txBox="1">
            <a:spLocks noChangeArrowheads="1"/>
          </p:cNvSpPr>
          <p:nvPr/>
        </p:nvSpPr>
        <p:spPr>
          <a:xfrm>
            <a:off x="1669676" y="430306"/>
            <a:ext cx="7315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/>
              <a:t>Example (2</a:t>
            </a:r>
            <a:r>
              <a:rPr lang="en-US" altLang="en-US" sz="4000" baseline="30000"/>
              <a:t>nd</a:t>
            </a:r>
            <a:r>
              <a:rPr lang="en-US" altLang="en-US" sz="4000"/>
              <a:t> step of FE)</a:t>
            </a:r>
            <a:endParaRPr lang="en-US" altLang="en-US" sz="40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E698CAE-8BA6-3DB0-3FC1-807C21D8D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34255"/>
              </p:ext>
            </p:extLst>
          </p:nvPr>
        </p:nvGraphicFramePr>
        <p:xfrm>
          <a:off x="2279276" y="1878106"/>
          <a:ext cx="6346825" cy="319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4100" imgH="1168400" progId="Equation.3">
                  <p:embed/>
                </p:oleObj>
              </mc:Choice>
              <mc:Fallback>
                <p:oleObj name="Equation" r:id="rId2" imgW="2324100" imgH="1168400" progId="Equation.3">
                  <p:embed/>
                  <p:pic>
                    <p:nvPicPr>
                      <p:cNvPr id="25603" name="Object 3">
                        <a:extLst>
                          <a:ext uri="{FF2B5EF4-FFF2-40B4-BE49-F238E27FC236}">
                            <a16:creationId xmlns:a16="http://schemas.microsoft.com/office/drawing/2014/main" id="{A8B0C332-BD7C-94F0-4D14-9FE6E73020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276" y="1878106"/>
                        <a:ext cx="6346825" cy="319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311F4390-23B8-C5AC-50DC-E7822EBB5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1964" y="5230906"/>
            <a:ext cx="662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/>
              <a:t>Which two rows would you switch?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D6B8AB-91F1-E75D-A0EE-954E43EF622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8600" y="5999163"/>
            <a:ext cx="7315200" cy="517834"/>
          </a:xfrm>
          <a:prstGeom prst="rect">
            <a:avLst/>
          </a:prstGeom>
          <a:blipFill>
            <a:blip r:embed="rId4"/>
            <a:stretch>
              <a:fillRect t="-7059" b="-1764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D24388-E14F-FA81-A786-459E68ED5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887" y="4356287"/>
            <a:ext cx="6346825" cy="685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ED42C8-EEDD-E545-329B-339A88A95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987" y="2527487"/>
            <a:ext cx="6346825" cy="685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" name="Arrow: Curved Right 9">
            <a:extLst>
              <a:ext uri="{FF2B5EF4-FFF2-40B4-BE49-F238E27FC236}">
                <a16:creationId xmlns:a16="http://schemas.microsoft.com/office/drawing/2014/main" id="{04263BCF-7D5A-FDB2-72A3-D23526F98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799" y="2794187"/>
            <a:ext cx="511175" cy="1562100"/>
          </a:xfrm>
          <a:prstGeom prst="curvedRightArrow">
            <a:avLst>
              <a:gd name="adj1" fmla="val 25013"/>
              <a:gd name="adj2" fmla="val 49998"/>
              <a:gd name="adj3" fmla="val 25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41324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B83BF-A847-D670-3D5D-61E2E864A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202326-E02F-D2AB-B9F5-4A13AF0C4A5A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67FB8AF-D1C9-2A2A-9749-D7068F477022}"/>
              </a:ext>
            </a:extLst>
          </p:cNvPr>
          <p:cNvSpPr txBox="1">
            <a:spLocks noChangeArrowheads="1"/>
          </p:cNvSpPr>
          <p:nvPr/>
        </p:nvSpPr>
        <p:spPr>
          <a:xfrm>
            <a:off x="339064" y="1231985"/>
            <a:ext cx="1029467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3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918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Tx/>
              <a:buNone/>
            </a:pPr>
            <a:r>
              <a:rPr lang="en-US" altLang="en-US" sz="2800" dirty="0"/>
              <a:t>Same as naive Gauss elimination method except that we switch rows before </a:t>
            </a:r>
            <a:r>
              <a:rPr lang="en-US" altLang="en-US" sz="2800" b="1" dirty="0"/>
              <a:t>each</a:t>
            </a:r>
            <a:r>
              <a:rPr lang="en-US" altLang="en-US" sz="2800" dirty="0"/>
              <a:t> of the (n-1) steps of forward elimination.</a:t>
            </a:r>
          </a:p>
        </p:txBody>
      </p:sp>
      <p:graphicFrame>
        <p:nvGraphicFramePr>
          <p:cNvPr id="4" name="Object 35">
            <a:extLst>
              <a:ext uri="{FF2B5EF4-FFF2-40B4-BE49-F238E27FC236}">
                <a16:creationId xmlns:a16="http://schemas.microsoft.com/office/drawing/2014/main" id="{F7BD52AF-BDBB-B1F0-4C8A-36245342FE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180459"/>
              </p:ext>
            </p:extLst>
          </p:nvPr>
        </p:nvGraphicFramePr>
        <p:xfrm>
          <a:off x="2024158" y="3557363"/>
          <a:ext cx="7239000" cy="250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6100" imgH="711200" progId="Equation.3">
                  <p:embed/>
                </p:oleObj>
              </mc:Choice>
              <mc:Fallback>
                <p:oleObj name="Equation" r:id="rId2" imgW="1816100" imgH="711200" progId="Equation.3">
                  <p:embed/>
                  <p:pic>
                    <p:nvPicPr>
                      <p:cNvPr id="33798" name="Object 35">
                        <a:extLst>
                          <a:ext uri="{FF2B5EF4-FFF2-40B4-BE49-F238E27FC236}">
                            <a16:creationId xmlns:a16="http://schemas.microsoft.com/office/drawing/2014/main" id="{78643BD6-2E0D-0B7E-CB09-E3DC735C7D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158" y="3557363"/>
                        <a:ext cx="7239000" cy="250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AA570F81-3344-6583-8F47-EEF9ED67B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98" y="1673665"/>
            <a:ext cx="8229600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tx2"/>
                </a:solidFill>
              </a:rPr>
              <a:t>Solve the following set of equations by Gaussian elimination with partial pivoting</a:t>
            </a:r>
          </a:p>
        </p:txBody>
      </p:sp>
    </p:spTree>
    <p:extLst>
      <p:ext uri="{BB962C8B-B14F-4D97-AF65-F5344CB8AC3E}">
        <p14:creationId xmlns:p14="http://schemas.microsoft.com/office/powerpoint/2010/main" val="3848305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B809B-00C8-D475-EB69-50F36C4D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A887A4-CCA0-4412-B2E5-B327D633E19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graphicFrame>
        <p:nvGraphicFramePr>
          <p:cNvPr id="3" name="Object 35">
            <a:extLst>
              <a:ext uri="{FF2B5EF4-FFF2-40B4-BE49-F238E27FC236}">
                <a16:creationId xmlns:a16="http://schemas.microsoft.com/office/drawing/2014/main" id="{B3D4E446-FA3B-D1C1-E017-93B90360C7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777531"/>
              </p:ext>
            </p:extLst>
          </p:nvPr>
        </p:nvGraphicFramePr>
        <p:xfrm>
          <a:off x="1268295" y="2835254"/>
          <a:ext cx="4865688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600" imgH="711200" progId="Equation.3">
                  <p:embed/>
                </p:oleObj>
              </mc:Choice>
              <mc:Fallback>
                <p:oleObj name="Equation" r:id="rId2" imgW="2006600" imgH="711200" progId="Equation.3">
                  <p:embed/>
                  <p:pic>
                    <p:nvPicPr>
                      <p:cNvPr id="35846" name="Object 35">
                        <a:extLst>
                          <a:ext uri="{FF2B5EF4-FFF2-40B4-BE49-F238E27FC236}">
                            <a16:creationId xmlns:a16="http://schemas.microsoft.com/office/drawing/2014/main" id="{7B695650-4177-9FF2-C50D-40911AA709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295" y="2835254"/>
                        <a:ext cx="4865688" cy="152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99801D1-668B-40CA-2374-061A9184FE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049820"/>
              </p:ext>
            </p:extLst>
          </p:nvPr>
        </p:nvGraphicFramePr>
        <p:xfrm>
          <a:off x="6068895" y="2911454"/>
          <a:ext cx="3665538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300" imgH="711200" progId="Equation.3">
                  <p:embed/>
                </p:oleObj>
              </mc:Choice>
              <mc:Fallback>
                <p:oleObj name="Equation" r:id="rId4" imgW="1511300" imgH="711200" progId="Equation.3">
                  <p:embed/>
                  <p:pic>
                    <p:nvPicPr>
                      <p:cNvPr id="35848" name="Object 3">
                        <a:extLst>
                          <a:ext uri="{FF2B5EF4-FFF2-40B4-BE49-F238E27FC236}">
                            <a16:creationId xmlns:a16="http://schemas.microsoft.com/office/drawing/2014/main" id="{A87E05BB-03C8-4ACC-6B2F-37EDAF3C8E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8895" y="2911454"/>
                        <a:ext cx="3665538" cy="152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4314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91106-C6A2-6CEE-19EF-9580924D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33B631-7D9C-1002-C7D3-F30FBE6EDA3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D0CC8F-F691-36CC-F82F-2943ED451E7E}"/>
              </a:ext>
            </a:extLst>
          </p:cNvPr>
          <p:cNvSpPr txBox="1">
            <a:spLocks noChangeArrowheads="1"/>
          </p:cNvSpPr>
          <p:nvPr/>
        </p:nvSpPr>
        <p:spPr>
          <a:xfrm>
            <a:off x="1034070" y="8484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Forward Elimination: Step 1</a:t>
            </a:r>
            <a:endParaRPr lang="en-US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86C967-D127-A060-DD15-FAE3AC31DD50}"/>
              </a:ext>
            </a:extLst>
          </p:cNvPr>
          <p:cNvSpPr txBox="1">
            <a:spLocks noChangeArrowheads="1"/>
          </p:cNvSpPr>
          <p:nvPr/>
        </p:nvSpPr>
        <p:spPr>
          <a:xfrm>
            <a:off x="1034070" y="1905701"/>
            <a:ext cx="9588926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05740" indent="-205740" algn="l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722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97000"/>
            </a:pPr>
            <a:r>
              <a:rPr lang="en-US" altLang="en-US" sz="2400" dirty="0"/>
              <a:t>Examine absolute values of first column, first row and below.</a:t>
            </a:r>
          </a:p>
          <a:p>
            <a:pPr>
              <a:buFontTx/>
              <a:buNone/>
            </a:pPr>
            <a:endParaRPr lang="en-US" altLang="en-US" sz="3000" dirty="0"/>
          </a:p>
          <a:p>
            <a:pPr>
              <a:buFontTx/>
              <a:buNone/>
            </a:pPr>
            <a:endParaRPr lang="en-US" altLang="en-US" sz="3000" dirty="0"/>
          </a:p>
          <a:p>
            <a:pPr>
              <a:buFontTx/>
              <a:buNone/>
            </a:pPr>
            <a:endParaRPr lang="en-US" altLang="en-US" sz="30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7492386-C38F-703F-35A0-6CCA6621E2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761865"/>
              </p:ext>
            </p:extLst>
          </p:nvPr>
        </p:nvGraphicFramePr>
        <p:xfrm>
          <a:off x="4836068" y="2584358"/>
          <a:ext cx="16351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753" imgH="253890" progId="Equation.3">
                  <p:embed/>
                </p:oleObj>
              </mc:Choice>
              <mc:Fallback>
                <p:oleObj name="Equation" r:id="rId2" imgW="799753" imgH="253890" progId="Equation.3">
                  <p:embed/>
                  <p:pic>
                    <p:nvPicPr>
                      <p:cNvPr id="39940" name="Object 4">
                        <a:extLst>
                          <a:ext uri="{FF2B5EF4-FFF2-40B4-BE49-F238E27FC236}">
                            <a16:creationId xmlns:a16="http://schemas.microsoft.com/office/drawing/2014/main" id="{1AE1B7EA-56C0-F8AA-0E6B-109173F710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6068" y="2584358"/>
                        <a:ext cx="16351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AA47DBE-C46D-76B0-3B0F-FF902F0920D8}"/>
              </a:ext>
            </a:extLst>
          </p:cNvPr>
          <p:cNvSpPr txBox="1"/>
          <p:nvPr/>
        </p:nvSpPr>
        <p:spPr>
          <a:xfrm>
            <a:off x="1034070" y="3286828"/>
            <a:ext cx="923912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800" dirty="0">
                <a:latin typeface="+mn-lt"/>
              </a:rPr>
              <a:t>  Largest absolute value is 144 and exists in row 3.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800" dirty="0">
                <a:latin typeface="+mn-lt"/>
              </a:rPr>
              <a:t>  Switch row 1 and row 3.</a:t>
            </a:r>
          </a:p>
          <a:p>
            <a:pPr algn="ctr" eaLnBrk="1" hangingPunct="1">
              <a:defRPr/>
            </a:pPr>
            <a:endParaRPr lang="en-US" dirty="0">
              <a:latin typeface="Tahoma" charset="0"/>
            </a:endParaRPr>
          </a:p>
          <a:p>
            <a:pPr algn="ctr" eaLnBrk="1" hangingPunct="1">
              <a:buFont typeface="Arial" pitchFamily="34" charset="0"/>
              <a:buChar char="•"/>
              <a:defRPr/>
            </a:pPr>
            <a:endParaRPr lang="en-US" dirty="0">
              <a:latin typeface="Tahoma" charset="0"/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6BECCAA9-B3F4-DA5A-41A2-7F22C219BE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315527"/>
              </p:ext>
            </p:extLst>
          </p:nvPr>
        </p:nvGraphicFramePr>
        <p:xfrm>
          <a:off x="2119548" y="4809220"/>
          <a:ext cx="6537325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711200" progId="Equation.3">
                  <p:embed/>
                </p:oleObj>
              </mc:Choice>
              <mc:Fallback>
                <p:oleObj name="Equation" r:id="rId4" imgW="3200400" imgH="711200" progId="Equation.3">
                  <p:embed/>
                  <p:pic>
                    <p:nvPicPr>
                      <p:cNvPr id="39942" name="Object 8">
                        <a:extLst>
                          <a:ext uri="{FF2B5EF4-FFF2-40B4-BE49-F238E27FC236}">
                            <a16:creationId xmlns:a16="http://schemas.microsoft.com/office/drawing/2014/main" id="{29EBCA54-2820-992F-F65B-41D788A88D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548" y="4809220"/>
                        <a:ext cx="6537325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4612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A4A8-9DD6-3D42-AED4-3FCE08A88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53BEC7-47A6-84CA-2959-27EC40AF4E9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graphicFrame>
        <p:nvGraphicFramePr>
          <p:cNvPr id="3" name="Object 14">
            <a:extLst>
              <a:ext uri="{FF2B5EF4-FFF2-40B4-BE49-F238E27FC236}">
                <a16:creationId xmlns:a16="http://schemas.microsoft.com/office/drawing/2014/main" id="{25150B66-9372-373B-B0FA-720A8D118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0275" y="2971800"/>
          <a:ext cx="77041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16400" imgH="215900" progId="Equation.3">
                  <p:embed/>
                </p:oleObj>
              </mc:Choice>
              <mc:Fallback>
                <p:oleObj name="Equation" r:id="rId2" imgW="4216400" imgH="215900" progId="Equation.3">
                  <p:embed/>
                  <p:pic>
                    <p:nvPicPr>
                      <p:cNvPr id="41990" name="Object 14">
                        <a:extLst>
                          <a:ext uri="{FF2B5EF4-FFF2-40B4-BE49-F238E27FC236}">
                            <a16:creationId xmlns:a16="http://schemas.microsoft.com/office/drawing/2014/main" id="{D346396A-BABC-CFF0-8DF8-B606FC81D2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2971800"/>
                        <a:ext cx="77041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9">
            <a:extLst>
              <a:ext uri="{FF2B5EF4-FFF2-40B4-BE49-F238E27FC236}">
                <a16:creationId xmlns:a16="http://schemas.microsoft.com/office/drawing/2014/main" id="{2A0CBF79-1D7C-DECA-2994-5B45A11DB3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295400"/>
          <a:ext cx="3043238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300" imgH="711200" progId="Equation.3">
                  <p:embed/>
                </p:oleObj>
              </mc:Choice>
              <mc:Fallback>
                <p:oleObj name="Equation" r:id="rId4" imgW="1511300" imgH="711200" progId="Equation.3">
                  <p:embed/>
                  <p:pic>
                    <p:nvPicPr>
                      <p:cNvPr id="41992" name="Object 19">
                        <a:extLst>
                          <a:ext uri="{FF2B5EF4-FFF2-40B4-BE49-F238E27FC236}">
                            <a16:creationId xmlns:a16="http://schemas.microsoft.com/office/drawing/2014/main" id="{C71EA24F-5B86-58C6-305D-2712DBC348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295400"/>
                        <a:ext cx="3043238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>
            <a:extLst>
              <a:ext uri="{FF2B5EF4-FFF2-40B4-BE49-F238E27FC236}">
                <a16:creationId xmlns:a16="http://schemas.microsoft.com/office/drawing/2014/main" id="{5F3F8A70-8B91-ED13-9101-D06F750868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9563" y="3606800"/>
          <a:ext cx="44323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73300" imgH="711200" progId="Equation.3">
                  <p:embed/>
                </p:oleObj>
              </mc:Choice>
              <mc:Fallback>
                <p:oleObj name="Equation" r:id="rId6" imgW="2273300" imgH="711200" progId="Equation.3">
                  <p:embed/>
                  <p:pic>
                    <p:nvPicPr>
                      <p:cNvPr id="41994" name="Object 13">
                        <a:extLst>
                          <a:ext uri="{FF2B5EF4-FFF2-40B4-BE49-F238E27FC236}">
                            <a16:creationId xmlns:a16="http://schemas.microsoft.com/office/drawing/2014/main" id="{3F933105-FF72-D074-6E97-8AF320FDA8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563" y="3606800"/>
                        <a:ext cx="4432300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>
            <a:extLst>
              <a:ext uri="{FF2B5EF4-FFF2-40B4-BE49-F238E27FC236}">
                <a16:creationId xmlns:a16="http://schemas.microsoft.com/office/drawing/2014/main" id="{54710076-67DD-76AF-98E4-A9D29C4E9B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5181600"/>
          <a:ext cx="3986213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500" imgH="711200" progId="Equation.3">
                  <p:embed/>
                </p:oleObj>
              </mc:Choice>
              <mc:Fallback>
                <p:oleObj name="Equation" r:id="rId8" imgW="2095500" imgH="711200" progId="Equation.3">
                  <p:embed/>
                  <p:pic>
                    <p:nvPicPr>
                      <p:cNvPr id="41995" name="Object 15">
                        <a:extLst>
                          <a:ext uri="{FF2B5EF4-FFF2-40B4-BE49-F238E27FC236}">
                            <a16:creationId xmlns:a16="http://schemas.microsoft.com/office/drawing/2014/main" id="{11CCB38A-01DA-95C0-4A4D-5EEB6BE39A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181600"/>
                        <a:ext cx="3986213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12">
            <a:extLst>
              <a:ext uri="{FF2B5EF4-FFF2-40B4-BE49-F238E27FC236}">
                <a16:creationId xmlns:a16="http://schemas.microsoft.com/office/drawing/2014/main" id="{2531CBA6-6338-0210-02D4-B90575AFC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295400"/>
            <a:ext cx="44196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Divide Equation 1 by 144 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5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multiply it by 64,                   .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0ECCB4F5-9E21-CF2A-FF07-3FD788126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4419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Subtract the result from Equation 2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C0CCF250-D8AC-67D3-81EA-8270F77A2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181600"/>
            <a:ext cx="4419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Substitute new equation for Equation 2</a:t>
            </a:r>
          </a:p>
        </p:txBody>
      </p:sp>
    </p:spTree>
    <p:extLst>
      <p:ext uri="{BB962C8B-B14F-4D97-AF65-F5344CB8AC3E}">
        <p14:creationId xmlns:p14="http://schemas.microsoft.com/office/powerpoint/2010/main" val="136115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7F84-8847-D453-C8FD-62FB7ECEB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AACB47-21DF-6AB5-849F-E6F75D54ED3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graphicFrame>
        <p:nvGraphicFramePr>
          <p:cNvPr id="3" name="Object 12">
            <a:extLst>
              <a:ext uri="{FF2B5EF4-FFF2-40B4-BE49-F238E27FC236}">
                <a16:creationId xmlns:a16="http://schemas.microsoft.com/office/drawing/2014/main" id="{C8C631E5-070F-2C12-A071-72903BB32B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788" y="2895600"/>
          <a:ext cx="82264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54500" imgH="215900" progId="Equation.3">
                  <p:embed/>
                </p:oleObj>
              </mc:Choice>
              <mc:Fallback>
                <p:oleObj name="Equation" r:id="rId2" imgW="4254500" imgH="215900" progId="Equation.3">
                  <p:embed/>
                  <p:pic>
                    <p:nvPicPr>
                      <p:cNvPr id="44040" name="Object 12">
                        <a:extLst>
                          <a:ext uri="{FF2B5EF4-FFF2-40B4-BE49-F238E27FC236}">
                            <a16:creationId xmlns:a16="http://schemas.microsoft.com/office/drawing/2014/main" id="{B1A9757F-BC23-6E04-1CC9-1CD8112EFC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2895600"/>
                        <a:ext cx="822642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2CA8832A-60C4-C43F-CED3-430E0EBD33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2163" y="3505200"/>
          <a:ext cx="4060825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800" imgH="711200" progId="Equation.3">
                  <p:embed/>
                </p:oleObj>
              </mc:Choice>
              <mc:Fallback>
                <p:oleObj name="Equation" r:id="rId4" imgW="2082800" imgH="711200" progId="Equation.3">
                  <p:embed/>
                  <p:pic>
                    <p:nvPicPr>
                      <p:cNvPr id="44044" name="Object 5">
                        <a:extLst>
                          <a:ext uri="{FF2B5EF4-FFF2-40B4-BE49-F238E27FC236}">
                            <a16:creationId xmlns:a16="http://schemas.microsoft.com/office/drawing/2014/main" id="{A9673A3C-D362-09D5-3922-784CE17371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3505200"/>
                        <a:ext cx="4060825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4">
            <a:extLst>
              <a:ext uri="{FF2B5EF4-FFF2-40B4-BE49-F238E27FC236}">
                <a16:creationId xmlns:a16="http://schemas.microsoft.com/office/drawing/2014/main" id="{3E020707-FB47-F509-7DC9-B514BE4553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1295400"/>
          <a:ext cx="4176713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500" imgH="711200" progId="Equation.3">
                  <p:embed/>
                </p:oleObj>
              </mc:Choice>
              <mc:Fallback>
                <p:oleObj name="Equation" r:id="rId6" imgW="2095500" imgH="711200" progId="Equation.3">
                  <p:embed/>
                  <p:pic>
                    <p:nvPicPr>
                      <p:cNvPr id="44045" name="Object 14">
                        <a:extLst>
                          <a:ext uri="{FF2B5EF4-FFF2-40B4-BE49-F238E27FC236}">
                            <a16:creationId xmlns:a16="http://schemas.microsoft.com/office/drawing/2014/main" id="{807E1ED6-B748-FD7E-7CE0-AA6EEADFDA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4176713" cy="141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>
            <a:extLst>
              <a:ext uri="{FF2B5EF4-FFF2-40B4-BE49-F238E27FC236}">
                <a16:creationId xmlns:a16="http://schemas.microsoft.com/office/drawing/2014/main" id="{8F554F15-396B-253F-83A9-17FA65C465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5105400"/>
          <a:ext cx="4176713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500" imgH="711200" progId="Equation.3">
                  <p:embed/>
                </p:oleObj>
              </mc:Choice>
              <mc:Fallback>
                <p:oleObj name="Equation" r:id="rId8" imgW="2095500" imgH="711200" progId="Equation.3">
                  <p:embed/>
                  <p:pic>
                    <p:nvPicPr>
                      <p:cNvPr id="44046" name="Object 15">
                        <a:extLst>
                          <a:ext uri="{FF2B5EF4-FFF2-40B4-BE49-F238E27FC236}">
                            <a16:creationId xmlns:a16="http://schemas.microsoft.com/office/drawing/2014/main" id="{02FCAA27-35DB-2756-2246-495A0B9955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105400"/>
                        <a:ext cx="4176713" cy="141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12">
            <a:extLst>
              <a:ext uri="{FF2B5EF4-FFF2-40B4-BE49-F238E27FC236}">
                <a16:creationId xmlns:a16="http://schemas.microsoft.com/office/drawing/2014/main" id="{56A7B1D1-C0DE-97B6-C890-895D62EEF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295400"/>
            <a:ext cx="44196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Divide Equation 1 by 144 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5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multiply it by 25,                  .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CD97A691-3C26-755C-4003-6406431F6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4419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Subtract the result from Equation 3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074BC200-5FA3-955D-F011-8EAA1ED7D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181600"/>
            <a:ext cx="4419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Substitute new equation for Equation 3</a:t>
            </a:r>
          </a:p>
        </p:txBody>
      </p:sp>
    </p:spTree>
    <p:extLst>
      <p:ext uri="{BB962C8B-B14F-4D97-AF65-F5344CB8AC3E}">
        <p14:creationId xmlns:p14="http://schemas.microsoft.com/office/powerpoint/2010/main" val="197761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AFC42-14D2-465F-6B5F-4A1BF89D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20CE3E-352F-D3C7-9B2B-0D986510C99C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D9C7-1DE3-62F7-E924-993201B0C1C8}"/>
              </a:ext>
            </a:extLst>
          </p:cNvPr>
          <p:cNvSpPr txBox="1">
            <a:spLocks noChangeArrowheads="1"/>
          </p:cNvSpPr>
          <p:nvPr/>
        </p:nvSpPr>
        <p:spPr>
          <a:xfrm>
            <a:off x="849962" y="1519909"/>
            <a:ext cx="9570515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05740" indent="-205740" algn="l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722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Examine absolute values of second column, second row and below.</a:t>
            </a:r>
          </a:p>
          <a:p>
            <a:pPr>
              <a:buFontTx/>
              <a:buNone/>
            </a:pPr>
            <a:endParaRPr lang="en-US" altLang="en-US" sz="3000" dirty="0"/>
          </a:p>
          <a:p>
            <a:pPr>
              <a:buFontTx/>
              <a:buNone/>
            </a:pPr>
            <a:endParaRPr lang="en-US" altLang="en-US" sz="3000" dirty="0"/>
          </a:p>
          <a:p>
            <a:pPr>
              <a:buFontTx/>
              <a:buNone/>
            </a:pPr>
            <a:endParaRPr lang="en-US" altLang="en-US" sz="3000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0167F23-5126-EAF2-8C7C-749BC65FD8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113431"/>
              </p:ext>
            </p:extLst>
          </p:nvPr>
        </p:nvGraphicFramePr>
        <p:xfrm>
          <a:off x="4665119" y="2250952"/>
          <a:ext cx="17653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25" imgH="253890" progId="Equation.3">
                  <p:embed/>
                </p:oleObj>
              </mc:Choice>
              <mc:Fallback>
                <p:oleObj name="Equation" r:id="rId2" imgW="863225" imgH="253890" progId="Equation.3">
                  <p:embed/>
                  <p:pic>
                    <p:nvPicPr>
                      <p:cNvPr id="46084" name="Object 4">
                        <a:extLst>
                          <a:ext uri="{FF2B5EF4-FFF2-40B4-BE49-F238E27FC236}">
                            <a16:creationId xmlns:a16="http://schemas.microsoft.com/office/drawing/2014/main" id="{8DD3FA2D-F1B6-396C-A357-D4FA2FCFB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5119" y="2250952"/>
                        <a:ext cx="17653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10">
            <a:extLst>
              <a:ext uri="{FF2B5EF4-FFF2-40B4-BE49-F238E27FC236}">
                <a16:creationId xmlns:a16="http://schemas.microsoft.com/office/drawing/2014/main" id="{9410CF97-3BD3-B010-1BE5-DA1E77C50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62" y="3120108"/>
            <a:ext cx="77311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  Largest absolute value is 2.917 and exists in row 3.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  Switch row 2 and row 3.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 algn="ctr" eaLnBrk="1" hangingPunct="1">
              <a:spcBef>
                <a:spcPct val="0"/>
              </a:spcBef>
            </a:pPr>
            <a:endParaRPr lang="en-US" altLang="en-US" sz="2400" dirty="0"/>
          </a:p>
        </p:txBody>
      </p:sp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5FE2466B-CBFB-5FB9-0921-B539EFAA3D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197823"/>
              </p:ext>
            </p:extLst>
          </p:nvPr>
        </p:nvGraphicFramePr>
        <p:xfrm>
          <a:off x="1469333" y="4412952"/>
          <a:ext cx="7616825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56100" imgH="711200" progId="Equation.3">
                  <p:embed/>
                </p:oleObj>
              </mc:Choice>
              <mc:Fallback>
                <p:oleObj name="Equation" r:id="rId4" imgW="4356100" imgH="711200" progId="Equation.3">
                  <p:embed/>
                  <p:pic>
                    <p:nvPicPr>
                      <p:cNvPr id="46086" name="Object 8">
                        <a:extLst>
                          <a:ext uri="{FF2B5EF4-FFF2-40B4-BE49-F238E27FC236}">
                            <a16:creationId xmlns:a16="http://schemas.microsoft.com/office/drawing/2014/main" id="{C412FE3F-9BDE-2AF6-1D9D-EF2E0F3D2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333" y="4412952"/>
                        <a:ext cx="7616825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9894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A62DB-0A7B-471F-5146-553C6CA7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716029F-7FF9-3301-669A-3A42B580BAA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graphicFrame>
        <p:nvGraphicFramePr>
          <p:cNvPr id="3" name="Object 16">
            <a:extLst>
              <a:ext uri="{FF2B5EF4-FFF2-40B4-BE49-F238E27FC236}">
                <a16:creationId xmlns:a16="http://schemas.microsoft.com/office/drawing/2014/main" id="{4BBDF77D-E0F8-817C-FFAC-E53F831FC3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388" y="2743200"/>
          <a:ext cx="82772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06900" imgH="215900" progId="Equation.3">
                  <p:embed/>
                </p:oleObj>
              </mc:Choice>
              <mc:Fallback>
                <p:oleObj name="Equation" r:id="rId2" imgW="4406900" imgH="215900" progId="Equation.3">
                  <p:embed/>
                  <p:pic>
                    <p:nvPicPr>
                      <p:cNvPr id="48139" name="Object 16">
                        <a:extLst>
                          <a:ext uri="{FF2B5EF4-FFF2-40B4-BE49-F238E27FC236}">
                            <a16:creationId xmlns:a16="http://schemas.microsoft.com/office/drawing/2014/main" id="{893D0F81-EF4C-D481-04CA-50FA6B5F29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8" y="2743200"/>
                        <a:ext cx="827722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CE45A4D5-AD23-5F53-7F78-275439BE7C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219200"/>
          <a:ext cx="3663950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500" imgH="711200" progId="Equation.3">
                  <p:embed/>
                </p:oleObj>
              </mc:Choice>
              <mc:Fallback>
                <p:oleObj name="Equation" r:id="rId4" imgW="2095500" imgH="711200" progId="Equation.3">
                  <p:embed/>
                  <p:pic>
                    <p:nvPicPr>
                      <p:cNvPr id="48140" name="Object 8">
                        <a:extLst>
                          <a:ext uri="{FF2B5EF4-FFF2-40B4-BE49-F238E27FC236}">
                            <a16:creationId xmlns:a16="http://schemas.microsoft.com/office/drawing/2014/main" id="{9EB2E318-B13A-590A-B90E-5E924A018B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219200"/>
                        <a:ext cx="3663950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7">
            <a:extLst>
              <a:ext uri="{FF2B5EF4-FFF2-40B4-BE49-F238E27FC236}">
                <a16:creationId xmlns:a16="http://schemas.microsoft.com/office/drawing/2014/main" id="{F6AE2596-1100-5321-6B6B-DBBBED93A2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0888" y="3314700"/>
          <a:ext cx="3986212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700" imgH="711200" progId="Equation.3">
                  <p:embed/>
                </p:oleObj>
              </mc:Choice>
              <mc:Fallback>
                <p:oleObj name="Equation" r:id="rId6" imgW="2044700" imgH="711200" progId="Equation.3">
                  <p:embed/>
                  <p:pic>
                    <p:nvPicPr>
                      <p:cNvPr id="48141" name="Object 17">
                        <a:extLst>
                          <a:ext uri="{FF2B5EF4-FFF2-40B4-BE49-F238E27FC236}">
                            <a16:creationId xmlns:a16="http://schemas.microsoft.com/office/drawing/2014/main" id="{B7D48E72-1119-6826-0689-E88C38BCF1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88" y="3314700"/>
                        <a:ext cx="3986212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63190322-8710-E3F3-0467-3BA721F10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2313" y="4914900"/>
          <a:ext cx="4041775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20900" imgH="711200" progId="Equation.3">
                  <p:embed/>
                </p:oleObj>
              </mc:Choice>
              <mc:Fallback>
                <p:oleObj name="Equation" r:id="rId8" imgW="2120900" imgH="711200" progId="Equation.3">
                  <p:embed/>
                  <p:pic>
                    <p:nvPicPr>
                      <p:cNvPr id="48142" name="Object 18">
                        <a:extLst>
                          <a:ext uri="{FF2B5EF4-FFF2-40B4-BE49-F238E27FC236}">
                            <a16:creationId xmlns:a16="http://schemas.microsoft.com/office/drawing/2014/main" id="{D2EF3F9F-EB5D-EA3E-29B1-8521E18B71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4914900"/>
                        <a:ext cx="4041775" cy="1354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12">
            <a:extLst>
              <a:ext uri="{FF2B5EF4-FFF2-40B4-BE49-F238E27FC236}">
                <a16:creationId xmlns:a16="http://schemas.microsoft.com/office/drawing/2014/main" id="{B4074C45-ED09-41F6-8BE4-E1CFC089F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990600"/>
            <a:ext cx="4419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Divide Equation 2 by 2.917 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multiply it by 2.667,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               </a:t>
            </a: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61482C69-59DD-2673-D4C0-C16D0F51CF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752600"/>
          <a:ext cx="20955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16000" imgH="393700" progId="Equation.3">
                  <p:embed/>
                </p:oleObj>
              </mc:Choice>
              <mc:Fallback>
                <p:oleObj name="Equation" r:id="rId10" imgW="1016000" imgH="393700" progId="Equation.3">
                  <p:embed/>
                  <p:pic>
                    <p:nvPicPr>
                      <p:cNvPr id="48144" name="Object 6">
                        <a:extLst>
                          <a:ext uri="{FF2B5EF4-FFF2-40B4-BE49-F238E27FC236}">
                            <a16:creationId xmlns:a16="http://schemas.microsoft.com/office/drawing/2014/main" id="{E46235BB-1D33-81D7-57E4-E304A00FF5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752600"/>
                        <a:ext cx="209550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3">
            <a:extLst>
              <a:ext uri="{FF2B5EF4-FFF2-40B4-BE49-F238E27FC236}">
                <a16:creationId xmlns:a16="http://schemas.microsoft.com/office/drawing/2014/main" id="{90377331-8E44-B221-088D-F2ACFD0DD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4419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Subtract the result from Equation 3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4369BC61-C6C1-DCB2-734D-0CFF244F9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181600"/>
            <a:ext cx="4419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Substitute new equation for Equation 3</a:t>
            </a:r>
          </a:p>
        </p:txBody>
      </p:sp>
    </p:spTree>
    <p:extLst>
      <p:ext uri="{BB962C8B-B14F-4D97-AF65-F5344CB8AC3E}">
        <p14:creationId xmlns:p14="http://schemas.microsoft.com/office/powerpoint/2010/main" val="334985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F82F-EBB7-01AD-7E9C-98D0BAF4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0F859BA-4DD1-C652-F220-CA0D06C3E6B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A5D145EB-97D3-4763-3792-2BA0FD0C19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374109"/>
              </p:ext>
            </p:extLst>
          </p:nvPr>
        </p:nvGraphicFramePr>
        <p:xfrm>
          <a:off x="4402212" y="3770622"/>
          <a:ext cx="2605088" cy="208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700" imgH="825500" progId="Equation.3">
                  <p:embed/>
                </p:oleObj>
              </mc:Choice>
              <mc:Fallback>
                <p:oleObj name="Equation" r:id="rId2" imgW="1028700" imgH="825500" progId="Equation.3">
                  <p:embed/>
                  <p:pic>
                    <p:nvPicPr>
                      <p:cNvPr id="52230" name="Object 15">
                        <a:extLst>
                          <a:ext uri="{FF2B5EF4-FFF2-40B4-BE49-F238E27FC236}">
                            <a16:creationId xmlns:a16="http://schemas.microsoft.com/office/drawing/2014/main" id="{32DADDF8-992C-C1D8-A79A-71D1A423FE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212" y="3770622"/>
                        <a:ext cx="2605088" cy="208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1">
            <a:extLst>
              <a:ext uri="{FF2B5EF4-FFF2-40B4-BE49-F238E27FC236}">
                <a16:creationId xmlns:a16="http://schemas.microsoft.com/office/drawing/2014/main" id="{384E2E21-1E1D-7CA7-B048-20C66A878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412" y="3084822"/>
            <a:ext cx="7467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/>
              <a:t>Solving for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 baseline="-25000">
                <a:latin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5" name="Object 22">
            <a:extLst>
              <a:ext uri="{FF2B5EF4-FFF2-40B4-BE49-F238E27FC236}">
                <a16:creationId xmlns:a16="http://schemas.microsoft.com/office/drawing/2014/main" id="{AA9C5A85-0256-12D6-E7CF-FF36061B7F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802981"/>
              </p:ext>
            </p:extLst>
          </p:nvPr>
        </p:nvGraphicFramePr>
        <p:xfrm>
          <a:off x="1362150" y="1560822"/>
          <a:ext cx="8520112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9000" imgH="711200" progId="Equation.3">
                  <p:embed/>
                </p:oleObj>
              </mc:Choice>
              <mc:Fallback>
                <p:oleObj name="Equation" r:id="rId4" imgW="4699000" imgH="711200" progId="Equation.3">
                  <p:embed/>
                  <p:pic>
                    <p:nvPicPr>
                      <p:cNvPr id="52233" name="Object 22">
                        <a:extLst>
                          <a:ext uri="{FF2B5EF4-FFF2-40B4-BE49-F238E27FC236}">
                            <a16:creationId xmlns:a16="http://schemas.microsoft.com/office/drawing/2014/main" id="{8C9488AC-E817-3507-0F92-413D696FA2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150" y="1560822"/>
                        <a:ext cx="8520112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5062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C074C-B2D4-0E2F-F6FC-E6A731BE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520998B-0AE2-94BA-A4E4-8B15F4975F1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D5B3711E-4999-123F-1D89-2B3D24ABA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399" y="3017316"/>
            <a:ext cx="7467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/>
              <a:t>Solving for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23890E39-1884-A3F4-04F8-821DD3D268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307586"/>
              </p:ext>
            </p:extLst>
          </p:nvPr>
        </p:nvGraphicFramePr>
        <p:xfrm>
          <a:off x="2209799" y="3626916"/>
          <a:ext cx="5943600" cy="279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300" imgH="1244600" progId="Equation.3">
                  <p:embed/>
                </p:oleObj>
              </mc:Choice>
              <mc:Fallback>
                <p:oleObj name="Equation" r:id="rId2" imgW="2654300" imgH="1244600" progId="Equation.3">
                  <p:embed/>
                  <p:pic>
                    <p:nvPicPr>
                      <p:cNvPr id="54281" name="Object 12">
                        <a:extLst>
                          <a:ext uri="{FF2B5EF4-FFF2-40B4-BE49-F238E27FC236}">
                            <a16:creationId xmlns:a16="http://schemas.microsoft.com/office/drawing/2014/main" id="{B5AAEDA4-E0EB-8124-CA03-385551CE4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799" y="3626916"/>
                        <a:ext cx="5943600" cy="279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">
            <a:extLst>
              <a:ext uri="{FF2B5EF4-FFF2-40B4-BE49-F238E27FC236}">
                <a16:creationId xmlns:a16="http://schemas.microsoft.com/office/drawing/2014/main" id="{765E422D-154B-9450-96FF-664712EC84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163293"/>
              </p:ext>
            </p:extLst>
          </p:nvPr>
        </p:nvGraphicFramePr>
        <p:xfrm>
          <a:off x="3090862" y="1340916"/>
          <a:ext cx="4791075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600" imgH="711200" progId="Equation.3">
                  <p:embed/>
                </p:oleObj>
              </mc:Choice>
              <mc:Fallback>
                <p:oleObj name="Equation" r:id="rId4" imgW="2387600" imgH="711200" progId="Equation.3">
                  <p:embed/>
                  <p:pic>
                    <p:nvPicPr>
                      <p:cNvPr id="54284" name="Object 20">
                        <a:extLst>
                          <a:ext uri="{FF2B5EF4-FFF2-40B4-BE49-F238E27FC236}">
                            <a16:creationId xmlns:a16="http://schemas.microsoft.com/office/drawing/2014/main" id="{F7B040A5-A205-6062-BC22-80AC27ABF9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2" y="1340916"/>
                        <a:ext cx="4791075" cy="142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91793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D7C57-B14E-7C30-099F-D8C7683E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2BE9D0-C234-456F-0985-B968CBC1DBF9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883E1EE1-B194-179B-8E8A-3B9CAC05E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566" y="2912988"/>
            <a:ext cx="7467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/>
              <a:t>Solving for 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baseline="-25000" dirty="0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4" name="Object 20">
            <a:extLst>
              <a:ext uri="{FF2B5EF4-FFF2-40B4-BE49-F238E27FC236}">
                <a16:creationId xmlns:a16="http://schemas.microsoft.com/office/drawing/2014/main" id="{1D29175D-585A-0477-DF1C-645C37E287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872387"/>
              </p:ext>
            </p:extLst>
          </p:nvPr>
        </p:nvGraphicFramePr>
        <p:xfrm>
          <a:off x="2190366" y="3446388"/>
          <a:ext cx="6400800" cy="291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400" imgH="1219200" progId="Equation.3">
                  <p:embed/>
                </p:oleObj>
              </mc:Choice>
              <mc:Fallback>
                <p:oleObj name="Equation" r:id="rId2" imgW="2692400" imgH="1219200" progId="Equation.3">
                  <p:embed/>
                  <p:pic>
                    <p:nvPicPr>
                      <p:cNvPr id="56332" name="Object 20">
                        <a:extLst>
                          <a:ext uri="{FF2B5EF4-FFF2-40B4-BE49-F238E27FC236}">
                            <a16:creationId xmlns:a16="http://schemas.microsoft.com/office/drawing/2014/main" id="{3B8983A8-7293-56B6-727F-507253A142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366" y="3446388"/>
                        <a:ext cx="6400800" cy="291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5">
            <a:extLst>
              <a:ext uri="{FF2B5EF4-FFF2-40B4-BE49-F238E27FC236}">
                <a16:creationId xmlns:a16="http://schemas.microsoft.com/office/drawing/2014/main" id="{5A72E1C7-06AC-5261-B923-148FA03F6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24264"/>
              </p:ext>
            </p:extLst>
          </p:nvPr>
        </p:nvGraphicFramePr>
        <p:xfrm>
          <a:off x="2919029" y="1241351"/>
          <a:ext cx="479107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600" imgH="711200" progId="Equation.3">
                  <p:embed/>
                </p:oleObj>
              </mc:Choice>
              <mc:Fallback>
                <p:oleObj name="Equation" r:id="rId4" imgW="2387600" imgH="711200" progId="Equation.3">
                  <p:embed/>
                  <p:pic>
                    <p:nvPicPr>
                      <p:cNvPr id="56337" name="Object 25">
                        <a:extLst>
                          <a:ext uri="{FF2B5EF4-FFF2-40B4-BE49-F238E27FC236}">
                            <a16:creationId xmlns:a16="http://schemas.microsoft.com/office/drawing/2014/main" id="{C4D3E953-6F4F-0A46-A96C-35B21C7665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029" y="1241351"/>
                        <a:ext cx="47910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1362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9E293-01F0-D444-EABA-B38A0AA6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82D731-95B9-F0F6-86FB-8C25F0BDC31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55007D33-DA05-00E2-281E-BC1B290DF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987710"/>
              </p:ext>
            </p:extLst>
          </p:nvPr>
        </p:nvGraphicFramePr>
        <p:xfrm>
          <a:off x="2587625" y="1275455"/>
          <a:ext cx="5797550" cy="200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6100" imgH="711200" progId="Equation.3">
                  <p:embed/>
                </p:oleObj>
              </mc:Choice>
              <mc:Fallback>
                <p:oleObj name="Equation" r:id="rId2" imgW="1816100" imgH="711200" progId="Equation.3">
                  <p:embed/>
                  <p:pic>
                    <p:nvPicPr>
                      <p:cNvPr id="58374" name="Object 6">
                        <a:extLst>
                          <a:ext uri="{FF2B5EF4-FFF2-40B4-BE49-F238E27FC236}">
                            <a16:creationId xmlns:a16="http://schemas.microsoft.com/office/drawing/2014/main" id="{4821F92B-1D1F-0D83-BD52-AC343DAB5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1275455"/>
                        <a:ext cx="5797550" cy="200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D14E5F90-E217-8AFF-6568-62BDB90E7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248682"/>
              </p:ext>
            </p:extLst>
          </p:nvPr>
        </p:nvGraphicFramePr>
        <p:xfrm>
          <a:off x="4336464" y="4085649"/>
          <a:ext cx="2790825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0948" imgH="710891" progId="Equation.3">
                  <p:embed/>
                </p:oleObj>
              </mc:Choice>
              <mc:Fallback>
                <p:oleObj name="Equation" r:id="rId4" imgW="1040948" imgH="710891" progId="Equation.3">
                  <p:embed/>
                  <p:pic>
                    <p:nvPicPr>
                      <p:cNvPr id="58375" name="Object 7">
                        <a:extLst>
                          <a:ext uri="{FF2B5EF4-FFF2-40B4-BE49-F238E27FC236}">
                            <a16:creationId xmlns:a16="http://schemas.microsoft.com/office/drawing/2014/main" id="{51B9E61D-1A2E-0F50-B416-EC60627E52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6464" y="4085649"/>
                        <a:ext cx="2790825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43139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2C3A-1C4B-5AFB-1E7E-5C2460B32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8AD083-B7B7-5080-59F7-4879EBDDA46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C1E21189-3369-A82E-C099-24C57B9C0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518" y="1063357"/>
            <a:ext cx="64161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Consider the system of equations</a:t>
            </a:r>
          </a:p>
        </p:txBody>
      </p:sp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73A536C1-97A0-501D-5A52-98D5C777FE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585927"/>
              </p:ext>
            </p:extLst>
          </p:nvPr>
        </p:nvGraphicFramePr>
        <p:xfrm>
          <a:off x="3252026" y="1654504"/>
          <a:ext cx="4415732" cy="1691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700" imgH="685800" progId="Equation.3">
                  <p:embed/>
                </p:oleObj>
              </mc:Choice>
              <mc:Fallback>
                <p:oleObj name="Equation" r:id="rId2" imgW="1790700" imgH="685800" progId="Equation.3">
                  <p:embed/>
                  <p:pic>
                    <p:nvPicPr>
                      <p:cNvPr id="60420" name="Object 4">
                        <a:extLst>
                          <a:ext uri="{FF2B5EF4-FFF2-40B4-BE49-F238E27FC236}">
                            <a16:creationId xmlns:a16="http://schemas.microsoft.com/office/drawing/2014/main" id="{BE9D53AC-D2BE-014C-D4E0-66A823C0DC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026" y="1654504"/>
                        <a:ext cx="4415732" cy="1691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>
            <a:extLst>
              <a:ext uri="{FF2B5EF4-FFF2-40B4-BE49-F238E27FC236}">
                <a16:creationId xmlns:a16="http://schemas.microsoft.com/office/drawing/2014/main" id="{959F738E-FBF3-9837-DD20-FB6BDA8C7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5669" y="3283992"/>
            <a:ext cx="3810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In matrix form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051611-58D7-8FB5-B281-4556FEA69A36}"/>
              </a:ext>
            </a:extLst>
          </p:cNvPr>
          <p:cNvGrpSpPr/>
          <p:nvPr/>
        </p:nvGrpSpPr>
        <p:grpSpPr>
          <a:xfrm>
            <a:off x="2954710" y="3926465"/>
            <a:ext cx="5010363" cy="1868178"/>
            <a:chOff x="3427892" y="3698002"/>
            <a:chExt cx="4005263" cy="1377950"/>
          </a:xfrm>
        </p:grpSpPr>
        <p:graphicFrame>
          <p:nvGraphicFramePr>
            <p:cNvPr id="14" name="Object 11">
              <a:extLst>
                <a:ext uri="{FF2B5EF4-FFF2-40B4-BE49-F238E27FC236}">
                  <a16:creationId xmlns:a16="http://schemas.microsoft.com/office/drawing/2014/main" id="{BB77AC8D-B227-A932-3851-66B6A2BB47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1490200"/>
                </p:ext>
              </p:extLst>
            </p:nvPr>
          </p:nvGraphicFramePr>
          <p:xfrm>
            <a:off x="3427892" y="3698002"/>
            <a:ext cx="2032000" cy="1377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54100" imgH="711200" progId="Equation.3">
                    <p:embed/>
                  </p:oleObj>
                </mc:Choice>
                <mc:Fallback>
                  <p:oleObj name="Equation" r:id="rId4" imgW="1054100" imgH="711200" progId="Equation.3">
                    <p:embed/>
                    <p:pic>
                      <p:nvPicPr>
                        <p:cNvPr id="60422" name="Object 11">
                          <a:extLst>
                            <a:ext uri="{FF2B5EF4-FFF2-40B4-BE49-F238E27FC236}">
                              <a16:creationId xmlns:a16="http://schemas.microsoft.com/office/drawing/2014/main" id="{D7963633-4FC1-BDA2-A68C-3F4B6EA00F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7892" y="3698002"/>
                          <a:ext cx="2032000" cy="1377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0">
              <a:extLst>
                <a:ext uri="{FF2B5EF4-FFF2-40B4-BE49-F238E27FC236}">
                  <a16:creationId xmlns:a16="http://schemas.microsoft.com/office/drawing/2014/main" id="{6E8B9186-9964-42E6-C91B-A2D06F3F58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316494"/>
                </p:ext>
              </p:extLst>
            </p:nvPr>
          </p:nvGraphicFramePr>
          <p:xfrm>
            <a:off x="5472592" y="3698002"/>
            <a:ext cx="638175" cy="1371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30057" imgH="710891" progId="Equation.3">
                    <p:embed/>
                  </p:oleObj>
                </mc:Choice>
                <mc:Fallback>
                  <p:oleObj name="Equation" r:id="rId6" imgW="330057" imgH="710891" progId="Equation.3">
                    <p:embed/>
                    <p:pic>
                      <p:nvPicPr>
                        <p:cNvPr id="60423" name="Object 10">
                          <a:extLst>
                            <a:ext uri="{FF2B5EF4-FFF2-40B4-BE49-F238E27FC236}">
                              <a16:creationId xmlns:a16="http://schemas.microsoft.com/office/drawing/2014/main" id="{425F6A25-549F-75DC-15DD-7E1462E36F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592" y="3698002"/>
                          <a:ext cx="638175" cy="1371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9">
              <a:extLst>
                <a:ext uri="{FF2B5EF4-FFF2-40B4-BE49-F238E27FC236}">
                  <a16:creationId xmlns:a16="http://schemas.microsoft.com/office/drawing/2014/main" id="{0D887784-EB58-1570-521A-64733079E4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5945826"/>
                </p:ext>
              </p:extLst>
            </p:nvPr>
          </p:nvGraphicFramePr>
          <p:xfrm>
            <a:off x="6463192" y="3698002"/>
            <a:ext cx="969963" cy="1371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08000" imgH="711200" progId="Equation.3">
                    <p:embed/>
                  </p:oleObj>
                </mc:Choice>
                <mc:Fallback>
                  <p:oleObj name="Equation" r:id="rId8" imgW="508000" imgH="711200" progId="Equation.3">
                    <p:embed/>
                    <p:pic>
                      <p:nvPicPr>
                        <p:cNvPr id="60424" name="Object 9">
                          <a:extLst>
                            <a:ext uri="{FF2B5EF4-FFF2-40B4-BE49-F238E27FC236}">
                              <a16:creationId xmlns:a16="http://schemas.microsoft.com/office/drawing/2014/main" id="{F1CEBF9D-69AF-3279-292B-A7AD703941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3192" y="3698002"/>
                          <a:ext cx="969963" cy="1371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711A1555-6EDB-0083-2C03-952F47B8E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992" y="4231402"/>
              <a:ext cx="5032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  <a:cs typeface="Times New Roman" panose="02020603050405020304" pitchFamily="18" charset="0"/>
                </a:rPr>
                <a:t>  </a:t>
              </a:r>
              <a:r>
                <a:rPr lang="en-US" altLang="en-US" sz="2000" dirty="0">
                  <a:latin typeface="Arial" panose="020B0604020202020204" pitchFamily="34" charset="0"/>
                  <a:cs typeface="Times New Roman" panose="02020603050405020304" pitchFamily="18" charset="0"/>
                </a:rPr>
                <a:t>=</a:t>
              </a:r>
              <a:r>
                <a:rPr lang="en-US" altLang="en-US" sz="1200" dirty="0">
                  <a:latin typeface="Arial" panose="020B0604020202020204" pitchFamily="34" charset="0"/>
                  <a:cs typeface="Times New Roman" panose="02020603050405020304" pitchFamily="18" charset="0"/>
                </a:rPr>
                <a:t>  </a:t>
              </a:r>
              <a:endParaRPr lang="en-US" altLang="en-US"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18" name="Text Box 15">
            <a:extLst>
              <a:ext uri="{FF2B5EF4-FFF2-40B4-BE49-F238E27FC236}">
                <a16:creationId xmlns:a16="http://schemas.microsoft.com/office/drawing/2014/main" id="{E33FC26C-2CE4-022F-624F-CEDBA0ADD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5669" y="5947270"/>
            <a:ext cx="81065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Solve using Gaussian Elimination with Partial Pivoting using five significant digits with chopping</a:t>
            </a:r>
          </a:p>
        </p:txBody>
      </p:sp>
    </p:spTree>
    <p:extLst>
      <p:ext uri="{BB962C8B-B14F-4D97-AF65-F5344CB8AC3E}">
        <p14:creationId xmlns:p14="http://schemas.microsoft.com/office/powerpoint/2010/main" val="1403587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FDD8-5E6E-34C0-A468-76803E70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69119A3-E6DB-609D-0F85-E14DE750B99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62C6AAB-86FA-96EE-3575-860EC597C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619" y="1149233"/>
            <a:ext cx="10689991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Forward Elimination: Step 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	Examining the values of the first column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	|10|, |-3|, and |5| or 10, 3, and 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The largest absolute value is 10, which means, to follow the rules of Partial Pivoting, we do not switch row.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1ADB4820-1C38-8434-ED08-50EEDCEAE5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516951"/>
              </p:ext>
            </p:extLst>
          </p:nvPr>
        </p:nvGraphicFramePr>
        <p:xfrm>
          <a:off x="1750928" y="4522904"/>
          <a:ext cx="3330575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3100" imgH="711200" progId="Equation.3">
                  <p:embed/>
                </p:oleObj>
              </mc:Choice>
              <mc:Fallback>
                <p:oleObj name="Equation" r:id="rId2" imgW="1943100" imgH="711200" progId="Equation.3">
                  <p:embed/>
                  <p:pic>
                    <p:nvPicPr>
                      <p:cNvPr id="62469" name="Object 4">
                        <a:extLst>
                          <a:ext uri="{FF2B5EF4-FFF2-40B4-BE49-F238E27FC236}">
                            <a16:creationId xmlns:a16="http://schemas.microsoft.com/office/drawing/2014/main" id="{94F1F34B-5886-2951-E284-282432FC45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928" y="4522904"/>
                        <a:ext cx="3330575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7C7E78DA-1F69-7723-32FA-C31751CE0D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682005"/>
              </p:ext>
            </p:extLst>
          </p:nvPr>
        </p:nvGraphicFramePr>
        <p:xfrm>
          <a:off x="6083215" y="4522904"/>
          <a:ext cx="3352800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300" imgH="711200" progId="Equation.3">
                  <p:embed/>
                </p:oleObj>
              </mc:Choice>
              <mc:Fallback>
                <p:oleObj name="Equation" r:id="rId4" imgW="2019300" imgH="711200" progId="Equation.3">
                  <p:embed/>
                  <p:pic>
                    <p:nvPicPr>
                      <p:cNvPr id="62471" name="Object 6">
                        <a:extLst>
                          <a:ext uri="{FF2B5EF4-FFF2-40B4-BE49-F238E27FC236}">
                            <a16:creationId xmlns:a16="http://schemas.microsoft.com/office/drawing/2014/main" id="{BF6C66A4-A068-98CC-FB8F-36C069CDFE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215" y="4522904"/>
                        <a:ext cx="3352800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87121E7E-B0EF-ED42-6683-7C1CE77324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777079"/>
              </p:ext>
            </p:extLst>
          </p:nvPr>
        </p:nvGraphicFramePr>
        <p:xfrm>
          <a:off x="5168815" y="4827704"/>
          <a:ext cx="8382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17" imgH="152334" progId="Equation.3">
                  <p:embed/>
                </p:oleObj>
              </mc:Choice>
              <mc:Fallback>
                <p:oleObj name="Equation" r:id="rId6" imgW="190417" imgH="152334" progId="Equation.3">
                  <p:embed/>
                  <p:pic>
                    <p:nvPicPr>
                      <p:cNvPr id="62473" name="Object 8">
                        <a:extLst>
                          <a:ext uri="{FF2B5EF4-FFF2-40B4-BE49-F238E27FC236}">
                            <a16:creationId xmlns:a16="http://schemas.microsoft.com/office/drawing/2014/main" id="{38C20FE6-4F16-7FDA-3B78-7F924829EB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815" y="4827704"/>
                        <a:ext cx="8382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>
            <a:extLst>
              <a:ext uri="{FF2B5EF4-FFF2-40B4-BE49-F238E27FC236}">
                <a16:creationId xmlns:a16="http://schemas.microsoft.com/office/drawing/2014/main" id="{2A8676BC-689D-112C-C4FD-41C7EE95D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215" y="4065704"/>
            <a:ext cx="4114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200">
                <a:latin typeface="Arial" panose="020B0604020202020204" pitchFamily="34" charset="0"/>
              </a:rPr>
              <a:t>Performing Forward Elimination</a:t>
            </a:r>
          </a:p>
        </p:txBody>
      </p:sp>
    </p:spTree>
    <p:extLst>
      <p:ext uri="{BB962C8B-B14F-4D97-AF65-F5344CB8AC3E}">
        <p14:creationId xmlns:p14="http://schemas.microsoft.com/office/powerpoint/2010/main" val="1451267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78B41-6C8E-33CF-46F7-40DC13AA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3A096A-7CDE-FF7F-323F-497B9CD469A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65F81DA-034A-AD6B-2F28-111341B8A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101" y="1371997"/>
            <a:ext cx="10379567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Forward Elimination: Step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	Examining the values of the first column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	|-0.001| and |2.5| or 0.0001 and 2.5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The largest absolute value is 2.5, so row 2 is switched with row 3</a:t>
            </a:r>
          </a:p>
        </p:txBody>
      </p: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E9A0870F-3CFA-0897-6120-3A4747AF60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973865"/>
              </p:ext>
            </p:extLst>
          </p:nvPr>
        </p:nvGraphicFramePr>
        <p:xfrm>
          <a:off x="1795047" y="4494777"/>
          <a:ext cx="3352800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300" imgH="711200" progId="Equation.3">
                  <p:embed/>
                </p:oleObj>
              </mc:Choice>
              <mc:Fallback>
                <p:oleObj name="Equation" r:id="rId2" imgW="2019300" imgH="711200" progId="Equation.3">
                  <p:embed/>
                  <p:pic>
                    <p:nvPicPr>
                      <p:cNvPr id="64518" name="Object 7">
                        <a:extLst>
                          <a:ext uri="{FF2B5EF4-FFF2-40B4-BE49-F238E27FC236}">
                            <a16:creationId xmlns:a16="http://schemas.microsoft.com/office/drawing/2014/main" id="{D3985C08-9B49-49B7-D8DC-55D097D9B0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047" y="4494777"/>
                        <a:ext cx="3352800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1CE8C55F-1AED-6711-B87B-7DCDC19DBF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517313"/>
              </p:ext>
            </p:extLst>
          </p:nvPr>
        </p:nvGraphicFramePr>
        <p:xfrm>
          <a:off x="5224047" y="4723377"/>
          <a:ext cx="8382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17" imgH="152334" progId="Equation.3">
                  <p:embed/>
                </p:oleObj>
              </mc:Choice>
              <mc:Fallback>
                <p:oleObj name="Equation" r:id="rId4" imgW="190417" imgH="152334" progId="Equation.3">
                  <p:embed/>
                  <p:pic>
                    <p:nvPicPr>
                      <p:cNvPr id="64520" name="Object 9">
                        <a:extLst>
                          <a:ext uri="{FF2B5EF4-FFF2-40B4-BE49-F238E27FC236}">
                            <a16:creationId xmlns:a16="http://schemas.microsoft.com/office/drawing/2014/main" id="{A20BA799-7A32-0D9D-F6C6-7A40464CCA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047" y="4723377"/>
                        <a:ext cx="8382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17113C05-1A11-EBEA-84F5-F95AEDA4E2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035391"/>
              </p:ext>
            </p:extLst>
          </p:nvPr>
        </p:nvGraphicFramePr>
        <p:xfrm>
          <a:off x="6082885" y="4494777"/>
          <a:ext cx="3387725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93900" imgH="711200" progId="Equation.3">
                  <p:embed/>
                </p:oleObj>
              </mc:Choice>
              <mc:Fallback>
                <p:oleObj name="Equation" r:id="rId6" imgW="1993900" imgH="711200" progId="Equation.3">
                  <p:embed/>
                  <p:pic>
                    <p:nvPicPr>
                      <p:cNvPr id="64521" name="Object 10">
                        <a:extLst>
                          <a:ext uri="{FF2B5EF4-FFF2-40B4-BE49-F238E27FC236}">
                            <a16:creationId xmlns:a16="http://schemas.microsoft.com/office/drawing/2014/main" id="{50C1BF96-8C94-3374-D393-1FA81842D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2885" y="4494777"/>
                        <a:ext cx="3387725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">
            <a:extLst>
              <a:ext uri="{FF2B5EF4-FFF2-40B4-BE49-F238E27FC236}">
                <a16:creationId xmlns:a16="http://schemas.microsoft.com/office/drawing/2014/main" id="{88930734-E4AA-9C40-B314-642B23272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047" y="3961377"/>
            <a:ext cx="36576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200">
                <a:latin typeface="Arial" panose="020B0604020202020204" pitchFamily="34" charset="0"/>
              </a:rPr>
              <a:t>Performing the row swap</a:t>
            </a:r>
          </a:p>
        </p:txBody>
      </p:sp>
    </p:spTree>
    <p:extLst>
      <p:ext uri="{BB962C8B-B14F-4D97-AF65-F5344CB8AC3E}">
        <p14:creationId xmlns:p14="http://schemas.microsoft.com/office/powerpoint/2010/main" val="34480141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85DE9-2AD2-3171-DB6C-A189B0CB4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9ABA29-2D6F-DD52-D1A5-96D6B3397C0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261C4EB-647C-58C4-22A3-2727AAF75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547" y="1197720"/>
            <a:ext cx="8441191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Forward Elimination: Step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	Performing the Forward Elimination results in: </a:t>
            </a: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5F0BB05F-671A-23FD-D58F-2681DCA698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462788"/>
              </p:ext>
            </p:extLst>
          </p:nvPr>
        </p:nvGraphicFramePr>
        <p:xfrm>
          <a:off x="2311570" y="3627937"/>
          <a:ext cx="6189153" cy="2159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700" imgH="711200" progId="Equation.3">
                  <p:embed/>
                </p:oleObj>
              </mc:Choice>
              <mc:Fallback>
                <p:oleObj name="Equation" r:id="rId2" imgW="2044700" imgH="711200" progId="Equation.3">
                  <p:embed/>
                  <p:pic>
                    <p:nvPicPr>
                      <p:cNvPr id="66567" name="Object 11">
                        <a:extLst>
                          <a:ext uri="{FF2B5EF4-FFF2-40B4-BE49-F238E27FC236}">
                            <a16:creationId xmlns:a16="http://schemas.microsoft.com/office/drawing/2014/main" id="{B6BBB329-F23F-8111-478F-37EF4355FA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570" y="3627937"/>
                        <a:ext cx="6189153" cy="21591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4917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3978A-ABAF-D8D5-C30E-0613C48D2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27414A-9B79-8BA7-7563-DFCCC59846C8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0EB1647-FB70-7522-F360-18F7BB03B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955" y="1232394"/>
            <a:ext cx="7838628" cy="1015663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2400" dirty="0">
                <a:latin typeface="Arial" charset="0"/>
              </a:rPr>
              <a:t>Back Substitution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sz="2400" dirty="0">
                <a:latin typeface="Arial" charset="0"/>
              </a:rPr>
              <a:t>Solving the equations through back substitution 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9DA613E8-27B3-E86B-516F-38708046EC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388811"/>
              </p:ext>
            </p:extLst>
          </p:nvPr>
        </p:nvGraphicFramePr>
        <p:xfrm>
          <a:off x="7343072" y="2921918"/>
          <a:ext cx="20574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6698" imgH="393529" progId="Equation.3">
                  <p:embed/>
                </p:oleObj>
              </mc:Choice>
              <mc:Fallback>
                <p:oleObj name="Equation" r:id="rId2" imgW="926698" imgH="393529" progId="Equation.3">
                  <p:embed/>
                  <p:pic>
                    <p:nvPicPr>
                      <p:cNvPr id="68613" name="Object 4">
                        <a:extLst>
                          <a:ext uri="{FF2B5EF4-FFF2-40B4-BE49-F238E27FC236}">
                            <a16:creationId xmlns:a16="http://schemas.microsoft.com/office/drawing/2014/main" id="{9E22F448-6F83-D03D-6E45-D269BA2A1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3072" y="2921918"/>
                        <a:ext cx="205740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BDC18B78-917B-1C9C-FE16-034D3E1FD2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885983"/>
              </p:ext>
            </p:extLst>
          </p:nvPr>
        </p:nvGraphicFramePr>
        <p:xfrm>
          <a:off x="6766810" y="4003006"/>
          <a:ext cx="2674937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588" imgH="393529" progId="Equation.3">
                  <p:embed/>
                </p:oleObj>
              </mc:Choice>
              <mc:Fallback>
                <p:oleObj name="Equation" r:id="rId4" imgW="1180588" imgH="393529" progId="Equation.3">
                  <p:embed/>
                  <p:pic>
                    <p:nvPicPr>
                      <p:cNvPr id="68615" name="Object 6">
                        <a:extLst>
                          <a:ext uri="{FF2B5EF4-FFF2-40B4-BE49-F238E27FC236}">
                            <a16:creationId xmlns:a16="http://schemas.microsoft.com/office/drawing/2014/main" id="{F2037200-92EE-13B0-2715-D17E56003E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6810" y="4003006"/>
                        <a:ext cx="2674937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23FBAFBF-A2A7-4E78-F857-AFAFB5CCA5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720809"/>
              </p:ext>
            </p:extLst>
          </p:nvPr>
        </p:nvGraphicFramePr>
        <p:xfrm>
          <a:off x="6352472" y="5207918"/>
          <a:ext cx="3124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088" imgH="406224" progId="Equation.3">
                  <p:embed/>
                </p:oleObj>
              </mc:Choice>
              <mc:Fallback>
                <p:oleObj name="Equation" r:id="rId6" imgW="1409088" imgH="406224" progId="Equation.3">
                  <p:embed/>
                  <p:pic>
                    <p:nvPicPr>
                      <p:cNvPr id="68616" name="Object 8">
                        <a:extLst>
                          <a:ext uri="{FF2B5EF4-FFF2-40B4-BE49-F238E27FC236}">
                            <a16:creationId xmlns:a16="http://schemas.microsoft.com/office/drawing/2014/main" id="{52AF61F2-343A-086C-4DA3-87109D3A65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2472" y="5207918"/>
                        <a:ext cx="31242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5DA5F44E-586A-3F9A-E76F-3C96870EC0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594544"/>
              </p:ext>
            </p:extLst>
          </p:nvPr>
        </p:nvGraphicFramePr>
        <p:xfrm>
          <a:off x="278461" y="3356893"/>
          <a:ext cx="4979765" cy="1731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4700" imgH="711200" progId="Equation.3">
                  <p:embed/>
                </p:oleObj>
              </mc:Choice>
              <mc:Fallback>
                <p:oleObj name="Equation" r:id="rId8" imgW="2044700" imgH="711200" progId="Equation.3">
                  <p:embed/>
                  <p:pic>
                    <p:nvPicPr>
                      <p:cNvPr id="68617" name="Object 10">
                        <a:extLst>
                          <a:ext uri="{FF2B5EF4-FFF2-40B4-BE49-F238E27FC236}">
                            <a16:creationId xmlns:a16="http://schemas.microsoft.com/office/drawing/2014/main" id="{18598A69-9867-9C7A-69FF-E375D96D18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61" y="3356893"/>
                        <a:ext cx="4979765" cy="1731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73646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37B9E-C289-F164-3077-813466D8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B7A324-A8ED-C4ED-7567-8112574F3839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62085D5-EC4B-D767-7867-F953DAA06E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919593"/>
              </p:ext>
            </p:extLst>
          </p:nvPr>
        </p:nvGraphicFramePr>
        <p:xfrm>
          <a:off x="6421255" y="3640211"/>
          <a:ext cx="3434875" cy="1754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7000" imgH="711200" progId="Equation.3">
                  <p:embed/>
                </p:oleObj>
              </mc:Choice>
              <mc:Fallback>
                <p:oleObj name="Equation" r:id="rId2" imgW="1397000" imgH="711200" progId="Equation.3">
                  <p:embed/>
                  <p:pic>
                    <p:nvPicPr>
                      <p:cNvPr id="70659" name="Object 3">
                        <a:extLst>
                          <a:ext uri="{FF2B5EF4-FFF2-40B4-BE49-F238E27FC236}">
                            <a16:creationId xmlns:a16="http://schemas.microsoft.com/office/drawing/2014/main" id="{6484EDDA-442F-8EC2-8C1E-4240E56C2F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1255" y="3640211"/>
                        <a:ext cx="3434875" cy="1754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CD892CAC-2E2F-9AE9-EEF1-BE7CA2C6D4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922236"/>
              </p:ext>
            </p:extLst>
          </p:nvPr>
        </p:nvGraphicFramePr>
        <p:xfrm>
          <a:off x="774590" y="3640211"/>
          <a:ext cx="3776956" cy="1754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700" imgH="711200" progId="Equation.3">
                  <p:embed/>
                </p:oleObj>
              </mc:Choice>
              <mc:Fallback>
                <p:oleObj name="Equation" r:id="rId4" imgW="1536700" imgH="711200" progId="Equation.3">
                  <p:embed/>
                  <p:pic>
                    <p:nvPicPr>
                      <p:cNvPr id="70661" name="Object 5">
                        <a:extLst>
                          <a:ext uri="{FF2B5EF4-FFF2-40B4-BE49-F238E27FC236}">
                            <a16:creationId xmlns:a16="http://schemas.microsoft.com/office/drawing/2014/main" id="{34379051-72EA-B5FA-9B91-BB0294FBA0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590" y="3640211"/>
                        <a:ext cx="3776956" cy="1754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4C112F5E-BBD7-D093-5397-99CDC561B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23" y="1401281"/>
            <a:ext cx="921866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Compare the calculated and exact solution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The fact that they are equal is coincidence, but it does illustrate the advantage of Partial Pivoting</a:t>
            </a:r>
          </a:p>
        </p:txBody>
      </p:sp>
    </p:spTree>
    <p:extLst>
      <p:ext uri="{BB962C8B-B14F-4D97-AF65-F5344CB8AC3E}">
        <p14:creationId xmlns:p14="http://schemas.microsoft.com/office/powerpoint/2010/main" val="1691715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E5F8E-9DA7-D984-6D32-3DB08FCA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3FC2D7-EA47-0762-D6BB-CD9B432B52A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7A4675C3-5921-FAB3-2BC2-3822673EAA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4341091"/>
              </p:ext>
            </p:extLst>
          </p:nvPr>
        </p:nvGraphicFramePr>
        <p:xfrm>
          <a:off x="291358" y="1109248"/>
          <a:ext cx="10070964" cy="5079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4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8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7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091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92D050"/>
                          </a:solidFill>
                          <a:effectLst/>
                        </a:rPr>
                        <a:t>Gaussian Elimination</a:t>
                      </a:r>
                      <a:endParaRPr lang="en-US" sz="2000" dirty="0">
                        <a:solidFill>
                          <a:srgbClr val="92D05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Step 1: Make an upper triangular matrix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Step 2: Backward substitution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59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>
                    <a:blipFill>
                      <a:blip r:embed="rId2"/>
                      <a:stretch>
                        <a:fillRect l="-62113" t="-39837" r="-84882" b="-15040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>
                    <a:blipFill>
                      <a:blip r:embed="rId2"/>
                      <a:stretch>
                        <a:fillRect l="-192641" t="-39837" r="-866" b="-150407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941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B0F0"/>
                          </a:solidFill>
                          <a:effectLst/>
                        </a:rPr>
                        <a:t>Gaussian Elimination with partial pivoting</a:t>
                      </a:r>
                      <a:endParaRPr lang="en-US" sz="1800" b="1" dirty="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Step 1: Make an upper triangular matrix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Step 2: Backward substitution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27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>
                    <a:blipFill>
                      <a:blip r:embed="rId2"/>
                      <a:stretch>
                        <a:fillRect l="-62113" t="-129677" r="-84882" b="-64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>
                    <a:blipFill>
                      <a:blip r:embed="rId2"/>
                      <a:stretch>
                        <a:fillRect l="-192641" t="-129677" r="-866" b="-645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9804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7FA77-9005-7539-CD93-887047FCE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93EA8C-F629-36C5-9B38-01D394D9511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35BD5-2BB1-1BFD-B929-4707FFBAFE67}"/>
              </a:ext>
            </a:extLst>
          </p:cNvPr>
          <p:cNvSpPr txBox="1">
            <a:spLocks noChangeArrowheads="1"/>
          </p:cNvSpPr>
          <p:nvPr/>
        </p:nvSpPr>
        <p:spPr>
          <a:xfrm>
            <a:off x="414241" y="983557"/>
            <a:ext cx="9699391" cy="113982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4000" dirty="0"/>
              <a:t>Problems with Gaussian Elimination with partial pivoting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0414208-1C34-B0D7-117B-DB470CB9A45B}"/>
              </a:ext>
            </a:extLst>
          </p:cNvPr>
          <p:cNvSpPr txBox="1">
            <a:spLocks noChangeArrowheads="1"/>
          </p:cNvSpPr>
          <p:nvPr/>
        </p:nvSpPr>
        <p:spPr>
          <a:xfrm>
            <a:off x="1357280" y="2291626"/>
            <a:ext cx="887909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3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918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Relatively</a:t>
            </a:r>
            <a:r>
              <a:rPr lang="en-US" altLang="en-US" sz="3200" b="1" dirty="0">
                <a:solidFill>
                  <a:srgbClr val="FF0000"/>
                </a:solidFill>
              </a:rPr>
              <a:t> small pivoting element may 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also have trouble </a:t>
            </a:r>
            <a:endParaRPr lang="en-US" altLang="en-US" sz="32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200" dirty="0">
              <a:solidFill>
                <a:srgbClr val="3333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22287D-8630-A152-69D1-463E3D671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241" y="3587026"/>
            <a:ext cx="588645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743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C14CD-DF82-045F-D8DF-73D447367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3E55CD-F84B-10CA-C460-29D4E193451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Gaussian elimination with Partial Pivoting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6329FEE-F5A2-0533-9D1E-D0D989508CA7}"/>
              </a:ext>
            </a:extLst>
          </p:cNvPr>
          <p:cNvSpPr txBox="1">
            <a:spLocks noChangeArrowheads="1"/>
          </p:cNvSpPr>
          <p:nvPr/>
        </p:nvSpPr>
        <p:spPr>
          <a:xfrm>
            <a:off x="1289775" y="1487668"/>
            <a:ext cx="8866816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36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91840" indent="0" algn="ctr" defTabSz="82296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rgbClr val="3333FF"/>
                </a:solidFill>
              </a:rPr>
              <a:t>Very small pivoting element may result in , serious computation errors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200" b="1" dirty="0">
              <a:solidFill>
                <a:srgbClr val="3333FF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200" b="1" dirty="0">
              <a:solidFill>
                <a:srgbClr val="3333FF"/>
              </a:solidFill>
            </a:endParaRPr>
          </a:p>
          <a:p>
            <a:pPr algn="l">
              <a:buFont typeface="Wingdings" panose="05000000000000000000" pitchFamily="2" charset="2"/>
              <a:buNone/>
            </a:pPr>
            <a:endParaRPr lang="en-US" altLang="en-US" sz="2200" b="1" dirty="0">
              <a:solidFill>
                <a:srgbClr val="3333FF"/>
              </a:solidFill>
            </a:endParaRPr>
          </a:p>
          <a:p>
            <a:pPr algn="l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Relatively</a:t>
            </a:r>
            <a:r>
              <a:rPr lang="en-US" altLang="en-US" sz="2800" b="1" dirty="0">
                <a:solidFill>
                  <a:srgbClr val="FF0000"/>
                </a:solidFill>
              </a:rPr>
              <a:t> small pivoting element may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also have trouble </a:t>
            </a:r>
            <a:endParaRPr lang="en-US" altLang="en-US" sz="28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200" dirty="0">
              <a:solidFill>
                <a:srgbClr val="3333FF"/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04BE612-E7DA-99D5-341A-D7EF181396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679202"/>
              </p:ext>
            </p:extLst>
          </p:nvPr>
        </p:nvGraphicFramePr>
        <p:xfrm>
          <a:off x="3890291" y="2312988"/>
          <a:ext cx="3041650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300" imgH="508000" progId="Equation.3">
                  <p:embed/>
                </p:oleObj>
              </mc:Choice>
              <mc:Fallback>
                <p:oleObj name="Equation" r:id="rId2" imgW="1384300" imgH="508000" progId="Equation.3">
                  <p:embed/>
                  <p:pic>
                    <p:nvPicPr>
                      <p:cNvPr id="6150" name="Object 3">
                        <a:extLst>
                          <a:ext uri="{FF2B5EF4-FFF2-40B4-BE49-F238E27FC236}">
                            <a16:creationId xmlns:a16="http://schemas.microsoft.com/office/drawing/2014/main" id="{0F912CA7-792F-8D7A-B5AE-52CD2A2220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291" y="2312988"/>
                        <a:ext cx="3041650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1C94714-CC28-ADA2-23BF-BF6787441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871" y="4483270"/>
            <a:ext cx="588645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757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570</TotalTime>
  <Words>918</Words>
  <Application>Microsoft Office PowerPoint</Application>
  <PresentationFormat>Custom</PresentationFormat>
  <Paragraphs>173</Paragraphs>
  <Slides>46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宋体</vt:lpstr>
      <vt:lpstr>宋体</vt:lpstr>
      <vt:lpstr>Aptos</vt:lpstr>
      <vt:lpstr>Aptos Display</vt:lpstr>
      <vt:lpstr>Arial</vt:lpstr>
      <vt:lpstr>Calibri</vt:lpstr>
      <vt:lpstr>Cambria Math</vt:lpstr>
      <vt:lpstr>Roboto</vt:lpstr>
      <vt:lpstr>Tahoma</vt:lpstr>
      <vt:lpstr>Times New Roman</vt:lpstr>
      <vt:lpstr>Wingdings</vt:lpstr>
      <vt:lpstr>Office 主题​​</vt:lpstr>
      <vt:lpstr>Microsoft Equation 3.0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Chuqi</dc:creator>
  <cp:lastModifiedBy>Chen, Chuqi</cp:lastModifiedBy>
  <cp:revision>3</cp:revision>
  <dcterms:created xsi:type="dcterms:W3CDTF">2026-01-28T04:55:09Z</dcterms:created>
  <dcterms:modified xsi:type="dcterms:W3CDTF">2026-02-02T03:53:25Z</dcterms:modified>
</cp:coreProperties>
</file>