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9" r:id="rId2"/>
    <p:sldId id="262" r:id="rId3"/>
    <p:sldId id="33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256" r:id="rId14"/>
    <p:sldId id="343" r:id="rId15"/>
    <p:sldId id="342" r:id="rId16"/>
    <p:sldId id="344" r:id="rId17"/>
    <p:sldId id="345" r:id="rId18"/>
    <p:sldId id="346" r:id="rId19"/>
    <p:sldId id="347" r:id="rId20"/>
    <p:sldId id="348" r:id="rId21"/>
    <p:sldId id="340" r:id="rId22"/>
    <p:sldId id="341" r:id="rId23"/>
    <p:sldId id="337" r:id="rId24"/>
    <p:sldId id="258" r:id="rId25"/>
    <p:sldId id="338" r:id="rId26"/>
    <p:sldId id="320" r:id="rId27"/>
    <p:sldId id="349" r:id="rId28"/>
    <p:sldId id="321" r:id="rId29"/>
    <p:sldId id="322" r:id="rId30"/>
    <p:sldId id="323" r:id="rId31"/>
    <p:sldId id="315" r:id="rId32"/>
    <p:sldId id="318" r:id="rId33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612" y="76"/>
      </p:cViewPr>
      <p:guideLst>
        <p:guide orient="horz" pos="2160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8ECFD-742E-4865-9021-97DB311ADA5F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D90A-3458-4F4F-BD8F-429C453A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47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77138-3BC2-4722-8FB5-C522C73BB8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42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5AB6-8B81-D494-2FF2-F9E3D2AC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E77B05-9D71-A622-DCF5-5CE3A8054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FB3BDD-A1D6-FA20-6A4E-33781BF10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A8E28A-7932-F87F-FDAF-BB855E20D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98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41E9-1D57-0708-26FF-7D97457FD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9E562-F4F4-EBDB-1F39-46B7D372F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8A447F-600D-5C91-ABF9-98890A12E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6C7FA-FDE5-3C8E-FF2A-B12620FFB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9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7182-56B2-1A0F-7D09-3169691D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953FC1-67CD-F79F-5F0A-08A0D832A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D918E3-D717-6722-7AB1-3FF0BCE2B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331546-4AEF-B5C6-53E7-E064D3162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14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5B2D-6546-DBC2-BF57-169FFA24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838A7E-E3E0-21A6-856D-E4B197097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6539BE-AC6F-6FC3-5F9D-35515D699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F0A37A-9E57-FAA9-C55A-6A3560208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06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17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6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9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6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3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9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3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4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6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4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2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2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00D50-E65E-425F-94AE-41749790487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99A2B-732D-43F9-BDA8-61543632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4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7A6B394-0A1E-964E-C6AF-CFE9D3A0C996}"/>
              </a:ext>
            </a:extLst>
          </p:cNvPr>
          <p:cNvSpPr/>
          <p:nvPr/>
        </p:nvSpPr>
        <p:spPr>
          <a:xfrm>
            <a:off x="141149" y="1925961"/>
            <a:ext cx="10690502" cy="1447976"/>
          </a:xfrm>
          <a:prstGeom prst="rect">
            <a:avLst/>
          </a:prstGeom>
          <a:solidFill>
            <a:srgbClr val="002060"/>
          </a:solidFill>
          <a:ln cap="rnd"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ym typeface="+mn-ea"/>
              </a:rPr>
              <a:t>MATH417 L5</a:t>
            </a:r>
            <a:endParaRPr lang="zh-CN" altLang="en-US" sz="4400" b="1" dirty="0">
              <a:ln w="10160" cap="rnd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09EFE95-7FCC-662D-168E-BFE3A96CF9ED}"/>
              </a:ext>
            </a:extLst>
          </p:cNvPr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586740" y="3741415"/>
            <a:ext cx="9799320" cy="21145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Chuqi CHEN</a:t>
            </a:r>
          </a:p>
          <a:p>
            <a:endParaRPr lang="en-US" altLang="zh-CN" sz="2000" dirty="0"/>
          </a:p>
          <a:p>
            <a:r>
              <a:rPr lang="en-US" altLang="zh-CN" dirty="0"/>
              <a:t>January 14, 2026</a:t>
            </a:r>
          </a:p>
        </p:txBody>
      </p:sp>
      <p:pic>
        <p:nvPicPr>
          <p:cNvPr id="8" name="Picture 6" descr="University of Michigan Logo and symbol, meaning, history, PNG, brand">
            <a:extLst>
              <a:ext uri="{FF2B5EF4-FFF2-40B4-BE49-F238E27FC236}">
                <a16:creationId xmlns:a16="http://schemas.microsoft.com/office/drawing/2014/main" id="{AA367B7F-C39E-3B5E-C389-F6151769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045" y="5754936"/>
            <a:ext cx="1969757" cy="110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53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B1E-3FFC-E81D-8020-2A0B8221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9F15EF-E95F-ADA4-9303-FEC2B13E1BC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2833A-87D6-C150-D642-6A6860C4CDE4}"/>
              </a:ext>
            </a:extLst>
          </p:cNvPr>
          <p:cNvSpPr txBox="1"/>
          <p:nvPr/>
        </p:nvSpPr>
        <p:spPr>
          <a:xfrm>
            <a:off x="1471966" y="1626629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Non-linear equations in two and more dimensions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Application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Optimization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407150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85056-A161-6BA2-7F27-1501E2CA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A6098A-00E7-BAAE-F5CB-4B258DB9815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Warm up</a:t>
            </a:r>
            <a:endParaRPr lang="zh-CN" altLang="en-US" sz="3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DF4FB4-16E5-F903-4F25-7C38017CD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7" y="1739571"/>
            <a:ext cx="10682242" cy="56733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D74ADBE-BEBD-BAC6-57D5-7B7DCA00C406}"/>
              </a:ext>
            </a:extLst>
          </p:cNvPr>
          <p:cNvSpPr txBox="1"/>
          <p:nvPr/>
        </p:nvSpPr>
        <p:spPr>
          <a:xfrm>
            <a:off x="337531" y="4639506"/>
            <a:ext cx="2006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Homework 1 </a:t>
            </a:r>
          </a:p>
        </p:txBody>
      </p:sp>
    </p:spTree>
    <p:extLst>
      <p:ext uri="{BB962C8B-B14F-4D97-AF65-F5344CB8AC3E}">
        <p14:creationId xmlns:p14="http://schemas.microsoft.com/office/powerpoint/2010/main" val="1560949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DB77-F62D-0D4F-0A3E-A8C54D2C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904F9-B82C-F2F5-F014-981FAE346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838" y="1353027"/>
            <a:ext cx="9352332" cy="2148840"/>
          </a:xfrm>
        </p:spPr>
        <p:txBody>
          <a:bodyPr/>
          <a:lstStyle/>
          <a:p>
            <a:r>
              <a:rPr lang="en-US" dirty="0"/>
              <a:t>A system of nonlinear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86EED-CCF1-0D42-4BBB-534581BA4E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8C05-2BE7-30C4-D97D-F35B786A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B3445-4E2E-4D35-7715-94230433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FF60D-5C28-4906-3AC5-C44E49989F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consider a system of nonlinear equations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1=0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−1=0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general, a system of nonlinear equations </a:t>
                </a:r>
              </a:p>
              <a:p>
                <a:pPr marL="0" indent="0">
                  <a:buNone/>
                </a:pPr>
                <a:r>
                  <a:rPr lang="en-US" dirty="0"/>
                  <a:t>can be written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DB322F-678D-40C7-9C63-01976EEBD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B917C83-DE04-FFCF-0776-13156BFC2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894" y="2645472"/>
            <a:ext cx="3926929" cy="360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3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BC4D4-E98C-C6BC-3F81-7A31C7D1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BB9A-EB0A-4D97-D229-4D49BB29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Bisection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C2942-96E2-FB49-3A2F-5809F5FB28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94" y="1595976"/>
                <a:ext cx="9464040" cy="3916204"/>
              </a:xfrm>
            </p:spPr>
            <p:txBody>
              <a:bodyPr/>
              <a:lstStyle/>
              <a:p>
                <a:r>
                  <a:rPr lang="en-US" dirty="0"/>
                  <a:t>The computation cost becomes very expensive!</a:t>
                </a:r>
              </a:p>
              <a:p>
                <a:r>
                  <a:rPr lang="en-US" dirty="0"/>
                  <a:t>Search on the n-dimensional space is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C2942-96E2-FB49-3A2F-5809F5FB2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94" y="1595976"/>
                <a:ext cx="9464040" cy="3916204"/>
              </a:xfrm>
              <a:blipFill>
                <a:blip r:embed="rId2"/>
                <a:stretch>
                  <a:fillRect l="-966" t="-2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4E055F-232F-9431-F4A6-BC42D5AD3FEA}"/>
              </a:ext>
            </a:extLst>
          </p:cNvPr>
          <p:cNvCxnSpPr/>
          <p:nvPr/>
        </p:nvCxnSpPr>
        <p:spPr>
          <a:xfrm>
            <a:off x="2631492" y="5761983"/>
            <a:ext cx="5582554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F8E7D0-DE86-413A-68CE-AB199EE7F569}"/>
              </a:ext>
            </a:extLst>
          </p:cNvPr>
          <p:cNvCxnSpPr>
            <a:cxnSpLocks/>
          </p:cNvCxnSpPr>
          <p:nvPr/>
        </p:nvCxnSpPr>
        <p:spPr>
          <a:xfrm flipV="1">
            <a:off x="2631492" y="2776001"/>
            <a:ext cx="0" cy="300175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58EF09B-EDBD-6856-6A81-CFBE96BF71BA}"/>
              </a:ext>
            </a:extLst>
          </p:cNvPr>
          <p:cNvSpPr txBox="1"/>
          <p:nvPr/>
        </p:nvSpPr>
        <p:spPr>
          <a:xfrm>
            <a:off x="3710029" y="5806059"/>
            <a:ext cx="548789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20" dirty="0"/>
              <a:t>a                                            b                                     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DBFEA9-4DD6-292E-5187-19670A0FB628}"/>
              </a:ext>
            </a:extLst>
          </p:cNvPr>
          <p:cNvSpPr txBox="1"/>
          <p:nvPr/>
        </p:nvSpPr>
        <p:spPr>
          <a:xfrm>
            <a:off x="2267724" y="2935587"/>
            <a:ext cx="363768" cy="2336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20" dirty="0"/>
              <a:t>y</a:t>
            </a:r>
          </a:p>
          <a:p>
            <a:endParaRPr lang="en-US" sz="1620" dirty="0"/>
          </a:p>
          <a:p>
            <a:endParaRPr lang="en-US" sz="1620" dirty="0"/>
          </a:p>
          <a:p>
            <a:r>
              <a:rPr lang="en-US" sz="1620" dirty="0"/>
              <a:t>c</a:t>
            </a:r>
          </a:p>
          <a:p>
            <a:endParaRPr lang="en-US" sz="1620" dirty="0"/>
          </a:p>
          <a:p>
            <a:endParaRPr lang="en-US" sz="1620" dirty="0"/>
          </a:p>
          <a:p>
            <a:endParaRPr lang="en-US" sz="1620" dirty="0"/>
          </a:p>
          <a:p>
            <a:endParaRPr lang="en-US" sz="1620" dirty="0"/>
          </a:p>
          <a:p>
            <a:r>
              <a:rPr lang="en-US" sz="1620" dirty="0"/>
              <a:t>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C5ACC-39EC-9D2D-6FDF-1F728FADD52A}"/>
              </a:ext>
            </a:extLst>
          </p:cNvPr>
          <p:cNvCxnSpPr/>
          <p:nvPr/>
        </p:nvCxnSpPr>
        <p:spPr>
          <a:xfrm>
            <a:off x="2631493" y="3813645"/>
            <a:ext cx="3361803" cy="0"/>
          </a:xfrm>
          <a:prstGeom prst="line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A29BE3-82BE-971E-F6C5-6374A62DB50F}"/>
              </a:ext>
            </a:extLst>
          </p:cNvPr>
          <p:cNvCxnSpPr/>
          <p:nvPr/>
        </p:nvCxnSpPr>
        <p:spPr>
          <a:xfrm>
            <a:off x="2631493" y="5077902"/>
            <a:ext cx="336180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9308FC-169D-CB3C-6B4A-74E0C602DEFD}"/>
              </a:ext>
            </a:extLst>
          </p:cNvPr>
          <p:cNvCxnSpPr>
            <a:cxnSpLocks/>
          </p:cNvCxnSpPr>
          <p:nvPr/>
        </p:nvCxnSpPr>
        <p:spPr>
          <a:xfrm>
            <a:off x="3788407" y="3813645"/>
            <a:ext cx="0" cy="1948338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2970BA-60D4-DE3E-34A1-46A1D7C22A0C}"/>
              </a:ext>
            </a:extLst>
          </p:cNvPr>
          <p:cNvCxnSpPr>
            <a:cxnSpLocks/>
          </p:cNvCxnSpPr>
          <p:nvPr/>
        </p:nvCxnSpPr>
        <p:spPr>
          <a:xfrm>
            <a:off x="5974021" y="3813645"/>
            <a:ext cx="0" cy="1948338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57D180-9A33-A7E0-2B76-4EE8030CD7AE}"/>
              </a:ext>
            </a:extLst>
          </p:cNvPr>
          <p:cNvCxnSpPr/>
          <p:nvPr/>
        </p:nvCxnSpPr>
        <p:spPr>
          <a:xfrm>
            <a:off x="3788407" y="4520317"/>
            <a:ext cx="2204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F254E2D-A960-F38F-6D06-2894D25CB8F2}"/>
              </a:ext>
            </a:extLst>
          </p:cNvPr>
          <p:cNvCxnSpPr>
            <a:cxnSpLocks/>
          </p:cNvCxnSpPr>
          <p:nvPr/>
        </p:nvCxnSpPr>
        <p:spPr>
          <a:xfrm flipV="1">
            <a:off x="4855869" y="3802780"/>
            <a:ext cx="0" cy="1275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1661AFE-8A92-9732-3C57-DAC0682B9A8D}"/>
              </a:ext>
            </a:extLst>
          </p:cNvPr>
          <p:cNvSpPr/>
          <p:nvPr/>
        </p:nvSpPr>
        <p:spPr>
          <a:xfrm>
            <a:off x="4812528" y="4484540"/>
            <a:ext cx="105949" cy="894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</p:spTree>
    <p:extLst>
      <p:ext uri="{BB962C8B-B14F-4D97-AF65-F5344CB8AC3E}">
        <p14:creationId xmlns:p14="http://schemas.microsoft.com/office/powerpoint/2010/main" val="47685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57F7E-E61A-433E-16B0-A27DECA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5880-6EB5-DFA0-EFA0-43EF464C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7B513-44B2-F0CD-593E-A1A25EF5B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n-dimensional system of nonlinear equations, it is very difficult to construct the fixed point function.</a:t>
            </a:r>
          </a:p>
        </p:txBody>
      </p:sp>
    </p:spTree>
    <p:extLst>
      <p:ext uri="{BB962C8B-B14F-4D97-AF65-F5344CB8AC3E}">
        <p14:creationId xmlns:p14="http://schemas.microsoft.com/office/powerpoint/2010/main" val="344537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F678-49A2-F9F7-5D3F-13C40B13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D62F-28DC-EF41-20D0-11FC7FB3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3DDCEA-479D-F556-28C2-D9D26CA460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79" y="1985963"/>
                <a:ext cx="9695298" cy="42005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Newton’s scheme for a system of nonlinear equations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called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Jacobian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The Newton’s method has the quadratic convergence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nonsingular.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nonsingular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3DDCEA-479D-F556-28C2-D9D26CA460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79" y="1985963"/>
                <a:ext cx="9695298" cy="4200525"/>
              </a:xfrm>
              <a:blipFill>
                <a:blip r:embed="rId2"/>
                <a:stretch>
                  <a:fillRect l="-943" t="-2467" b="-1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90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A752-CFA5-E499-5298-1C483F06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6642-CC0B-DAAC-D914-6359B7AF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2D961A-EFD6-9905-D6B7-E4B5BB6E8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down the Newton’s scheme for solving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1=0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Does it have the quadratic convergence?</a:t>
                </a:r>
              </a:p>
              <a:p>
                <a:pPr marL="0" indent="0">
                  <a:buNone/>
                </a:pPr>
                <a:r>
                  <a:rPr lang="en-US" dirty="0"/>
                  <a:t>The Jacobian matrix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Then the Newton’s scheme reads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B6A6A-5839-41AD-8ED5-3A59B89A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99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5C59-5338-5271-670F-14AE2C1C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0BE7-83E6-8280-E7F8-C62F8141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3A168-1991-7BAF-4FC7-F7314AAA3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Does it have the quadratic convergence?</a:t>
                </a:r>
              </a:p>
              <a:p>
                <a:pPr marL="0" indent="0">
                  <a:buNone/>
                </a:pPr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brk m:alnAt="7"/>
                      </m:rP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brk m:alnAt="7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1=0</m:t>
                    </m:r>
                  </m:oMath>
                </a14:m>
                <a:r>
                  <a:rPr lang="en-US" dirty="0"/>
                  <a:t>, we have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−1=0⇒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 the roots are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 </m:t>
                    </m:r>
                  </m:oMath>
                </a14:m>
                <a:r>
                  <a:rPr lang="en-US" dirty="0"/>
                  <a:t>for both of them. Therefore the Newton’s method has the quadratic convergence.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B6A6A-5839-41AD-8ED5-3A59B89A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66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97A1-AFCC-3070-85EF-7A71D57E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513B-2C7B-FDE4-8AA4-636D97FE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1EA62-5122-D635-08A3-B4A58F734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down the Newton’s scheme for solving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Does it have the quadratic convergence?</a:t>
                </a:r>
              </a:p>
              <a:p>
                <a:pPr marL="0" indent="0">
                  <a:buNone/>
                </a:pPr>
                <a:r>
                  <a:rPr lang="en-US" dirty="0"/>
                  <a:t>The Jacobian matrix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Then the Newton’s scheme reads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B6A6A-5839-41AD-8ED5-3A59B89A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83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82CD-8258-0604-AA85-0E38C786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A744-8960-E2EA-667C-12AB35AF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BB043-174F-9ED4-14F4-6BDC935660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Does it have the quadratic convergence?</a:t>
                </a:r>
              </a:p>
              <a:p>
                <a:pPr marL="0" indent="0">
                  <a:buNone/>
                </a:pPr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brk m:alnAt="7"/>
                      </m:rP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we have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 the roots are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Therefore the Newton’s method loses the quadratic convergence.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B6A6A-5839-41AD-8ED5-3A59B89A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82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61915-2DA8-1022-7F4B-1C68F431B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Application: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94D521-8894-C2B5-FECA-D90C773C15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6583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84DE-0D29-563B-6BF0-C2082DAC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569B1FA9-3257-7E47-D9A2-CE9B91F94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8927" y="1217410"/>
            <a:ext cx="8027987" cy="5257800"/>
          </a:xfrm>
          <a:prstGeom prst="rect">
            <a:avLst/>
          </a:prstGeom>
          <a:noFill/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6AD2AF-7814-852F-3FB0-DB21F1282E28}"/>
                  </a:ext>
                </a:extLst>
              </p:cNvPr>
              <p:cNvSpPr txBox="1"/>
              <p:nvPr/>
            </p:nvSpPr>
            <p:spPr>
              <a:xfrm>
                <a:off x="4218545" y="222578"/>
                <a:ext cx="2206630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800" b="1" i="0" smtClean="0">
                              <a:latin typeface="Cambria Math" panose="02040503050406030204" pitchFamily="18" charset="0"/>
                            </a:rPr>
                            <m:t>𝐦𝐢𝐧</m:t>
                          </m:r>
                        </m:fName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800" b="1" i="0" smtClean="0">
                              <a:latin typeface="Cambria Math" panose="02040503050406030204" pitchFamily="18" charset="0"/>
                            </a:rPr>
                            <m:t>𝐚𝐫𝐠</m:t>
                          </m:r>
                          <m:r>
                            <a:rPr lang="en-US" sz="2800" b="1">
                              <a:latin typeface="Cambria Math" panose="02040503050406030204" pitchFamily="18" charset="0"/>
                            </a:rPr>
                            <m:t>𝐦𝐢𝐧</m:t>
                          </m:r>
                        </m:fName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E6AD2AF-7814-852F-3FB0-DB21F1282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545" y="222578"/>
                <a:ext cx="2206630" cy="86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6052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FFC4-4296-B54E-636D-818CB331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A8637AF9-1809-EF49-3F08-9119D806F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278" y="1538831"/>
            <a:ext cx="987122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altLang="en-US" dirty="0">
                <a:latin typeface="Times New Roman" panose="02020603050405020304" pitchFamily="18" charset="0"/>
              </a:rPr>
              <a:t>Root finding and optimization are related, both involve guessing and searching for a point on a function.</a:t>
            </a:r>
          </a:p>
          <a:p>
            <a:pPr defTabSz="914400"/>
            <a:r>
              <a:rPr lang="en-US" altLang="en-US" dirty="0">
                <a:latin typeface="Times New Roman" panose="02020603050405020304" pitchFamily="18" charset="0"/>
              </a:rPr>
              <a:t>Fundamental difference is:</a:t>
            </a:r>
          </a:p>
          <a:p>
            <a:pPr lvl="1" defTabSz="914400"/>
            <a:r>
              <a:rPr lang="en-US" altLang="en-US" dirty="0">
                <a:latin typeface="Times New Roman" panose="02020603050405020304" pitchFamily="18" charset="0"/>
              </a:rPr>
              <a:t>Root finding is searching for zeros of a function or functions</a:t>
            </a:r>
          </a:p>
          <a:p>
            <a:pPr lvl="1" defTabSz="914400"/>
            <a:r>
              <a:rPr lang="en-US" altLang="en-US" dirty="0">
                <a:latin typeface="Times New Roman" panose="02020603050405020304" pitchFamily="18" charset="0"/>
              </a:rPr>
              <a:t>Optimization is finding the minimum or the maximum of a function of several variables. </a:t>
            </a:r>
          </a:p>
        </p:txBody>
      </p:sp>
    </p:spTree>
    <p:extLst>
      <p:ext uri="{BB962C8B-B14F-4D97-AF65-F5344CB8AC3E}">
        <p14:creationId xmlns:p14="http://schemas.microsoft.com/office/powerpoint/2010/main" val="2183288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237D3-B33A-0451-83EB-45D8D5A2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5F0A7F89-C867-97A4-B1F6-03A8C63F1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278" y="1538831"/>
            <a:ext cx="987122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altLang="en-US" dirty="0">
                <a:latin typeface="Times New Roman" panose="02020603050405020304" pitchFamily="18" charset="0"/>
              </a:rPr>
              <a:t>Root finding and optimization are related, both involve guessing and searching for a point on a function.</a:t>
            </a:r>
          </a:p>
          <a:p>
            <a:pPr defTabSz="914400"/>
            <a:r>
              <a:rPr lang="en-US" altLang="en-US" dirty="0">
                <a:latin typeface="Times New Roman" panose="02020603050405020304" pitchFamily="18" charset="0"/>
              </a:rPr>
              <a:t>Fundamental difference is:</a:t>
            </a:r>
          </a:p>
          <a:p>
            <a:pPr lvl="1" defTabSz="914400"/>
            <a:r>
              <a:rPr lang="en-US" altLang="en-US" dirty="0">
                <a:latin typeface="Times New Roman" panose="02020603050405020304" pitchFamily="18" charset="0"/>
              </a:rPr>
              <a:t>Root finding is searching for zeros of a function or functions</a:t>
            </a:r>
          </a:p>
          <a:p>
            <a:pPr lvl="1" defTabSz="914400"/>
            <a:r>
              <a:rPr lang="en-US" altLang="en-US" dirty="0">
                <a:latin typeface="Times New Roman" panose="02020603050405020304" pitchFamily="18" charset="0"/>
              </a:rPr>
              <a:t>Optimization is finding the minimum or the maximum of a function of several variables. </a:t>
            </a:r>
          </a:p>
        </p:txBody>
      </p:sp>
    </p:spTree>
    <p:extLst>
      <p:ext uri="{BB962C8B-B14F-4D97-AF65-F5344CB8AC3E}">
        <p14:creationId xmlns:p14="http://schemas.microsoft.com/office/powerpoint/2010/main" val="419226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CA53-3CB9-66F3-7084-8F39CA73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9D73B115-BD1D-2497-92D2-FAA6A339F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678129" y="656443"/>
            <a:ext cx="9964866" cy="31975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44E26A0-3AC3-397C-7546-61E95FEC6F02}"/>
              </a:ext>
            </a:extLst>
          </p:cNvPr>
          <p:cNvSpPr txBox="1"/>
          <p:nvPr/>
        </p:nvSpPr>
        <p:spPr>
          <a:xfrm>
            <a:off x="3633052" y="3933761"/>
            <a:ext cx="6505128" cy="256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solidFill>
                  <a:srgbClr val="FF0000"/>
                </a:solidFill>
              </a:rPr>
              <a:t>How to solve use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Fixed point method?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Newton Method?</a:t>
            </a:r>
          </a:p>
        </p:txBody>
      </p:sp>
    </p:spTree>
    <p:extLst>
      <p:ext uri="{BB962C8B-B14F-4D97-AF65-F5344CB8AC3E}">
        <p14:creationId xmlns:p14="http://schemas.microsoft.com/office/powerpoint/2010/main" val="223533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A222-39C7-BB00-A4F9-27917B06B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C310C5A-A174-6020-8939-F61FC5E3262C}"/>
              </a:ext>
            </a:extLst>
          </p:cNvPr>
          <p:cNvGrpSpPr/>
          <p:nvPr/>
        </p:nvGrpSpPr>
        <p:grpSpPr>
          <a:xfrm>
            <a:off x="727225" y="3656065"/>
            <a:ext cx="9429366" cy="1649710"/>
            <a:chOff x="1107156" y="3364578"/>
            <a:chExt cx="9146226" cy="1566845"/>
          </a:xfrm>
        </p:grpSpPr>
        <p:pic>
          <p:nvPicPr>
            <p:cNvPr id="3" name="图片 2" descr="文本, 信件&#10;&#10;AI 生成的内容可能不正确。">
              <a:extLst>
                <a:ext uri="{FF2B5EF4-FFF2-40B4-BE49-F238E27FC236}">
                  <a16:creationId xmlns:a16="http://schemas.microsoft.com/office/drawing/2014/main" id="{C0146BE7-58C1-F215-F3D9-FCA8619A6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006" b="18800"/>
            <a:stretch>
              <a:fillRect/>
            </a:stretch>
          </p:blipFill>
          <p:spPr>
            <a:xfrm>
              <a:off x="1107156" y="3364578"/>
              <a:ext cx="9146226" cy="468551"/>
            </a:xfrm>
            <a:prstGeom prst="rect">
              <a:avLst/>
            </a:prstGeom>
          </p:spPr>
        </p:pic>
        <p:pic>
          <p:nvPicPr>
            <p:cNvPr id="5" name="图片 4" descr="文本&#10;&#10;AI 生成的内容可能不正确。">
              <a:extLst>
                <a:ext uri="{FF2B5EF4-FFF2-40B4-BE49-F238E27FC236}">
                  <a16:creationId xmlns:a16="http://schemas.microsoft.com/office/drawing/2014/main" id="{74B8DB79-59B0-009E-446E-166CEFC87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0441" y="3833129"/>
              <a:ext cx="5198989" cy="1098294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C82F302-FF32-8B0E-126B-174D54360563}"/>
                  </a:ext>
                </a:extLst>
              </p:cNvPr>
              <p:cNvSpPr txBox="1"/>
              <p:nvPr/>
            </p:nvSpPr>
            <p:spPr>
              <a:xfrm>
                <a:off x="840756" y="1147602"/>
                <a:ext cx="8223464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Fixed point method becomes: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endParaRPr lang="en-US" sz="2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C82F302-FF32-8B0E-126B-174D54360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56" y="1147602"/>
                <a:ext cx="8223464" cy="1661993"/>
              </a:xfrm>
              <a:prstGeom prst="rect">
                <a:avLst/>
              </a:prstGeom>
              <a:blipFill>
                <a:blip r:embed="rId4"/>
                <a:stretch>
                  <a:fillRect l="-1557" t="-3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568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A20C-8A46-9D90-E0A0-206CC79E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FBA0F622-A4C9-E1A6-4FCF-AD6E20192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82" y="34941"/>
            <a:ext cx="8634411" cy="57562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B4E81E6-2191-AABD-88A0-D7198D07C7B8}"/>
              </a:ext>
            </a:extLst>
          </p:cNvPr>
          <p:cNvSpPr txBox="1"/>
          <p:nvPr/>
        </p:nvSpPr>
        <p:spPr>
          <a:xfrm>
            <a:off x="3714141" y="5926227"/>
            <a:ext cx="3807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Newton converges faster !</a:t>
            </a:r>
          </a:p>
        </p:txBody>
      </p:sp>
    </p:spTree>
    <p:extLst>
      <p:ext uri="{BB962C8B-B14F-4D97-AF65-F5344CB8AC3E}">
        <p14:creationId xmlns:p14="http://schemas.microsoft.com/office/powerpoint/2010/main" val="4180965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355E-CFFB-DE89-2700-EE6C340F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0D8FEE3-49DE-3571-9610-6A8FD30F4D1A}"/>
              </a:ext>
            </a:extLst>
          </p:cNvPr>
          <p:cNvSpPr txBox="1"/>
          <p:nvPr/>
        </p:nvSpPr>
        <p:spPr>
          <a:xfrm>
            <a:off x="2938907" y="5849502"/>
            <a:ext cx="5094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Converge to different local minima!</a:t>
            </a:r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3A118584-FAD8-15DD-B6DB-521B560E9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517" y="340088"/>
            <a:ext cx="7840674" cy="522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6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B6D8-9D80-622E-E7A9-C00C0981F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4DBF36F-C043-C112-FDA8-7AF344E83C36}"/>
              </a:ext>
            </a:extLst>
          </p:cNvPr>
          <p:cNvSpPr txBox="1"/>
          <p:nvPr/>
        </p:nvSpPr>
        <p:spPr>
          <a:xfrm>
            <a:off x="261283" y="1189553"/>
            <a:ext cx="10660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High dimension case, what is the drawback for Newton method?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C8B9E2-C91F-CDD8-8EAC-394B30670AA8}"/>
              </a:ext>
            </a:extLst>
          </p:cNvPr>
          <p:cNvSpPr txBox="1"/>
          <p:nvPr/>
        </p:nvSpPr>
        <p:spPr>
          <a:xfrm>
            <a:off x="1012589" y="2663420"/>
            <a:ext cx="9516516" cy="16998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Computation of Jacobian is expensive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Computation of the inverse of the Jacobian is expensive</a:t>
            </a:r>
          </a:p>
        </p:txBody>
      </p:sp>
    </p:spTree>
    <p:extLst>
      <p:ext uri="{BB962C8B-B14F-4D97-AF65-F5344CB8AC3E}">
        <p14:creationId xmlns:p14="http://schemas.microsoft.com/office/powerpoint/2010/main" val="359554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F6A9-854C-A08D-A116-A8393FEDC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522E7-7B99-0C3A-CA84-0F5296428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Quasi-Newton Methods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54DB8-8749-9CEF-6E72-67D984149F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1708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66672-B658-0BD1-5AC8-4A568914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05B8D8-35B6-0EF7-0C81-87A37CAF33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Newton’s scheme for a system of nonlinear equations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called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Jacobian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The Newton’s method has the quadratic convergence if and only 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is nonsingular.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is nonsingular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805B8D8-35B6-0EF7-0C81-87A37CAF3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6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344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C504C-D864-0950-15CB-D5683F0C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16E2F2-B0E4-5C91-E139-EACE02205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80" y="1721102"/>
                <a:ext cx="9464040" cy="446538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kumimoji="1"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However, evaluating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Jacobian</m:t>
                    </m:r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matrix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not easy</a:t>
                </a: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. When the exact evaluation is not practical, we can use the finite difference approximations to the partial derivatives.</a:t>
                </a:r>
              </a:p>
              <a:p>
                <a:pPr marL="0" indent="0">
                  <a:buNone/>
                </a:pPr>
                <a:endParaRPr kumimoji="1"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1"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kumimoji="1" lang="en-US" altLang="zh-CN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kumimoji="1"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h is small in absolute value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vector whose only nonzero entry is a 1 in the kth coordinate. The cost is too expensive when the size of matrix is so large. So, Is there an approximation matrix to replace the Jacobian in Newton’s method?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16E2F2-B0E4-5C91-E139-EACE02205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80" y="1721102"/>
                <a:ext cx="9464040" cy="4465385"/>
              </a:xfrm>
              <a:blipFill>
                <a:blip r:embed="rId2"/>
                <a:stretch>
                  <a:fillRect l="-1160" t="-2183" r="-2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208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AA386-8865-6018-11A0-192ADD034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Quasi-Newton Method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C7A554-B7E5-A69E-89BA-69B4BFD5D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The secant method uses the approximation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)≈</m:t>
                    </m:r>
                    <m:f>
                      <m:f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As a replacement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in Newton’s method. For nonlinear systems,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kumimoji="1" lang="en-US" altLang="zh-CN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vector and corresponding quotient is  undefined. However, we replace the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_1)</m:t>
                    </m:r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in Newton’s method for systems by a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the property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C7A554-B7E5-A69E-89BA-69B4BFD5D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C646168-CBE5-4AC4-D523-ADB7B87ACBDF}"/>
                  </a:ext>
                </a:extLst>
              </p:cNvPr>
              <p:cNvSpPr txBox="1"/>
              <p:nvPr/>
            </p:nvSpPr>
            <p:spPr>
              <a:xfrm>
                <a:off x="4295838" y="5461852"/>
                <a:ext cx="293016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rgbClr val="FF0000"/>
                    </a:solidFill>
                  </a:rPr>
                  <a:t>H</a:t>
                </a:r>
                <a:r>
                  <a:rPr lang="en-US" altLang="zh-CN" sz="3200" dirty="0">
                    <a:solidFill>
                      <a:srgbClr val="FF0000"/>
                    </a:solidFill>
                  </a:rPr>
                  <a:t>ow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1" lang="en-US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altLang="zh-CN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C646168-CBE5-4AC4-D523-ADB7B87AC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38" y="5461852"/>
                <a:ext cx="2930161" cy="584775"/>
              </a:xfrm>
              <a:prstGeom prst="rect">
                <a:avLst/>
              </a:prstGeom>
              <a:blipFill>
                <a:blip r:embed="rId3"/>
                <a:stretch>
                  <a:fillRect l="-5417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04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A01E3-20D2-CC42-7001-09FE6FBD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78D225-380E-C204-62E4-F33DF46C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/>
              <a:t>Extending the secant method	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C4D8473E-31C3-5D7E-3EB3-6575E2B13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62" y="1133216"/>
            <a:ext cx="9464040" cy="498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34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225B0-B18C-12D6-2A1D-F7D5C69EB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Quasi-Newton Method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0A643D-5B9F-6080-F423-DAA0E68F8C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In general, 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has been determined,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is computed by</a:t>
                </a:r>
              </a:p>
              <a:p>
                <a:pPr marL="0" indent="0">
                  <a:buNone/>
                </a:pPr>
                <a:endParaRPr kumimoji="1"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kumimoji="1"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kumimoji="1"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kumimoji="1"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kumimoji="1"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80A643D-5B9F-6080-F423-DAA0E68F8C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635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F8A2-D76E-F29F-BE39-1D65E14A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1F7C3D3-6408-9F6F-A17A-15F4F6C5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 err="1"/>
              <a:t>Broyden</a:t>
            </a:r>
            <a:r>
              <a:rPr lang="en-US" dirty="0"/>
              <a:t>  method	</a:t>
            </a:r>
          </a:p>
        </p:txBody>
      </p:sp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6C7BA54C-7A77-56B1-CD94-B743A8010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13" y="1212299"/>
            <a:ext cx="9811126" cy="489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36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7E5B9-1D23-521A-FEC9-29E53DCE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D854F78-CBAA-9DF8-F1C5-4A7B2CC8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 err="1"/>
              <a:t>Broyden</a:t>
            </a:r>
            <a:r>
              <a:rPr lang="en-US" dirty="0"/>
              <a:t>  method	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5D3B370B-079B-1590-488B-8C1DE36B6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89" y="1357117"/>
            <a:ext cx="10119653" cy="494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71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83A2-4465-EE89-47B8-434861E0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63C07BB-C851-085E-02EA-79FDF32BE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 err="1"/>
              <a:t>Broyden</a:t>
            </a:r>
            <a:r>
              <a:rPr lang="en-US" dirty="0"/>
              <a:t>  method	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3DFB8430-3DD8-DB04-BD34-6ADAF8CDD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80" y="1235880"/>
            <a:ext cx="9806244" cy="517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92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54E4-846B-2A5F-D9E0-3CC533AD7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B7380C9-54E9-5771-B111-4784B0B2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</p:spPr>
        <p:txBody>
          <a:bodyPr/>
          <a:lstStyle/>
          <a:p>
            <a:r>
              <a:rPr lang="en-US" dirty="0"/>
              <a:t>Practice 	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C66A92A5-E00A-77BA-A560-76835D0DA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33" y="1385122"/>
            <a:ext cx="9704182" cy="483500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36DA98F-FC93-86DD-2698-4C27340FFB21}"/>
              </a:ext>
            </a:extLst>
          </p:cNvPr>
          <p:cNvSpPr txBox="1"/>
          <p:nvPr/>
        </p:nvSpPr>
        <p:spPr>
          <a:xfrm>
            <a:off x="1000317" y="5835645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Does it have the quadratic convergence?</a:t>
            </a:r>
          </a:p>
        </p:txBody>
      </p:sp>
    </p:spTree>
    <p:extLst>
      <p:ext uri="{BB962C8B-B14F-4D97-AF65-F5344CB8AC3E}">
        <p14:creationId xmlns:p14="http://schemas.microsoft.com/office/powerpoint/2010/main" val="1891529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692D-E11E-C9E8-BB45-520961429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F101867-BF03-F5C0-5741-354B2521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/>
              <a:t>Example 	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AB8498A5-BBE6-FCF6-2DBA-4C1E0D503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21" y="1332274"/>
            <a:ext cx="9874757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632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1592</TotalTime>
  <Words>859</Words>
  <Application>Microsoft Office PowerPoint</Application>
  <PresentationFormat>自定义</PresentationFormat>
  <Paragraphs>127</Paragraphs>
  <Slides>32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宋体</vt:lpstr>
      <vt:lpstr>Aptos</vt:lpstr>
      <vt:lpstr>Aptos Display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A system of nonlinear equations</vt:lpstr>
      <vt:lpstr>Motivation</vt:lpstr>
      <vt:lpstr>Bisection method</vt:lpstr>
      <vt:lpstr>Fixed point method</vt:lpstr>
      <vt:lpstr>Newton’s method</vt:lpstr>
      <vt:lpstr>Example 1</vt:lpstr>
      <vt:lpstr>Example 1</vt:lpstr>
      <vt:lpstr>Example 2</vt:lpstr>
      <vt:lpstr>Example 2</vt:lpstr>
      <vt:lpstr>Application: Optimization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Quasi-Newton Methods</vt:lpstr>
      <vt:lpstr>Review</vt:lpstr>
      <vt:lpstr>Review</vt:lpstr>
      <vt:lpstr>Quasi-Newton Method</vt:lpstr>
      <vt:lpstr>Extending the secant method </vt:lpstr>
      <vt:lpstr>Quasi-Newton Method</vt:lpstr>
      <vt:lpstr>Broyden  method </vt:lpstr>
      <vt:lpstr>Broyden  method </vt:lpstr>
      <vt:lpstr>Broyden  method </vt:lpstr>
      <vt:lpstr>Practice  </vt:lpstr>
      <vt:lpstr>Example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Chuqi</dc:creator>
  <cp:lastModifiedBy>CHEN Chuqi</cp:lastModifiedBy>
  <cp:revision>1</cp:revision>
  <dcterms:created xsi:type="dcterms:W3CDTF">2026-01-25T02:17:09Z</dcterms:created>
  <dcterms:modified xsi:type="dcterms:W3CDTF">2026-01-26T04:49:11Z</dcterms:modified>
</cp:coreProperties>
</file>