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9" r:id="rId2"/>
    <p:sldId id="431" r:id="rId3"/>
    <p:sldId id="448" r:id="rId4"/>
    <p:sldId id="410" r:id="rId5"/>
    <p:sldId id="256" r:id="rId6"/>
    <p:sldId id="257" r:id="rId7"/>
    <p:sldId id="258" r:id="rId8"/>
    <p:sldId id="409" r:id="rId9"/>
    <p:sldId id="260" r:id="rId10"/>
    <p:sldId id="261" r:id="rId11"/>
    <p:sldId id="262" r:id="rId12"/>
    <p:sldId id="263" r:id="rId13"/>
    <p:sldId id="264" r:id="rId14"/>
    <p:sldId id="449" r:id="rId15"/>
    <p:sldId id="408" r:id="rId16"/>
    <p:sldId id="407" r:id="rId17"/>
    <p:sldId id="411" r:id="rId18"/>
    <p:sldId id="412" r:id="rId19"/>
    <p:sldId id="413" r:id="rId20"/>
    <p:sldId id="414" r:id="rId21"/>
    <p:sldId id="415" r:id="rId22"/>
    <p:sldId id="416" r:id="rId23"/>
    <p:sldId id="417" r:id="rId24"/>
    <p:sldId id="418" r:id="rId25"/>
    <p:sldId id="419" r:id="rId26"/>
    <p:sldId id="420" r:id="rId27"/>
    <p:sldId id="421" r:id="rId28"/>
    <p:sldId id="422" r:id="rId29"/>
    <p:sldId id="423" r:id="rId30"/>
    <p:sldId id="424" r:id="rId31"/>
    <p:sldId id="425" r:id="rId32"/>
    <p:sldId id="426" r:id="rId33"/>
    <p:sldId id="450" r:id="rId34"/>
    <p:sldId id="427" r:id="rId35"/>
    <p:sldId id="428" r:id="rId36"/>
    <p:sldId id="429" r:id="rId37"/>
    <p:sldId id="430" r:id="rId38"/>
    <p:sldId id="432" r:id="rId39"/>
    <p:sldId id="433" r:id="rId40"/>
    <p:sldId id="434" r:id="rId41"/>
    <p:sldId id="435" r:id="rId42"/>
    <p:sldId id="436" r:id="rId43"/>
    <p:sldId id="437" r:id="rId44"/>
    <p:sldId id="438" r:id="rId45"/>
    <p:sldId id="439" r:id="rId46"/>
    <p:sldId id="440" r:id="rId47"/>
    <p:sldId id="441" r:id="rId48"/>
    <p:sldId id="442" r:id="rId49"/>
    <p:sldId id="443" r:id="rId50"/>
    <p:sldId id="444" r:id="rId51"/>
    <p:sldId id="445" r:id="rId52"/>
    <p:sldId id="446" r:id="rId53"/>
    <p:sldId id="447" r:id="rId54"/>
  </p:sldIdLst>
  <p:sldSz cx="109728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4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showGuides="1">
      <p:cViewPr varScale="1">
        <p:scale>
          <a:sx n="120" d="100"/>
          <a:sy n="120" d="100"/>
        </p:scale>
        <p:origin x="576" y="108"/>
      </p:cViewPr>
      <p:guideLst>
        <p:guide orient="horz" pos="2160"/>
        <p:guide pos="34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6E0AF-CF27-4EBF-95FD-353059CD1339}" type="datetimeFigureOut">
              <a:rPr lang="en-US" smtClean="0"/>
              <a:t>2/3/2026</a:t>
            </a:fld>
            <a:endParaRPr lang="en-US"/>
          </a:p>
        </p:txBody>
      </p:sp>
      <p:sp>
        <p:nvSpPr>
          <p:cNvPr id="4" name="幻灯片图像占位符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A30F0E-DC3D-4285-B4EF-5163287D2631}" type="slidenum">
              <a:rPr lang="en-US" smtClean="0"/>
              <a:t>‹#›</a:t>
            </a:fld>
            <a:endParaRPr lang="en-US"/>
          </a:p>
        </p:txBody>
      </p:sp>
    </p:spTree>
    <p:extLst>
      <p:ext uri="{BB962C8B-B14F-4D97-AF65-F5344CB8AC3E}">
        <p14:creationId xmlns:p14="http://schemas.microsoft.com/office/powerpoint/2010/main" val="1911125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CC77138-3BC2-4722-8FB5-C522C73BB87C}" type="slidenum">
              <a:rPr lang="en-US" smtClean="0"/>
              <a:t>1</a:t>
            </a:fld>
            <a:endParaRPr lang="en-US"/>
          </a:p>
        </p:txBody>
      </p:sp>
    </p:spTree>
    <p:extLst>
      <p:ext uri="{BB962C8B-B14F-4D97-AF65-F5344CB8AC3E}">
        <p14:creationId xmlns:p14="http://schemas.microsoft.com/office/powerpoint/2010/main" val="848542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Today, we’ll be discussing an important concept in numerical analysis: the loss of significance. This issue often arises when performing calculations that involve subtraction between two numbers that are very close to each other. Understanding this concept is crucial for ensuring accuracy in computations.</a:t>
            </a:r>
            <a:endParaRPr kumimoji="1" lang="zh-CN" altLang="en-US" dirty="0"/>
          </a:p>
        </p:txBody>
      </p:sp>
      <p:sp>
        <p:nvSpPr>
          <p:cNvPr id="4" name="灯片编号占位符 3"/>
          <p:cNvSpPr>
            <a:spLocks noGrp="1"/>
          </p:cNvSpPr>
          <p:nvPr>
            <p:ph type="sldNum" sz="quarter" idx="5"/>
          </p:nvPr>
        </p:nvSpPr>
        <p:spPr/>
        <p:txBody>
          <a:bodyPr/>
          <a:lstStyle/>
          <a:p>
            <a:fld id="{DC60C7CC-DD7F-E544-A035-E95EF7ACCD3B}" type="slidenum">
              <a:rPr kumimoji="1" lang="zh-CN" altLang="en-US" smtClean="0"/>
              <a:t>5</a:t>
            </a:fld>
            <a:endParaRPr kumimoji="1" lang="zh-CN" altLang="en-US"/>
          </a:p>
        </p:txBody>
      </p:sp>
    </p:spTree>
    <p:extLst>
      <p:ext uri="{BB962C8B-B14F-4D97-AF65-F5344CB8AC3E}">
        <p14:creationId xmlns:p14="http://schemas.microsoft.com/office/powerpoint/2010/main" val="2788378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C60C7CC-DD7F-E544-A035-E95EF7ACCD3B}" type="slidenum">
              <a:rPr kumimoji="1" lang="zh-CN" altLang="en-US" smtClean="0"/>
              <a:t>6</a:t>
            </a:fld>
            <a:endParaRPr kumimoji="1" lang="zh-CN" altLang="en-US"/>
          </a:p>
        </p:txBody>
      </p:sp>
    </p:spTree>
    <p:extLst>
      <p:ext uri="{BB962C8B-B14F-4D97-AF65-F5344CB8AC3E}">
        <p14:creationId xmlns:p14="http://schemas.microsoft.com/office/powerpoint/2010/main" val="3231352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So, what exactly is the loss of significance? It typically occurs during the subtraction of two nearly equal numbers, where the significant digits of the result are drastically reduced. This can lead to a loss of precision and accuracy in numerical computations, especially when dealing with limited significant digits.</a:t>
            </a:r>
            <a:endParaRPr kumimoji="1" lang="zh-CN" altLang="en-US" dirty="0"/>
          </a:p>
          <a:p>
            <a:endParaRPr lang="en" altLang="zh-CN" dirty="0"/>
          </a:p>
          <a:p>
            <a:r>
              <a:rPr lang="en" altLang="zh-CN" dirty="0"/>
              <a:t>Let’s look at an example using five significant digits with chopping arithmetic</a:t>
            </a:r>
          </a:p>
          <a:p>
            <a:endParaRPr kumimoji="1" lang="en" altLang="zh-CN" dirty="0"/>
          </a:p>
          <a:p>
            <a:r>
              <a:rPr kumimoji="1" lang="en-US" altLang="zh-CN" dirty="0"/>
              <a:t>1000/6=166.6666666666</a:t>
            </a:r>
          </a:p>
          <a:p>
            <a:r>
              <a:rPr kumimoji="1" lang="en-US" altLang="zh-CN" dirty="0"/>
              <a:t>1001/6=166.83333333333</a:t>
            </a:r>
            <a:endParaRPr kumimoji="1" lang="zh-CN" altLang="en-US" dirty="0"/>
          </a:p>
        </p:txBody>
      </p:sp>
      <p:sp>
        <p:nvSpPr>
          <p:cNvPr id="4" name="灯片编号占位符 3"/>
          <p:cNvSpPr>
            <a:spLocks noGrp="1"/>
          </p:cNvSpPr>
          <p:nvPr>
            <p:ph type="sldNum" sz="quarter" idx="5"/>
          </p:nvPr>
        </p:nvSpPr>
        <p:spPr/>
        <p:txBody>
          <a:bodyPr/>
          <a:lstStyle/>
          <a:p>
            <a:fld id="{DC60C7CC-DD7F-E544-A035-E95EF7ACCD3B}" type="slidenum">
              <a:rPr kumimoji="1" lang="zh-CN" altLang="en-US" smtClean="0"/>
              <a:t>7</a:t>
            </a:fld>
            <a:endParaRPr kumimoji="1" lang="zh-CN" altLang="en-US"/>
          </a:p>
        </p:txBody>
      </p:sp>
    </p:spTree>
    <p:extLst>
      <p:ext uri="{BB962C8B-B14F-4D97-AF65-F5344CB8AC3E}">
        <p14:creationId xmlns:p14="http://schemas.microsoft.com/office/powerpoint/2010/main" val="1877077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Now, consider another example where we find the roots of an equation using four significant digits with rounding arithmetic. Initially, you’ll notice that the result loses accuracy due to the subtraction of two close numbers. However, by reformulating the equation, we can avoid this loss and restore the precision.</a:t>
            </a:r>
            <a:endParaRPr kumimoji="1" lang="zh-CN" altLang="en-US" dirty="0"/>
          </a:p>
        </p:txBody>
      </p:sp>
      <p:sp>
        <p:nvSpPr>
          <p:cNvPr id="4" name="灯片编号占位符 3"/>
          <p:cNvSpPr>
            <a:spLocks noGrp="1"/>
          </p:cNvSpPr>
          <p:nvPr>
            <p:ph type="sldNum" sz="quarter" idx="5"/>
          </p:nvPr>
        </p:nvSpPr>
        <p:spPr/>
        <p:txBody>
          <a:bodyPr/>
          <a:lstStyle/>
          <a:p>
            <a:fld id="{DC60C7CC-DD7F-E544-A035-E95EF7ACCD3B}" type="slidenum">
              <a:rPr kumimoji="1" lang="zh-CN" altLang="en-US" smtClean="0"/>
              <a:t>8</a:t>
            </a:fld>
            <a:endParaRPr kumimoji="1" lang="zh-CN" altLang="en-US"/>
          </a:p>
        </p:txBody>
      </p:sp>
    </p:spTree>
    <p:extLst>
      <p:ext uri="{BB962C8B-B14F-4D97-AF65-F5344CB8AC3E}">
        <p14:creationId xmlns:p14="http://schemas.microsoft.com/office/powerpoint/2010/main" val="3751754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To address the loss of significance, one effective method is to reformulate the problem to avoid subtracting two nearly equal numbers. For example, instead of directly solving an equation that causes this issue, we can manipulate the equation to maintain more significant digits in the result.</a:t>
            </a:r>
            <a:endParaRPr kumimoji="1" lang="zh-CN" altLang="en-US" dirty="0"/>
          </a:p>
        </p:txBody>
      </p:sp>
      <p:sp>
        <p:nvSpPr>
          <p:cNvPr id="4" name="灯片编号占位符 3"/>
          <p:cNvSpPr>
            <a:spLocks noGrp="1"/>
          </p:cNvSpPr>
          <p:nvPr>
            <p:ph type="sldNum" sz="quarter" idx="5"/>
          </p:nvPr>
        </p:nvSpPr>
        <p:spPr/>
        <p:txBody>
          <a:bodyPr/>
          <a:lstStyle/>
          <a:p>
            <a:fld id="{DC60C7CC-DD7F-E544-A035-E95EF7ACCD3B}" type="slidenum">
              <a:rPr kumimoji="1" lang="zh-CN" altLang="en-US" smtClean="0"/>
              <a:t>9</a:t>
            </a:fld>
            <a:endParaRPr kumimoji="1" lang="zh-CN" altLang="en-US"/>
          </a:p>
        </p:txBody>
      </p:sp>
    </p:spTree>
    <p:extLst>
      <p:ext uri="{BB962C8B-B14F-4D97-AF65-F5344CB8AC3E}">
        <p14:creationId xmlns:p14="http://schemas.microsoft.com/office/powerpoint/2010/main" val="2249059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In summary, the loss of significance is a common problem in numerical computations but can be mitigated by careful formulation of the equations and mindful arithmetic operations. Always be aware of how significant digits are handled in your calculations to avoid unnecessary loss of accuracy.</a:t>
            </a:r>
            <a:endParaRPr kumimoji="1" lang="zh-CN" altLang="en-US" dirty="0"/>
          </a:p>
        </p:txBody>
      </p:sp>
      <p:sp>
        <p:nvSpPr>
          <p:cNvPr id="4" name="灯片编号占位符 3"/>
          <p:cNvSpPr>
            <a:spLocks noGrp="1"/>
          </p:cNvSpPr>
          <p:nvPr>
            <p:ph type="sldNum" sz="quarter" idx="5"/>
          </p:nvPr>
        </p:nvSpPr>
        <p:spPr/>
        <p:txBody>
          <a:bodyPr/>
          <a:lstStyle/>
          <a:p>
            <a:fld id="{DC60C7CC-DD7F-E544-A035-E95EF7ACCD3B}" type="slidenum">
              <a:rPr kumimoji="1" lang="zh-CN" altLang="en-US" smtClean="0"/>
              <a:t>10</a:t>
            </a:fld>
            <a:endParaRPr kumimoji="1" lang="zh-CN" altLang="en-US"/>
          </a:p>
        </p:txBody>
      </p:sp>
    </p:spTree>
    <p:extLst>
      <p:ext uri="{BB962C8B-B14F-4D97-AF65-F5344CB8AC3E}">
        <p14:creationId xmlns:p14="http://schemas.microsoft.com/office/powerpoint/2010/main" val="588852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122363"/>
            <a:ext cx="8229600" cy="2387600"/>
          </a:xfrm>
        </p:spPr>
        <p:txBody>
          <a:bodyPr anchor="b"/>
          <a:lstStyle>
            <a:lvl1pPr algn="ct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3602038"/>
            <a:ext cx="8229600" cy="1655762"/>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F912B01-1403-42A1-9DED-A8A821F83A9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231310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F912B01-1403-42A1-9DED-A8A821F83A9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3989651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48665" y="1709739"/>
            <a:ext cx="9464040" cy="2852737"/>
          </a:xfrm>
        </p:spPr>
        <p:txBody>
          <a:bodyPr anchor="b"/>
          <a:lstStyle>
            <a:lvl1pPr>
              <a:defRPr sz="5400"/>
            </a:lvl1pPr>
          </a:lstStyle>
          <a:p>
            <a:r>
              <a:rPr lang="zh-CN" altLang="en-US"/>
              <a:t>单击此处编辑母版标题样式</a:t>
            </a:r>
            <a:endParaRPr lang="en-US" dirty="0"/>
          </a:p>
        </p:txBody>
      </p:sp>
      <p:sp>
        <p:nvSpPr>
          <p:cNvPr id="3" name="Text Placeholder 2"/>
          <p:cNvSpPr>
            <a:spLocks noGrp="1"/>
          </p:cNvSpPr>
          <p:nvPr>
            <p:ph type="body" idx="1"/>
          </p:nvPr>
        </p:nvSpPr>
        <p:spPr>
          <a:xfrm>
            <a:off x="748665" y="4589464"/>
            <a:ext cx="9464040" cy="1500187"/>
          </a:xfrm>
        </p:spPr>
        <p:txBody>
          <a:bodyPr/>
          <a:lstStyle>
            <a:lvl1pPr marL="0" indent="0">
              <a:buNone/>
              <a:defRPr sz="2160">
                <a:solidFill>
                  <a:schemeClr val="tx1">
                    <a:tint val="82000"/>
                  </a:schemeClr>
                </a:solidFill>
              </a:defRPr>
            </a:lvl1pPr>
            <a:lvl2pPr marL="411480" indent="0">
              <a:buNone/>
              <a:defRPr sz="1800">
                <a:solidFill>
                  <a:schemeClr val="tx1">
                    <a:tint val="82000"/>
                  </a:schemeClr>
                </a:solidFill>
              </a:defRPr>
            </a:lvl2pPr>
            <a:lvl3pPr marL="822960" indent="0">
              <a:buNone/>
              <a:defRPr sz="1620">
                <a:solidFill>
                  <a:schemeClr val="tx1">
                    <a:tint val="82000"/>
                  </a:schemeClr>
                </a:solidFill>
              </a:defRPr>
            </a:lvl3pPr>
            <a:lvl4pPr marL="1234440" indent="0">
              <a:buNone/>
              <a:defRPr sz="1440">
                <a:solidFill>
                  <a:schemeClr val="tx1">
                    <a:tint val="82000"/>
                  </a:schemeClr>
                </a:solidFill>
              </a:defRPr>
            </a:lvl4pPr>
            <a:lvl5pPr marL="1645920" indent="0">
              <a:buNone/>
              <a:defRPr sz="1440">
                <a:solidFill>
                  <a:schemeClr val="tx1">
                    <a:tint val="82000"/>
                  </a:schemeClr>
                </a:solidFill>
              </a:defRPr>
            </a:lvl5pPr>
            <a:lvl6pPr marL="2057400" indent="0">
              <a:buNone/>
              <a:defRPr sz="1440">
                <a:solidFill>
                  <a:schemeClr val="tx1">
                    <a:tint val="82000"/>
                  </a:schemeClr>
                </a:solidFill>
              </a:defRPr>
            </a:lvl6pPr>
            <a:lvl7pPr marL="2468880" indent="0">
              <a:buNone/>
              <a:defRPr sz="1440">
                <a:solidFill>
                  <a:schemeClr val="tx1">
                    <a:tint val="82000"/>
                  </a:schemeClr>
                </a:solidFill>
              </a:defRPr>
            </a:lvl7pPr>
            <a:lvl8pPr marL="2880360" indent="0">
              <a:buNone/>
              <a:defRPr sz="1440">
                <a:solidFill>
                  <a:schemeClr val="tx1">
                    <a:tint val="82000"/>
                  </a:schemeClr>
                </a:solidFill>
              </a:defRPr>
            </a:lvl8pPr>
            <a:lvl9pPr marL="3291840" indent="0">
              <a:buNone/>
              <a:defRPr sz="1440">
                <a:solidFill>
                  <a:schemeClr val="tx1">
                    <a:tint val="82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F912B01-1403-42A1-9DED-A8A821F83A9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2174136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754380" y="1825625"/>
            <a:ext cx="466344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554980" y="1825625"/>
            <a:ext cx="466344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F912B01-1403-42A1-9DED-A8A821F83A9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380286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755809" y="365126"/>
            <a:ext cx="946404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755810" y="1681163"/>
            <a:ext cx="4642008" cy="82391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单击此处编辑母版文本样式</a:t>
            </a:r>
          </a:p>
        </p:txBody>
      </p:sp>
      <p:sp>
        <p:nvSpPr>
          <p:cNvPr id="4" name="Content Placeholder 3"/>
          <p:cNvSpPr>
            <a:spLocks noGrp="1"/>
          </p:cNvSpPr>
          <p:nvPr>
            <p:ph sz="half" idx="2"/>
          </p:nvPr>
        </p:nvSpPr>
        <p:spPr>
          <a:xfrm>
            <a:off x="755810" y="2505075"/>
            <a:ext cx="464200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554980" y="1681163"/>
            <a:ext cx="4664869" cy="82391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单击此处编辑母版文本样式</a:t>
            </a:r>
          </a:p>
        </p:txBody>
      </p:sp>
      <p:sp>
        <p:nvSpPr>
          <p:cNvPr id="6" name="Content Placeholder 5"/>
          <p:cNvSpPr>
            <a:spLocks noGrp="1"/>
          </p:cNvSpPr>
          <p:nvPr>
            <p:ph sz="quarter" idx="4"/>
          </p:nvPr>
        </p:nvSpPr>
        <p:spPr>
          <a:xfrm>
            <a:off x="5554980" y="2505075"/>
            <a:ext cx="4664869"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F912B01-1403-42A1-9DED-A8A821F83A96}"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2197822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F912B01-1403-42A1-9DED-A8A821F83A96}"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2234350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912B01-1403-42A1-9DED-A8A821F83A96}"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40363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755810" y="457200"/>
            <a:ext cx="3539013" cy="1600200"/>
          </a:xfrm>
        </p:spPr>
        <p:txBody>
          <a:bodyPr anchor="b"/>
          <a:lstStyle>
            <a:lvl1pPr>
              <a:defRPr sz="2880"/>
            </a:lvl1pPr>
          </a:lstStyle>
          <a:p>
            <a:r>
              <a:rPr lang="zh-CN" altLang="en-US"/>
              <a:t>单击此处编辑母版标题样式</a:t>
            </a:r>
            <a:endParaRPr lang="en-US" dirty="0"/>
          </a:p>
        </p:txBody>
      </p:sp>
      <p:sp>
        <p:nvSpPr>
          <p:cNvPr id="3" name="Content Placeholder 2"/>
          <p:cNvSpPr>
            <a:spLocks noGrp="1"/>
          </p:cNvSpPr>
          <p:nvPr>
            <p:ph idx="1"/>
          </p:nvPr>
        </p:nvSpPr>
        <p:spPr>
          <a:xfrm>
            <a:off x="4664869" y="987426"/>
            <a:ext cx="5554980" cy="487362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755810" y="2057400"/>
            <a:ext cx="3539013" cy="3811588"/>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F912B01-1403-42A1-9DED-A8A821F83A9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1377751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755810" y="457200"/>
            <a:ext cx="3539013" cy="1600200"/>
          </a:xfrm>
        </p:spPr>
        <p:txBody>
          <a:bodyPr anchor="b"/>
          <a:lstStyle>
            <a:lvl1pPr>
              <a:defRPr sz="288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664869" y="987426"/>
            <a:ext cx="5554980" cy="4873625"/>
          </a:xfrm>
        </p:spPr>
        <p:txBody>
          <a:bodyPr anchor="t"/>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zh-CN" altLang="en-US"/>
              <a:t>单击图标添加图片</a:t>
            </a:r>
            <a:endParaRPr lang="en-US" dirty="0"/>
          </a:p>
        </p:txBody>
      </p:sp>
      <p:sp>
        <p:nvSpPr>
          <p:cNvPr id="4" name="Text Placeholder 3"/>
          <p:cNvSpPr>
            <a:spLocks noGrp="1"/>
          </p:cNvSpPr>
          <p:nvPr>
            <p:ph type="body" sz="half" idx="2"/>
          </p:nvPr>
        </p:nvSpPr>
        <p:spPr>
          <a:xfrm>
            <a:off x="755810" y="2057400"/>
            <a:ext cx="3539013" cy="3811588"/>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F912B01-1403-42A1-9DED-A8A821F83A9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155182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F912B01-1403-42A1-9DED-A8A821F83A9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2163701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52410" y="365125"/>
            <a:ext cx="236601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754380" y="365125"/>
            <a:ext cx="696087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F912B01-1403-42A1-9DED-A8A821F83A9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07862-8342-4B19-820B-F9A591915C9B}" type="slidenum">
              <a:rPr lang="en-US" smtClean="0"/>
              <a:t>‹#›</a:t>
            </a:fld>
            <a:endParaRPr lang="en-US"/>
          </a:p>
        </p:txBody>
      </p:sp>
    </p:spTree>
    <p:extLst>
      <p:ext uri="{BB962C8B-B14F-4D97-AF65-F5344CB8AC3E}">
        <p14:creationId xmlns:p14="http://schemas.microsoft.com/office/powerpoint/2010/main" val="147863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4380" y="365126"/>
            <a:ext cx="946404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754380" y="1825625"/>
            <a:ext cx="946404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54380" y="6356351"/>
            <a:ext cx="2468880" cy="365125"/>
          </a:xfrm>
          <a:prstGeom prst="rect">
            <a:avLst/>
          </a:prstGeom>
        </p:spPr>
        <p:txBody>
          <a:bodyPr vert="horz" lIns="91440" tIns="45720" rIns="91440" bIns="45720" rtlCol="0" anchor="ctr"/>
          <a:lstStyle>
            <a:lvl1pPr algn="l">
              <a:defRPr sz="1080">
                <a:solidFill>
                  <a:schemeClr val="tx1">
                    <a:tint val="82000"/>
                  </a:schemeClr>
                </a:solidFill>
              </a:defRPr>
            </a:lvl1pPr>
          </a:lstStyle>
          <a:p>
            <a:fld id="{3F912B01-1403-42A1-9DED-A8A821F83A96}" type="datetimeFigureOut">
              <a:rPr lang="en-US" smtClean="0"/>
              <a:t>2/3/2026</a:t>
            </a:fld>
            <a:endParaRPr lang="en-US"/>
          </a:p>
        </p:txBody>
      </p:sp>
      <p:sp>
        <p:nvSpPr>
          <p:cNvPr id="5" name="Footer Placeholder 4"/>
          <p:cNvSpPr>
            <a:spLocks noGrp="1"/>
          </p:cNvSpPr>
          <p:nvPr>
            <p:ph type="ftr" sz="quarter" idx="3"/>
          </p:nvPr>
        </p:nvSpPr>
        <p:spPr>
          <a:xfrm>
            <a:off x="3634740" y="6356351"/>
            <a:ext cx="3703320" cy="365125"/>
          </a:xfrm>
          <a:prstGeom prst="rect">
            <a:avLst/>
          </a:prstGeom>
        </p:spPr>
        <p:txBody>
          <a:bodyPr vert="horz" lIns="91440" tIns="45720" rIns="91440" bIns="45720" rtlCol="0" anchor="ctr"/>
          <a:lstStyle>
            <a:lvl1pPr algn="ctr">
              <a:defRPr sz="108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749540" y="6356351"/>
            <a:ext cx="2468880" cy="365125"/>
          </a:xfrm>
          <a:prstGeom prst="rect">
            <a:avLst/>
          </a:prstGeom>
        </p:spPr>
        <p:txBody>
          <a:bodyPr vert="horz" lIns="91440" tIns="45720" rIns="91440" bIns="45720" rtlCol="0" anchor="ctr"/>
          <a:lstStyle>
            <a:lvl1pPr algn="r">
              <a:defRPr sz="1080">
                <a:solidFill>
                  <a:schemeClr val="tx1">
                    <a:tint val="82000"/>
                  </a:schemeClr>
                </a:solidFill>
              </a:defRPr>
            </a:lvl1pPr>
          </a:lstStyle>
          <a:p>
            <a:fld id="{65F07862-8342-4B19-820B-F9A591915C9B}" type="slidenum">
              <a:rPr lang="en-US" smtClean="0"/>
              <a:t>‹#›</a:t>
            </a:fld>
            <a:endParaRPr lang="en-US"/>
          </a:p>
        </p:txBody>
      </p:sp>
    </p:spTree>
    <p:extLst>
      <p:ext uri="{BB962C8B-B14F-4D97-AF65-F5344CB8AC3E}">
        <p14:creationId xmlns:p14="http://schemas.microsoft.com/office/powerpoint/2010/main" val="2636570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16.w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5.bin"/><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wmf"/><Relationship Id="rId4" Type="http://schemas.openxmlformats.org/officeDocument/2006/relationships/oleObject" Target="../embeddings/oleObject6.bin"/></Relationships>
</file>

<file path=ppt/slides/_rels/slide41.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7.bin"/><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8.bin"/><Relationship Id="rId1" Type="http://schemas.openxmlformats.org/officeDocument/2006/relationships/slideLayout" Target="../slideLayouts/slideLayout1.xml"/><Relationship Id="rId5" Type="http://schemas.openxmlformats.org/officeDocument/2006/relationships/image" Target="../media/image59.wmf"/><Relationship Id="rId4" Type="http://schemas.openxmlformats.org/officeDocument/2006/relationships/oleObject" Target="../embeddings/oleObject9.bin"/></Relationships>
</file>

<file path=ppt/slides/_rels/slide43.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10.bin"/><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11.bin"/><Relationship Id="rId1" Type="http://schemas.openxmlformats.org/officeDocument/2006/relationships/slideLayout" Target="../slideLayouts/slideLayout1.xml"/><Relationship Id="rId5" Type="http://schemas.openxmlformats.org/officeDocument/2006/relationships/image" Target="../media/image65.wmf"/><Relationship Id="rId4" Type="http://schemas.openxmlformats.org/officeDocument/2006/relationships/oleObject" Target="../embeddings/oleObject12.bin"/></Relationships>
</file>

<file path=ppt/slides/_rels/slide47.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5.bin"/><Relationship Id="rId1" Type="http://schemas.openxmlformats.org/officeDocument/2006/relationships/slideLayout" Target="../slideLayouts/slideLayout1.xml"/><Relationship Id="rId5" Type="http://schemas.openxmlformats.org/officeDocument/2006/relationships/image" Target="../media/image54.wmf"/><Relationship Id="rId4" Type="http://schemas.openxmlformats.org/officeDocument/2006/relationships/oleObject" Target="../embeddings/oleObject6.bin"/></Relationships>
</file>

<file path=ppt/slides/_rels/slide48.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13.bin"/><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wmf"/><Relationship Id="rId4" Type="http://schemas.openxmlformats.org/officeDocument/2006/relationships/oleObject" Target="../embeddings/oleObject14.bin"/></Relationships>
</file>

<file path=ppt/slides/_rels/slide49.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15.bin"/><Relationship Id="rId1" Type="http://schemas.openxmlformats.org/officeDocument/2006/relationships/slideLayout" Target="../slideLayouts/slideLayout1.xml"/><Relationship Id="rId5" Type="http://schemas.openxmlformats.org/officeDocument/2006/relationships/image" Target="../media/image56.wmf"/><Relationship Id="rId4" Type="http://schemas.openxmlformats.org/officeDocument/2006/relationships/oleObject" Target="../embeddings/oleObject7.bin"/></Relationships>
</file>

<file path=ppt/slides/_rels/slide50.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8.bin"/><Relationship Id="rId1" Type="http://schemas.openxmlformats.org/officeDocument/2006/relationships/slideLayout" Target="../slideLayouts/slideLayout1.xml"/><Relationship Id="rId5" Type="http://schemas.openxmlformats.org/officeDocument/2006/relationships/image" Target="../media/image59.wmf"/><Relationship Id="rId4" Type="http://schemas.openxmlformats.org/officeDocument/2006/relationships/oleObject" Target="../embeddings/oleObject9.bin"/></Relationships>
</file>

<file path=ppt/slides/_rels/slide51.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10.bin"/><Relationship Id="rId1" Type="http://schemas.openxmlformats.org/officeDocument/2006/relationships/slideLayout" Target="../slideLayouts/slideLayout1.xml"/><Relationship Id="rId5" Type="http://schemas.openxmlformats.org/officeDocument/2006/relationships/image" Target="../media/image70.wmf"/><Relationship Id="rId4" Type="http://schemas.openxmlformats.org/officeDocument/2006/relationships/oleObject" Target="../embeddings/oleObject16.bin"/></Relationships>
</file>

<file path=ppt/slides/_rels/slide52.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oleObject" Target="../embeddings/oleObject17.bin"/><Relationship Id="rId1" Type="http://schemas.openxmlformats.org/officeDocument/2006/relationships/slideLayout" Target="../slideLayouts/slideLayout1.xml"/><Relationship Id="rId5" Type="http://schemas.openxmlformats.org/officeDocument/2006/relationships/image" Target="../media/image72.wmf"/><Relationship Id="rId4" Type="http://schemas.openxmlformats.org/officeDocument/2006/relationships/oleObject" Target="../embeddings/oleObject18.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66.wmf"/><Relationship Id="rId7" Type="http://schemas.openxmlformats.org/officeDocument/2006/relationships/image" Target="../media/image67.wmf"/><Relationship Id="rId2" Type="http://schemas.openxmlformats.org/officeDocument/2006/relationships/oleObject" Target="../embeddings/oleObject13.bin"/><Relationship Id="rId1" Type="http://schemas.openxmlformats.org/officeDocument/2006/relationships/slideLayout" Target="../slideLayouts/slideLayout1.xml"/><Relationship Id="rId6" Type="http://schemas.openxmlformats.org/officeDocument/2006/relationships/oleObject" Target="../embeddings/oleObject14.bin"/><Relationship Id="rId5" Type="http://schemas.openxmlformats.org/officeDocument/2006/relationships/image" Target="../media/image73.wmf"/><Relationship Id="rId4" Type="http://schemas.openxmlformats.org/officeDocument/2006/relationships/oleObject" Target="../embeddings/oleObject19.bin"/><Relationship Id="rId9" Type="http://schemas.openxmlformats.org/officeDocument/2006/relationships/image" Target="../media/image7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7A6B394-0A1E-964E-C6AF-CFE9D3A0C996}"/>
              </a:ext>
            </a:extLst>
          </p:cNvPr>
          <p:cNvSpPr/>
          <p:nvPr/>
        </p:nvSpPr>
        <p:spPr>
          <a:xfrm>
            <a:off x="141149" y="1925961"/>
            <a:ext cx="10690502" cy="1447976"/>
          </a:xfrm>
          <a:prstGeom prst="rect">
            <a:avLst/>
          </a:prstGeom>
          <a:solidFill>
            <a:srgbClr val="002060"/>
          </a:solidFill>
          <a:ln cap="rnd">
            <a:roun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ym typeface="+mn-ea"/>
              </a:rPr>
              <a:t>MATH417 L7</a:t>
            </a:r>
            <a:endParaRPr lang="zh-CN" altLang="en-US" sz="4400" b="1" dirty="0">
              <a:ln w="10160" cap="rnd">
                <a:noFill/>
                <a:prstDash val="solid"/>
              </a:ln>
              <a:solidFill>
                <a:schemeClr val="bg1"/>
              </a:solidFill>
              <a:effectLst>
                <a:outerShdw blurRad="38100" dist="22860" dir="5400000" algn="tl" rotWithShape="0">
                  <a:srgbClr val="000000">
                    <a:alpha val="30000"/>
                  </a:srgbClr>
                </a:outerShdw>
              </a:effectLst>
              <a:latin typeface="SimSun" pitchFamily="2" charset="-122"/>
              <a:ea typeface="SimSun" pitchFamily="2" charset="-122"/>
            </a:endParaRPr>
          </a:p>
        </p:txBody>
      </p:sp>
      <p:sp>
        <p:nvSpPr>
          <p:cNvPr id="7" name="副标题 2">
            <a:extLst>
              <a:ext uri="{FF2B5EF4-FFF2-40B4-BE49-F238E27FC236}">
                <a16:creationId xmlns:a16="http://schemas.microsoft.com/office/drawing/2014/main" id="{809EFE95-7FCC-662D-168E-BFE3A96CF9ED}"/>
              </a:ext>
            </a:extLst>
          </p:cNvPr>
          <p:cNvSpPr>
            <a:spLocks noGrp="1"/>
          </p:cNvSpPr>
          <p:nvPr>
            <p:ph type="subTitle" idx="1"/>
            <p:custDataLst>
              <p:tags r:id="rId1"/>
            </p:custDataLst>
          </p:nvPr>
        </p:nvSpPr>
        <p:spPr>
          <a:xfrm>
            <a:off x="586740" y="3741415"/>
            <a:ext cx="9799320" cy="2114550"/>
          </a:xfrm>
        </p:spPr>
        <p:txBody>
          <a:bodyPr>
            <a:noAutofit/>
          </a:bodyPr>
          <a:lstStyle/>
          <a:p>
            <a:r>
              <a:rPr lang="en-US" altLang="zh-CN" sz="2800" dirty="0"/>
              <a:t>Chuqi CHEN</a:t>
            </a:r>
          </a:p>
          <a:p>
            <a:endParaRPr lang="en-US" altLang="zh-CN" sz="2000" dirty="0"/>
          </a:p>
          <a:p>
            <a:r>
              <a:rPr lang="en-US" altLang="zh-CN"/>
              <a:t>February 4, </a:t>
            </a:r>
            <a:r>
              <a:rPr lang="en-US" altLang="zh-CN" dirty="0"/>
              <a:t>2026</a:t>
            </a:r>
          </a:p>
        </p:txBody>
      </p:sp>
      <p:pic>
        <p:nvPicPr>
          <p:cNvPr id="8" name="Picture 6" descr="University of Michigan Logo and symbol, meaning, history, PNG, brand">
            <a:extLst>
              <a:ext uri="{FF2B5EF4-FFF2-40B4-BE49-F238E27FC236}">
                <a16:creationId xmlns:a16="http://schemas.microsoft.com/office/drawing/2014/main" id="{AA367B7F-C39E-3B5E-C389-F615176993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3045" y="5754936"/>
            <a:ext cx="1969757" cy="1103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539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51B1E-3FFC-E81D-8020-2A0B8221BF7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69F15EF-E95F-ADA4-9303-FEC2B13E1BC2}"/>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t>Overviews</a:t>
            </a:r>
            <a:endParaRPr lang="zh-CN" altLang="en-US" sz="3200" dirty="0"/>
          </a:p>
        </p:txBody>
      </p:sp>
      <p:sp>
        <p:nvSpPr>
          <p:cNvPr id="3" name="文本框 2">
            <a:extLst>
              <a:ext uri="{FF2B5EF4-FFF2-40B4-BE49-F238E27FC236}">
                <a16:creationId xmlns:a16="http://schemas.microsoft.com/office/drawing/2014/main" id="{0632833A-87D6-C150-D642-6A6860C4CDE4}"/>
              </a:ext>
            </a:extLst>
          </p:cNvPr>
          <p:cNvSpPr txBox="1"/>
          <p:nvPr/>
        </p:nvSpPr>
        <p:spPr>
          <a:xfrm>
            <a:off x="1435145" y="1651177"/>
            <a:ext cx="9289875" cy="3154133"/>
          </a:xfrm>
          <a:prstGeom prst="rect">
            <a:avLst/>
          </a:prstGeom>
          <a:noFill/>
        </p:spPr>
        <p:txBody>
          <a:bodyPr wrap="square">
            <a:spAutoFit/>
          </a:bodyPr>
          <a:lstStyle/>
          <a:p>
            <a:pPr marL="342900" indent="-342900">
              <a:lnSpc>
                <a:spcPct val="250000"/>
              </a:lnSpc>
              <a:buFont typeface="Arial" panose="020B0604020202020204" pitchFamily="34" charset="0"/>
              <a:buChar char="•"/>
            </a:pPr>
            <a:r>
              <a:rPr lang="en-US" altLang="zh-CN" sz="2800" b="1" dirty="0"/>
              <a:t>Loss of Significance</a:t>
            </a:r>
          </a:p>
          <a:p>
            <a:pPr marL="342900" indent="-342900">
              <a:lnSpc>
                <a:spcPct val="250000"/>
              </a:lnSpc>
              <a:buFont typeface="Arial" panose="020B0604020202020204" pitchFamily="34" charset="0"/>
              <a:buChar char="•"/>
            </a:pPr>
            <a:r>
              <a:rPr lang="en-US" altLang="zh-CN" sz="2800" b="1" dirty="0"/>
              <a:t>Gaussian Elimination with Scaled Partial Pivoting</a:t>
            </a:r>
          </a:p>
          <a:p>
            <a:pPr marL="342900" indent="-342900">
              <a:lnSpc>
                <a:spcPct val="250000"/>
              </a:lnSpc>
              <a:buFont typeface="Arial" panose="020B0604020202020204" pitchFamily="34" charset="0"/>
              <a:buChar char="•"/>
            </a:pPr>
            <a:r>
              <a:rPr lang="en-US" altLang="en-US" sz="2800" b="1" dirty="0"/>
              <a:t>LU F</a:t>
            </a:r>
            <a:r>
              <a:rPr lang="en-US" altLang="zh-CN" sz="2800" b="1" dirty="0"/>
              <a:t>ac</a:t>
            </a:r>
            <a:r>
              <a:rPr lang="en-US" altLang="zh-CN" sz="2800" b="1" i="1" dirty="0"/>
              <a:t>toriz</a:t>
            </a:r>
            <a:r>
              <a:rPr lang="en-US" altLang="zh-CN" sz="2800" b="1" dirty="0"/>
              <a:t>ation</a:t>
            </a:r>
          </a:p>
        </p:txBody>
      </p:sp>
    </p:spTree>
    <p:extLst>
      <p:ext uri="{BB962C8B-B14F-4D97-AF65-F5344CB8AC3E}">
        <p14:creationId xmlns:p14="http://schemas.microsoft.com/office/powerpoint/2010/main" val="4071501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34C2-3BE6-4362-B8CE-EC978354889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67C621AC-66E7-5765-F69F-3D80DB8D4ED9}"/>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t>Overviews</a:t>
            </a:r>
            <a:endParaRPr lang="zh-CN" altLang="en-US" sz="3200" dirty="0"/>
          </a:p>
        </p:txBody>
      </p:sp>
      <p:sp>
        <p:nvSpPr>
          <p:cNvPr id="3" name="文本框 2">
            <a:extLst>
              <a:ext uri="{FF2B5EF4-FFF2-40B4-BE49-F238E27FC236}">
                <a16:creationId xmlns:a16="http://schemas.microsoft.com/office/drawing/2014/main" id="{D1B9C0B6-D9A8-C8C8-4163-BC80AB85F3A5}"/>
              </a:ext>
            </a:extLst>
          </p:cNvPr>
          <p:cNvSpPr txBox="1"/>
          <p:nvPr/>
        </p:nvSpPr>
        <p:spPr>
          <a:xfrm>
            <a:off x="1435145" y="1651177"/>
            <a:ext cx="9289875" cy="3154133"/>
          </a:xfrm>
          <a:prstGeom prst="rect">
            <a:avLst/>
          </a:prstGeom>
          <a:noFill/>
        </p:spPr>
        <p:txBody>
          <a:bodyPr wrap="square">
            <a:spAutoFit/>
          </a:bodyPr>
          <a:lstStyle/>
          <a:p>
            <a:pPr marL="342900" indent="-342900">
              <a:lnSpc>
                <a:spcPct val="250000"/>
              </a:lnSpc>
              <a:buFont typeface="Arial" panose="020B0604020202020204" pitchFamily="34" charset="0"/>
              <a:buChar char="•"/>
            </a:pPr>
            <a:r>
              <a:rPr lang="en-US" altLang="zh-CN" sz="2800" b="1" dirty="0"/>
              <a:t>Loss of Significance</a:t>
            </a:r>
          </a:p>
          <a:p>
            <a:pPr marL="342900" indent="-342900">
              <a:lnSpc>
                <a:spcPct val="250000"/>
              </a:lnSpc>
              <a:buFont typeface="Arial" panose="020B0604020202020204" pitchFamily="34" charset="0"/>
              <a:buChar char="•"/>
            </a:pPr>
            <a:r>
              <a:rPr lang="en-US" altLang="zh-CN" sz="2800" b="1" dirty="0">
                <a:solidFill>
                  <a:schemeClr val="bg1">
                    <a:lumMod val="65000"/>
                  </a:schemeClr>
                </a:solidFill>
              </a:rPr>
              <a:t>Gaussian Elimination with Scaled Partial Pivoting</a:t>
            </a:r>
          </a:p>
          <a:p>
            <a:pPr marL="342900" indent="-342900">
              <a:lnSpc>
                <a:spcPct val="250000"/>
              </a:lnSpc>
              <a:buFont typeface="Arial" panose="020B0604020202020204" pitchFamily="34" charset="0"/>
              <a:buChar char="•"/>
            </a:pPr>
            <a:r>
              <a:rPr lang="en-US" altLang="en-US" sz="2800" b="1" dirty="0">
                <a:solidFill>
                  <a:schemeClr val="bg1">
                    <a:lumMod val="65000"/>
                  </a:schemeClr>
                </a:solidFill>
              </a:rPr>
              <a:t>LU F</a:t>
            </a:r>
            <a:r>
              <a:rPr lang="en-US" altLang="zh-CN" sz="2800" b="1" dirty="0">
                <a:solidFill>
                  <a:schemeClr val="bg1">
                    <a:lumMod val="65000"/>
                  </a:schemeClr>
                </a:solidFill>
              </a:rPr>
              <a:t>ac</a:t>
            </a:r>
            <a:r>
              <a:rPr lang="en-US" altLang="zh-CN" sz="2800" b="1" i="1" dirty="0">
                <a:solidFill>
                  <a:schemeClr val="bg1">
                    <a:lumMod val="65000"/>
                  </a:schemeClr>
                </a:solidFill>
              </a:rPr>
              <a:t>toriz</a:t>
            </a:r>
            <a:r>
              <a:rPr lang="en-US" altLang="zh-CN" sz="2800" b="1" dirty="0">
                <a:solidFill>
                  <a:schemeClr val="bg1">
                    <a:lumMod val="65000"/>
                  </a:schemeClr>
                </a:solidFill>
              </a:rPr>
              <a:t>ation</a:t>
            </a:r>
          </a:p>
        </p:txBody>
      </p:sp>
    </p:spTree>
    <p:extLst>
      <p:ext uri="{BB962C8B-B14F-4D97-AF65-F5344CB8AC3E}">
        <p14:creationId xmlns:p14="http://schemas.microsoft.com/office/powerpoint/2010/main" val="2978638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A9688-E3B1-BC2E-4C23-14F3668DD7C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DB1AF0B-EE74-EA17-1327-C3C805E9786C}"/>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W</a:t>
            </a:r>
            <a:r>
              <a:rPr lang="en-US" altLang="zh-CN" sz="3200" b="1" dirty="0"/>
              <a:t>arm up</a:t>
            </a:r>
            <a:endParaRPr lang="en-US" sz="3200" b="1" dirty="0"/>
          </a:p>
        </p:txBody>
      </p:sp>
      <p:sp>
        <p:nvSpPr>
          <p:cNvPr id="3" name="TextBox 2">
            <a:extLst>
              <a:ext uri="{FF2B5EF4-FFF2-40B4-BE49-F238E27FC236}">
                <a16:creationId xmlns:a16="http://schemas.microsoft.com/office/drawing/2014/main" id="{7D40CB8C-E361-7E19-B8EC-05E14E5A309C}"/>
              </a:ext>
            </a:extLst>
          </p:cNvPr>
          <p:cNvSpPr txBox="1"/>
          <p:nvPr/>
        </p:nvSpPr>
        <p:spPr>
          <a:xfrm>
            <a:off x="499614" y="1840199"/>
            <a:ext cx="10196894" cy="461665"/>
          </a:xfrm>
          <a:prstGeom prst="rect">
            <a:avLst/>
          </a:prstGeom>
          <a:noFill/>
        </p:spPr>
        <p:txBody>
          <a:bodyPr wrap="none" rtlCol="0">
            <a:spAutoFit/>
          </a:bodyPr>
          <a:lstStyle/>
          <a:p>
            <a:r>
              <a:rPr lang="en-US" sz="2400" b="1" dirty="0"/>
              <a:t>W</a:t>
            </a:r>
            <a:r>
              <a:rPr lang="en-US" altLang="zh-CN" sz="2400" b="1" dirty="0"/>
              <a:t>hat may cause a problem when using computer to do the calculation? </a:t>
            </a:r>
            <a:endParaRPr lang="en-US" sz="2400" b="1" dirty="0"/>
          </a:p>
        </p:txBody>
      </p:sp>
      <p:sp>
        <p:nvSpPr>
          <p:cNvPr id="4" name="TextBox 3">
            <a:extLst>
              <a:ext uri="{FF2B5EF4-FFF2-40B4-BE49-F238E27FC236}">
                <a16:creationId xmlns:a16="http://schemas.microsoft.com/office/drawing/2014/main" id="{0540A54B-5A37-CD3C-44D3-333C681BDEA1}"/>
              </a:ext>
            </a:extLst>
          </p:cNvPr>
          <p:cNvSpPr txBox="1"/>
          <p:nvPr/>
        </p:nvSpPr>
        <p:spPr>
          <a:xfrm>
            <a:off x="356049" y="4151214"/>
            <a:ext cx="10484024" cy="461665"/>
          </a:xfrm>
          <a:prstGeom prst="rect">
            <a:avLst/>
          </a:prstGeom>
          <a:noFill/>
        </p:spPr>
        <p:txBody>
          <a:bodyPr wrap="none" rtlCol="0">
            <a:spAutoFit/>
          </a:bodyPr>
          <a:lstStyle/>
          <a:p>
            <a:r>
              <a:rPr lang="en-US" sz="2400" dirty="0"/>
              <a:t>While doing computation in computer we usually should keep significant digit!</a:t>
            </a:r>
          </a:p>
        </p:txBody>
      </p:sp>
    </p:spTree>
    <p:extLst>
      <p:ext uri="{BB962C8B-B14F-4D97-AF65-F5344CB8AC3E}">
        <p14:creationId xmlns:p14="http://schemas.microsoft.com/office/powerpoint/2010/main" val="8392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C1D1C-190D-4DBD-B33B-DE61B713270D}"/>
              </a:ext>
            </a:extLst>
          </p:cNvPr>
          <p:cNvSpPr>
            <a:spLocks noGrp="1"/>
          </p:cNvSpPr>
          <p:nvPr>
            <p:ph type="ctrTitle"/>
          </p:nvPr>
        </p:nvSpPr>
        <p:spPr/>
        <p:txBody>
          <a:bodyPr/>
          <a:lstStyle/>
          <a:p>
            <a:r>
              <a:rPr lang="en-US" dirty="0"/>
              <a:t>Loss of significance</a:t>
            </a:r>
          </a:p>
        </p:txBody>
      </p:sp>
      <p:sp>
        <p:nvSpPr>
          <p:cNvPr id="3" name="Subtitle 2">
            <a:extLst>
              <a:ext uri="{FF2B5EF4-FFF2-40B4-BE49-F238E27FC236}">
                <a16:creationId xmlns:a16="http://schemas.microsoft.com/office/drawing/2014/main" id="{07A7DD3F-2E56-4593-96F8-AEB316688CE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16732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C5DE-E218-4D47-A0F7-624CB5F97107}"/>
              </a:ext>
            </a:extLst>
          </p:cNvPr>
          <p:cNvSpPr>
            <a:spLocks noGrp="1"/>
          </p:cNvSpPr>
          <p:nvPr>
            <p:ph type="title"/>
          </p:nvPr>
        </p:nvSpPr>
        <p:spPr/>
        <p:txBody>
          <a:bodyPr/>
          <a:lstStyle/>
          <a:p>
            <a:r>
              <a:rPr lang="en-US" altLang="zh-CN" dirty="0"/>
              <a:t>Outline</a:t>
            </a:r>
            <a:endParaRPr lang="en-US" dirty="0"/>
          </a:p>
        </p:txBody>
      </p:sp>
      <p:sp>
        <p:nvSpPr>
          <p:cNvPr id="3" name="Content Placeholder 2">
            <a:extLst>
              <a:ext uri="{FF2B5EF4-FFF2-40B4-BE49-F238E27FC236}">
                <a16:creationId xmlns:a16="http://schemas.microsoft.com/office/drawing/2014/main" id="{9AC241F2-9F4A-4B35-93E6-16E7A6ED3071}"/>
              </a:ext>
            </a:extLst>
          </p:cNvPr>
          <p:cNvSpPr>
            <a:spLocks noGrp="1"/>
          </p:cNvSpPr>
          <p:nvPr>
            <p:ph idx="1"/>
          </p:nvPr>
        </p:nvSpPr>
        <p:spPr/>
        <p:txBody>
          <a:bodyPr/>
          <a:lstStyle/>
          <a:p>
            <a:pPr>
              <a:spcAft>
                <a:spcPts val="1080"/>
              </a:spcAft>
            </a:pPr>
            <a:r>
              <a:rPr lang="en-US" dirty="0"/>
              <a:t>What’s the loss of significance?</a:t>
            </a:r>
          </a:p>
          <a:p>
            <a:pPr>
              <a:spcAft>
                <a:spcPts val="1080"/>
              </a:spcAft>
            </a:pPr>
            <a:r>
              <a:rPr lang="en-US" dirty="0"/>
              <a:t>How to solve this issue?</a:t>
            </a:r>
          </a:p>
        </p:txBody>
      </p:sp>
    </p:spTree>
    <p:extLst>
      <p:ext uri="{BB962C8B-B14F-4D97-AF65-F5344CB8AC3E}">
        <p14:creationId xmlns:p14="http://schemas.microsoft.com/office/powerpoint/2010/main" val="3834408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207B-8D0A-40B8-B8A0-BC5FDB4F6B68}"/>
              </a:ext>
            </a:extLst>
          </p:cNvPr>
          <p:cNvSpPr>
            <a:spLocks noGrp="1"/>
          </p:cNvSpPr>
          <p:nvPr>
            <p:ph type="title"/>
          </p:nvPr>
        </p:nvSpPr>
        <p:spPr/>
        <p:txBody>
          <a:bodyPr/>
          <a:lstStyle/>
          <a:p>
            <a:r>
              <a:rPr lang="en-US" dirty="0"/>
              <a:t>Loss of significance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C39E124-9E6A-4BFD-951E-5597FFF44B77}"/>
                  </a:ext>
                </a:extLst>
              </p:cNvPr>
              <p:cNvSpPr>
                <a:spLocks noGrp="1"/>
              </p:cNvSpPr>
              <p:nvPr>
                <p:ph idx="1"/>
              </p:nvPr>
            </p:nvSpPr>
            <p:spPr>
              <a:xfrm>
                <a:off x="754380" y="1937423"/>
                <a:ext cx="9464040" cy="3916204"/>
              </a:xfrm>
            </p:spPr>
            <p:txBody>
              <a:bodyPr/>
              <a:lstStyle/>
              <a:p>
                <a:pPr marL="0" indent="0">
                  <a:buNone/>
                </a:pPr>
                <a:r>
                  <a:rPr lang="en-US" dirty="0"/>
                  <a:t>Example 1, compute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100</m:t>
                        </m:r>
                      </m:num>
                      <m:den>
                        <m:r>
                          <a:rPr lang="en-US" b="0" i="1" smtClean="0">
                            <a:latin typeface="Cambria Math" panose="02040503050406030204" pitchFamily="18" charset="0"/>
                          </a:rPr>
                          <m:t>301</m:t>
                        </m:r>
                      </m:den>
                    </m:f>
                  </m:oMath>
                </a14:m>
                <a:r>
                  <a:rPr lang="en-US" dirty="0"/>
                  <a:t> by using </a:t>
                </a:r>
                <a:r>
                  <a:rPr lang="en-US" dirty="0">
                    <a:solidFill>
                      <a:srgbClr val="FF0000"/>
                    </a:solidFill>
                  </a:rPr>
                  <a:t>five significant digits</a:t>
                </a:r>
                <a:r>
                  <a:rPr lang="en-US" dirty="0"/>
                  <a:t> chopping arithmetic.</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𝑓𝑙</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)=0.33333    </m:t>
                      </m:r>
                      <m:r>
                        <a:rPr lang="en-US" b="0" i="1" smtClean="0">
                          <a:latin typeface="Cambria Math" panose="02040503050406030204" pitchFamily="18" charset="0"/>
                        </a:rPr>
                        <m:t>𝑓𝑙</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100</m:t>
                          </m:r>
                        </m:num>
                        <m:den>
                          <m:r>
                            <a:rPr lang="en-US" b="0" i="1" smtClean="0">
                              <a:latin typeface="Cambria Math" panose="02040503050406030204" pitchFamily="18" charset="0"/>
                            </a:rPr>
                            <m:t>301</m:t>
                          </m:r>
                        </m:den>
                      </m:f>
                      <m:r>
                        <a:rPr lang="en-US" b="0" i="1" smtClean="0">
                          <a:latin typeface="Cambria Math" panose="02040503050406030204" pitchFamily="18" charset="0"/>
                        </a:rPr>
                        <m:t>)=0.33222</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𝑓𝑙</m:t>
                      </m:r>
                      <m:d>
                        <m:dPr>
                          <m:ctrlPr>
                            <a:rPr lang="en-US" b="0" i="1" smtClean="0">
                              <a:latin typeface="Cambria Math" panose="02040503050406030204" pitchFamily="18" charset="0"/>
                            </a:rPr>
                          </m:ctrlPr>
                        </m:dPr>
                        <m:e>
                          <m:r>
                            <a:rPr lang="en-US" i="1">
                              <a:latin typeface="Cambria Math" panose="02040503050406030204" pitchFamily="18" charset="0"/>
                            </a:rPr>
                            <m:t>𝑓𝑙</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1</m:t>
                                  </m:r>
                                </m:num>
                                <m:den>
                                  <m:r>
                                    <a:rPr lang="en-US" i="1">
                                      <a:latin typeface="Cambria Math" panose="02040503050406030204" pitchFamily="18" charset="0"/>
                                    </a:rPr>
                                    <m:t>3</m:t>
                                  </m:r>
                                </m:den>
                              </m:f>
                            </m:e>
                          </m:d>
                          <m:r>
                            <a:rPr lang="en-US" b="0" i="1" smtClean="0">
                              <a:latin typeface="Cambria Math" panose="02040503050406030204" pitchFamily="18" charset="0"/>
                            </a:rPr>
                            <m:t>−</m:t>
                          </m:r>
                          <m:r>
                            <a:rPr lang="en-US" i="1">
                              <a:latin typeface="Cambria Math" panose="02040503050406030204" pitchFamily="18" charset="0"/>
                            </a:rPr>
                            <m:t>𝑓𝑙</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100</m:t>
                                  </m:r>
                                </m:num>
                                <m:den>
                                  <m:r>
                                    <a:rPr lang="en-US" b="0" i="1" smtClean="0">
                                      <a:latin typeface="Cambria Math" panose="02040503050406030204" pitchFamily="18" charset="0"/>
                                    </a:rPr>
                                    <m:t>301</m:t>
                                  </m:r>
                                </m:den>
                              </m:f>
                            </m:e>
                          </m:d>
                        </m:e>
                      </m:d>
                      <m:r>
                        <a:rPr lang="en-US" i="1">
                          <a:latin typeface="Cambria Math" panose="02040503050406030204" pitchFamily="18" charset="0"/>
                        </a:rPr>
                        <m:t>=</m:t>
                      </m:r>
                      <m:r>
                        <a:rPr lang="en-US" b="0" i="1" smtClean="0">
                          <a:latin typeface="Cambria Math" panose="02040503050406030204" pitchFamily="18" charset="0"/>
                        </a:rPr>
                        <m:t>𝑓𝑙</m:t>
                      </m:r>
                      <m:d>
                        <m:dPr>
                          <m:ctrlPr>
                            <a:rPr lang="en-US" b="0" i="1" smtClean="0">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33333−</m:t>
                          </m:r>
                          <m:r>
                            <a:rPr lang="en-US" i="1">
                              <a:latin typeface="Cambria Math" panose="02040503050406030204" pitchFamily="18" charset="0"/>
                            </a:rPr>
                            <m:t>0.</m:t>
                          </m:r>
                          <m:r>
                            <a:rPr lang="en-US" b="0" i="1" smtClean="0">
                              <a:latin typeface="Cambria Math" panose="02040503050406030204" pitchFamily="18" charset="0"/>
                            </a:rPr>
                            <m:t>33222</m:t>
                          </m:r>
                        </m:e>
                      </m:d>
                      <m:r>
                        <a:rPr lang="en-US" b="0" i="1" smtClean="0">
                          <a:latin typeface="Cambria Math" panose="02040503050406030204" pitchFamily="18" charset="0"/>
                        </a:rPr>
                        <m:t>=0.</m:t>
                      </m:r>
                      <m:r>
                        <a:rPr lang="en-US" altLang="zh-CN" b="0" i="1" dirty="0" smtClean="0">
                          <a:latin typeface="Cambria Math" panose="02040503050406030204" pitchFamily="18" charset="0"/>
                        </a:rPr>
                        <m:t>00111</m:t>
                      </m:r>
                    </m:oMath>
                  </m:oMathPara>
                </a14:m>
                <a:endParaRPr lang="en-US" dirty="0"/>
              </a:p>
              <a:p>
                <a:r>
                  <a:rPr lang="en-US" b="1" u="sng" dirty="0">
                    <a:highlight>
                      <a:srgbClr val="FFFF00"/>
                    </a:highlight>
                  </a:rPr>
                  <a:t>Loss of significance  </a:t>
                </a:r>
                <a:r>
                  <a:rPr lang="en-US" dirty="0">
                    <a:highlight>
                      <a:srgbClr val="FFFF00"/>
                    </a:highlight>
                  </a:rPr>
                  <a:t>typically happens when one gets too few significant digits in </a:t>
                </a:r>
                <a:r>
                  <a:rPr lang="en-US" u="sng" dirty="0">
                    <a:highlight>
                      <a:srgbClr val="FFFF00"/>
                    </a:highlight>
                  </a:rPr>
                  <a:t>subtraction</a:t>
                </a:r>
                <a:r>
                  <a:rPr lang="en-US" dirty="0">
                    <a:highlight>
                      <a:srgbClr val="FFFF00"/>
                    </a:highlight>
                  </a:rPr>
                  <a:t> of </a:t>
                </a:r>
                <a:r>
                  <a:rPr lang="en-US" u="sng" dirty="0">
                    <a:highlight>
                      <a:srgbClr val="FFFF00"/>
                    </a:highlight>
                  </a:rPr>
                  <a:t>two numbers very close to each other.</a:t>
                </a:r>
              </a:p>
              <a:p>
                <a:endParaRPr lang="en-US" dirty="0"/>
              </a:p>
            </p:txBody>
          </p:sp>
        </mc:Choice>
        <mc:Fallback>
          <p:sp>
            <p:nvSpPr>
              <p:cNvPr id="3" name="Content Placeholder 2">
                <a:extLst>
                  <a:ext uri="{FF2B5EF4-FFF2-40B4-BE49-F238E27FC236}">
                    <a16:creationId xmlns:a16="http://schemas.microsoft.com/office/drawing/2014/main" id="{8C39E124-9E6A-4BFD-951E-5597FFF44B77}"/>
                  </a:ext>
                </a:extLst>
              </p:cNvPr>
              <p:cNvSpPr>
                <a:spLocks noGrp="1" noRot="1" noChangeAspect="1" noMove="1" noResize="1" noEditPoints="1" noAdjustHandles="1" noChangeArrowheads="1" noChangeShapeType="1" noTextEdit="1"/>
              </p:cNvSpPr>
              <p:nvPr>
                <p:ph idx="1"/>
              </p:nvPr>
            </p:nvSpPr>
            <p:spPr>
              <a:xfrm>
                <a:off x="754380" y="1937423"/>
                <a:ext cx="9464040" cy="3916204"/>
              </a:xfrm>
              <a:blipFill>
                <a:blip r:embed="rId3"/>
                <a:stretch>
                  <a:fillRect l="-1160" t="-312" r="-109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2743136-7879-43BF-9E1E-15130A1B184B}"/>
              </a:ext>
            </a:extLst>
          </p:cNvPr>
          <p:cNvSpPr txBox="1"/>
          <p:nvPr/>
        </p:nvSpPr>
        <p:spPr>
          <a:xfrm>
            <a:off x="7656815" y="4093218"/>
            <a:ext cx="3425465" cy="400110"/>
          </a:xfrm>
          <a:prstGeom prst="rect">
            <a:avLst/>
          </a:prstGeom>
          <a:noFill/>
        </p:spPr>
        <p:txBody>
          <a:bodyPr wrap="square">
            <a:spAutoFit/>
          </a:bodyPr>
          <a:lstStyle/>
          <a:p>
            <a:r>
              <a:rPr lang="en-US" sz="2000" b="1" dirty="0">
                <a:solidFill>
                  <a:srgbClr val="FF0000"/>
                </a:solidFill>
              </a:rPr>
              <a:t>Three significant digits only!</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CDA5B53-6604-422C-8583-DC449EECA4DA}"/>
                  </a:ext>
                </a:extLst>
              </p:cNvPr>
              <p:cNvSpPr txBox="1"/>
              <p:nvPr/>
            </p:nvSpPr>
            <p:spPr>
              <a:xfrm>
                <a:off x="998982" y="5690913"/>
                <a:ext cx="9352026" cy="833433"/>
              </a:xfrm>
              <a:prstGeom prst="rect">
                <a:avLst/>
              </a:prstGeom>
              <a:noFill/>
            </p:spPr>
            <p:txBody>
              <a:bodyPr wrap="square">
                <a:spAutoFit/>
              </a:bodyPr>
              <a:lstStyle/>
              <a:p>
                <a:r>
                  <a:rPr lang="en-US" sz="2250" dirty="0"/>
                  <a:t>Example </a:t>
                </a:r>
                <a14:m>
                  <m:oMath xmlns:m="http://schemas.openxmlformats.org/officeDocument/2006/math">
                    <m:r>
                      <a:rPr lang="en-US" sz="2250" b="0" i="0" smtClean="0">
                        <a:latin typeface="Cambria Math" panose="02040503050406030204" pitchFamily="18" charset="0"/>
                      </a:rPr>
                      <m:t> </m:t>
                    </m:r>
                    <m:f>
                      <m:fPr>
                        <m:ctrlPr>
                          <a:rPr lang="en-US" sz="2250" i="1">
                            <a:latin typeface="Cambria Math" panose="02040503050406030204" pitchFamily="18" charset="0"/>
                          </a:rPr>
                        </m:ctrlPr>
                      </m:fPr>
                      <m:num>
                        <m:r>
                          <a:rPr lang="en-US" sz="2250" i="1">
                            <a:latin typeface="Cambria Math" panose="02040503050406030204" pitchFamily="18" charset="0"/>
                          </a:rPr>
                          <m:t>1001</m:t>
                        </m:r>
                      </m:num>
                      <m:den>
                        <m:r>
                          <a:rPr lang="en-US" sz="2250" i="1">
                            <a:latin typeface="Cambria Math" panose="02040503050406030204" pitchFamily="18" charset="0"/>
                          </a:rPr>
                          <m:t>6</m:t>
                        </m:r>
                      </m:den>
                    </m:f>
                    <m:r>
                      <a:rPr lang="en-US" sz="2250" i="1">
                        <a:latin typeface="Cambria Math" panose="02040503050406030204" pitchFamily="18" charset="0"/>
                      </a:rPr>
                      <m:t>−</m:t>
                    </m:r>
                    <m:f>
                      <m:fPr>
                        <m:ctrlPr>
                          <a:rPr lang="en-US" sz="2250" i="1">
                            <a:latin typeface="Cambria Math" panose="02040503050406030204" pitchFamily="18" charset="0"/>
                          </a:rPr>
                        </m:ctrlPr>
                      </m:fPr>
                      <m:num>
                        <m:r>
                          <a:rPr lang="en-US" sz="2250" i="1">
                            <a:latin typeface="Cambria Math" panose="02040503050406030204" pitchFamily="18" charset="0"/>
                          </a:rPr>
                          <m:t>1000</m:t>
                        </m:r>
                      </m:num>
                      <m:den>
                        <m:r>
                          <a:rPr lang="en-US" sz="2250" i="1">
                            <a:latin typeface="Cambria Math" panose="02040503050406030204" pitchFamily="18" charset="0"/>
                          </a:rPr>
                          <m:t>6</m:t>
                        </m:r>
                      </m:den>
                    </m:f>
                  </m:oMath>
                </a14:m>
                <a:r>
                  <a:rPr lang="en-US" sz="2250" dirty="0"/>
                  <a:t>  by using four significant digits rounding arithmetic.</a:t>
                </a:r>
              </a:p>
              <a:p>
                <a:endParaRPr lang="en-US" sz="1620" dirty="0"/>
              </a:p>
            </p:txBody>
          </p:sp>
        </mc:Choice>
        <mc:Fallback>
          <p:sp>
            <p:nvSpPr>
              <p:cNvPr id="7" name="TextBox 6">
                <a:extLst>
                  <a:ext uri="{FF2B5EF4-FFF2-40B4-BE49-F238E27FC236}">
                    <a16:creationId xmlns:a16="http://schemas.microsoft.com/office/drawing/2014/main" id="{6CDA5B53-6604-422C-8583-DC449EECA4DA}"/>
                  </a:ext>
                </a:extLst>
              </p:cNvPr>
              <p:cNvSpPr txBox="1">
                <a:spLocks noRot="1" noChangeAspect="1" noMove="1" noResize="1" noEditPoints="1" noAdjustHandles="1" noChangeArrowheads="1" noChangeShapeType="1" noTextEdit="1"/>
              </p:cNvSpPr>
              <p:nvPr/>
            </p:nvSpPr>
            <p:spPr>
              <a:xfrm>
                <a:off x="998982" y="5690913"/>
                <a:ext cx="9352026" cy="833433"/>
              </a:xfrm>
              <a:prstGeom prst="rect">
                <a:avLst/>
              </a:prstGeom>
              <a:blipFill>
                <a:blip r:embed="rId4"/>
                <a:stretch>
                  <a:fillRect l="-913"/>
                </a:stretch>
              </a:blipFill>
            </p:spPr>
            <p:txBody>
              <a:bodyPr/>
              <a:lstStyle/>
              <a:p>
                <a:r>
                  <a:rPr lang="en-US">
                    <a:noFill/>
                  </a:rPr>
                  <a:t> </a:t>
                </a:r>
              </a:p>
            </p:txBody>
          </p:sp>
        </mc:Fallback>
      </mc:AlternateContent>
    </p:spTree>
    <p:extLst>
      <p:ext uri="{BB962C8B-B14F-4D97-AF65-F5344CB8AC3E}">
        <p14:creationId xmlns:p14="http://schemas.microsoft.com/office/powerpoint/2010/main" val="38733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down)">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472D0-A8C5-4557-9C54-E883D53E4C67}"/>
              </a:ext>
            </a:extLst>
          </p:cNvPr>
          <p:cNvSpPr>
            <a:spLocks noGrp="1"/>
          </p:cNvSpPr>
          <p:nvPr>
            <p:ph type="title"/>
          </p:nvPr>
        </p:nvSpPr>
        <p:spPr/>
        <p:txBody>
          <a:bodyPr/>
          <a:lstStyle/>
          <a:p>
            <a:r>
              <a:rPr lang="en-US" dirty="0"/>
              <a:t>Loss of significance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DB87A2-7973-4B5F-A31E-4CD3DEB00973}"/>
                  </a:ext>
                </a:extLst>
              </p:cNvPr>
              <p:cNvSpPr>
                <a:spLocks noGrp="1"/>
              </p:cNvSpPr>
              <p:nvPr>
                <p:ph idx="1"/>
              </p:nvPr>
            </p:nvSpPr>
            <p:spPr/>
            <p:txBody>
              <a:bodyPr/>
              <a:lstStyle/>
              <a:p>
                <a:r>
                  <a:rPr lang="en-US" dirty="0"/>
                  <a:t>Two numbers very close to each other</a:t>
                </a:r>
              </a:p>
              <a:p>
                <a:pPr lvl="1"/>
                <a:r>
                  <a:rPr lang="en-US" b="0"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𝑚</m:t>
                        </m:r>
                        <m:r>
                          <a:rPr lang="en-US" b="0" i="1" smtClean="0">
                            <a:latin typeface="Cambria Math" panose="02040503050406030204" pitchFamily="18" charset="0"/>
                          </a:rPr>
                          <m:t>+1 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ℓ</m:t>
                        </m:r>
                      </m:sup>
                    </m:sSup>
                  </m:oMath>
                </a14:m>
                <a:endParaRPr lang="en-US" b="0" dirty="0"/>
              </a:p>
              <a:p>
                <a:pPr lvl="1"/>
                <a:r>
                  <a:rPr lang="en-US" b="0" dirty="0"/>
                  <a:t>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𝑚</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ℓ</m:t>
                        </m:r>
                      </m:sup>
                    </m:sSup>
                  </m:oMath>
                </a14:m>
                <a:endParaRPr lang="en-US" dirty="0"/>
              </a:p>
              <a:p>
                <a:pPr lvl="1"/>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=0.0⋯0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𝑚</m:t>
                        </m:r>
                        <m:r>
                          <a:rPr lang="en-US" b="0" i="1" smtClean="0">
                            <a:latin typeface="Cambria Math" panose="02040503050406030204" pitchFamily="18" charset="0"/>
                          </a:rPr>
                          <m:t>+1 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ℓ</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+1,⋯,</m:t>
                    </m:r>
                    <m:r>
                      <a:rPr lang="en-US" b="0" i="1" smtClean="0">
                        <a:latin typeface="Cambria Math" panose="02040503050406030204" pitchFamily="18" charset="0"/>
                      </a:rPr>
                      <m:t>𝑛</m:t>
                    </m:r>
                  </m:oMath>
                </a14:m>
                <a:endParaRPr lang="en-US" dirty="0"/>
              </a:p>
              <a:p>
                <a:pPr marL="411480" lvl="1" indent="0">
                  <a:buNone/>
                </a:pPr>
                <a:endParaRPr lang="en-US" dirty="0"/>
              </a:p>
              <a:p>
                <a:pPr marL="411480" lvl="1" indent="0">
                  <a:buNone/>
                </a:pPr>
                <a:endParaRPr lang="en-US" dirty="0"/>
              </a:p>
              <a:p>
                <a:pPr marL="205740" lvl="1">
                  <a:spcBef>
                    <a:spcPts val="900"/>
                  </a:spcBef>
                </a:pPr>
                <a:r>
                  <a:rPr lang="en-US" sz="2520" dirty="0"/>
                  <a:t>Example 2. Find the roots of </a:t>
                </a:r>
                <a14:m>
                  <m:oMath xmlns:m="http://schemas.openxmlformats.org/officeDocument/2006/math">
                    <m:sSup>
                      <m:sSupPr>
                        <m:ctrlPr>
                          <a:rPr lang="en-US" sz="2520" i="1">
                            <a:latin typeface="Cambria Math" panose="02040503050406030204" pitchFamily="18" charset="0"/>
                          </a:rPr>
                        </m:ctrlPr>
                      </m:sSupPr>
                      <m:e>
                        <m:r>
                          <a:rPr lang="en-US" sz="2520" i="1">
                            <a:latin typeface="Cambria Math" panose="02040503050406030204" pitchFamily="18" charset="0"/>
                          </a:rPr>
                          <m:t>𝑥</m:t>
                        </m:r>
                      </m:e>
                      <m:sup>
                        <m:r>
                          <a:rPr lang="en-US" sz="2520" i="1">
                            <a:latin typeface="Cambria Math" panose="02040503050406030204" pitchFamily="18" charset="0"/>
                          </a:rPr>
                          <m:t>2</m:t>
                        </m:r>
                      </m:sup>
                    </m:sSup>
                    <m:r>
                      <a:rPr lang="en-US" sz="2520" i="1">
                        <a:latin typeface="Cambria Math" panose="02040503050406030204" pitchFamily="18" charset="0"/>
                      </a:rPr>
                      <m:t>−40</m:t>
                    </m:r>
                    <m:r>
                      <a:rPr lang="en-US" sz="2520" i="1">
                        <a:latin typeface="Cambria Math" panose="02040503050406030204" pitchFamily="18" charset="0"/>
                      </a:rPr>
                      <m:t>𝑥</m:t>
                    </m:r>
                    <m:r>
                      <a:rPr lang="en-US" sz="2520" i="1">
                        <a:latin typeface="Cambria Math" panose="02040503050406030204" pitchFamily="18" charset="0"/>
                      </a:rPr>
                      <m:t>+2=0 </m:t>
                    </m:r>
                  </m:oMath>
                </a14:m>
                <a:r>
                  <a:rPr lang="en-US" sz="2520" dirty="0"/>
                  <a:t>by using 4 significant digits with rounding arithmetic.</a:t>
                </a:r>
              </a:p>
              <a:p>
                <a:pPr lvl="1"/>
                <a:endParaRPr lang="en-US" dirty="0"/>
              </a:p>
            </p:txBody>
          </p:sp>
        </mc:Choice>
        <mc:Fallback xmlns="">
          <p:sp>
            <p:nvSpPr>
              <p:cNvPr id="3" name="Content Placeholder 2">
                <a:extLst>
                  <a:ext uri="{FF2B5EF4-FFF2-40B4-BE49-F238E27FC236}">
                    <a16:creationId xmlns:a16="http://schemas.microsoft.com/office/drawing/2014/main" id="{5EDB87A2-7973-4B5F-A31E-4CD3DEB00973}"/>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1B86B9F4-3B4C-4D85-A91A-46193DA3724F}"/>
              </a:ext>
            </a:extLst>
          </p:cNvPr>
          <p:cNvSpPr txBox="1"/>
          <p:nvPr/>
        </p:nvSpPr>
        <p:spPr>
          <a:xfrm>
            <a:off x="7162062" y="2426879"/>
            <a:ext cx="3425465" cy="341632"/>
          </a:xfrm>
          <a:prstGeom prst="rect">
            <a:avLst/>
          </a:prstGeom>
          <a:noFill/>
        </p:spPr>
        <p:txBody>
          <a:bodyPr wrap="square">
            <a:spAutoFit/>
          </a:bodyPr>
          <a:lstStyle/>
          <a:p>
            <a:r>
              <a:rPr lang="en-US" sz="1620" b="1" dirty="0">
                <a:solidFill>
                  <a:srgbClr val="00B050"/>
                </a:solidFill>
              </a:rPr>
              <a:t>n significant digits</a:t>
            </a:r>
          </a:p>
        </p:txBody>
      </p:sp>
      <p:sp>
        <p:nvSpPr>
          <p:cNvPr id="5" name="TextBox 4">
            <a:extLst>
              <a:ext uri="{FF2B5EF4-FFF2-40B4-BE49-F238E27FC236}">
                <a16:creationId xmlns:a16="http://schemas.microsoft.com/office/drawing/2014/main" id="{D48C5586-F19C-4CA4-BB31-B616831F8E8E}"/>
              </a:ext>
            </a:extLst>
          </p:cNvPr>
          <p:cNvSpPr txBox="1"/>
          <p:nvPr/>
        </p:nvSpPr>
        <p:spPr>
          <a:xfrm>
            <a:off x="2864221" y="3504701"/>
            <a:ext cx="5244358" cy="523220"/>
          </a:xfrm>
          <a:prstGeom prst="rect">
            <a:avLst/>
          </a:prstGeom>
          <a:noFill/>
        </p:spPr>
        <p:txBody>
          <a:bodyPr wrap="square">
            <a:spAutoFit/>
          </a:bodyPr>
          <a:lstStyle/>
          <a:p>
            <a:r>
              <a:rPr lang="en-US" sz="2800" b="1" dirty="0">
                <a:solidFill>
                  <a:srgbClr val="FF0000"/>
                </a:solidFill>
              </a:rPr>
              <a:t>n-m significant digits</a:t>
            </a:r>
          </a:p>
        </p:txBody>
      </p:sp>
      <p:pic>
        <p:nvPicPr>
          <p:cNvPr id="6" name="Picture 5">
            <a:extLst>
              <a:ext uri="{FF2B5EF4-FFF2-40B4-BE49-F238E27FC236}">
                <a16:creationId xmlns:a16="http://schemas.microsoft.com/office/drawing/2014/main" id="{25A84C50-3729-4A55-9FA6-93AB529DFF55}"/>
              </a:ext>
            </a:extLst>
          </p:cNvPr>
          <p:cNvPicPr>
            <a:picLocks noChangeAspect="1"/>
          </p:cNvPicPr>
          <p:nvPr/>
        </p:nvPicPr>
        <p:blipFill>
          <a:blip r:embed="rId4"/>
          <a:stretch>
            <a:fillRect/>
          </a:stretch>
        </p:blipFill>
        <p:spPr>
          <a:xfrm>
            <a:off x="976028" y="5091243"/>
            <a:ext cx="6635115" cy="1405890"/>
          </a:xfrm>
          <a:prstGeom prst="rect">
            <a:avLst/>
          </a:prstGeom>
        </p:spPr>
      </p:pic>
    </p:spTree>
    <p:extLst>
      <p:ext uri="{BB962C8B-B14F-4D97-AF65-F5344CB8AC3E}">
        <p14:creationId xmlns:p14="http://schemas.microsoft.com/office/powerpoint/2010/main" val="367420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circle(in)">
                                      <p:cBhvr>
                                        <p:cTn id="2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472D0-A8C5-4557-9C54-E883D53E4C67}"/>
              </a:ext>
            </a:extLst>
          </p:cNvPr>
          <p:cNvSpPr>
            <a:spLocks noGrp="1"/>
          </p:cNvSpPr>
          <p:nvPr>
            <p:ph type="title"/>
          </p:nvPr>
        </p:nvSpPr>
        <p:spPr/>
        <p:txBody>
          <a:bodyPr/>
          <a:lstStyle/>
          <a:p>
            <a:r>
              <a:rPr lang="en-US" dirty="0"/>
              <a:t>Loss of significance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EDB87A2-7973-4B5F-A31E-4CD3DEB00973}"/>
                  </a:ext>
                </a:extLst>
              </p:cNvPr>
              <p:cNvSpPr>
                <a:spLocks noGrp="1"/>
              </p:cNvSpPr>
              <p:nvPr>
                <p:ph idx="1"/>
              </p:nvPr>
            </p:nvSpPr>
            <p:spPr>
              <a:xfrm>
                <a:off x="754380" y="1985962"/>
                <a:ext cx="9464040" cy="4282250"/>
              </a:xfrm>
            </p:spPr>
            <p:txBody>
              <a:bodyPr>
                <a:normAutofit/>
              </a:bodyPr>
              <a:lstStyle/>
              <a:p>
                <a:pPr marL="0" lvl="1" indent="0">
                  <a:spcBef>
                    <a:spcPts val="900"/>
                  </a:spcBef>
                  <a:buNone/>
                </a:pPr>
                <a:r>
                  <a:rPr lang="en-US" sz="2520" dirty="0"/>
                  <a:t>Example 2. Find the roots of </a:t>
                </a:r>
                <a14:m>
                  <m:oMath xmlns:m="http://schemas.openxmlformats.org/officeDocument/2006/math">
                    <m:sSup>
                      <m:sSupPr>
                        <m:ctrlPr>
                          <a:rPr lang="en-US" sz="2520" i="1">
                            <a:latin typeface="Cambria Math" panose="02040503050406030204" pitchFamily="18" charset="0"/>
                          </a:rPr>
                        </m:ctrlPr>
                      </m:sSupPr>
                      <m:e>
                        <m:r>
                          <a:rPr lang="en-US" sz="2520" i="1">
                            <a:latin typeface="Cambria Math" panose="02040503050406030204" pitchFamily="18" charset="0"/>
                          </a:rPr>
                          <m:t>𝑥</m:t>
                        </m:r>
                      </m:e>
                      <m:sup>
                        <m:r>
                          <a:rPr lang="en-US" sz="2520" i="1">
                            <a:latin typeface="Cambria Math" panose="02040503050406030204" pitchFamily="18" charset="0"/>
                          </a:rPr>
                          <m:t>2</m:t>
                        </m:r>
                      </m:sup>
                    </m:sSup>
                    <m:r>
                      <a:rPr lang="en-US" sz="2520" i="1">
                        <a:latin typeface="Cambria Math" panose="02040503050406030204" pitchFamily="18" charset="0"/>
                      </a:rPr>
                      <m:t>−40</m:t>
                    </m:r>
                    <m:r>
                      <a:rPr lang="en-US" sz="2520" i="1">
                        <a:latin typeface="Cambria Math" panose="02040503050406030204" pitchFamily="18" charset="0"/>
                      </a:rPr>
                      <m:t>𝑥</m:t>
                    </m:r>
                    <m:r>
                      <a:rPr lang="en-US" sz="2520" i="1">
                        <a:latin typeface="Cambria Math" panose="02040503050406030204" pitchFamily="18" charset="0"/>
                      </a:rPr>
                      <m:t>+2=0 </m:t>
                    </m:r>
                  </m:oMath>
                </a14:m>
                <a:r>
                  <a:rPr lang="en-US" sz="2520" dirty="0"/>
                  <a:t>by using </a:t>
                </a:r>
                <a:r>
                  <a:rPr lang="en-US" sz="2520" dirty="0">
                    <a:solidFill>
                      <a:srgbClr val="FF0000"/>
                    </a:solidFill>
                  </a:rPr>
                  <a:t>4 significant digits </a:t>
                </a:r>
                <a:r>
                  <a:rPr lang="en-US" sz="2520" dirty="0"/>
                  <a:t>with rounding arithmetic.</a:t>
                </a:r>
              </a:p>
              <a:p>
                <a:pPr marL="0" lvl="1" indent="0">
                  <a:spcBef>
                    <a:spcPts val="900"/>
                  </a:spcBef>
                  <a:buNone/>
                </a:pPr>
                <a:r>
                  <a:rPr lang="en-US" sz="2520" dirty="0"/>
                  <a:t>We have </a:t>
                </a:r>
              </a:p>
              <a:p>
                <a:pPr marL="0" lvl="1" indent="0">
                  <a:spcBef>
                    <a:spcPts val="900"/>
                  </a:spcBef>
                  <a:buNone/>
                </a:pPr>
                <a:endParaRPr lang="en-US" sz="2520" dirty="0"/>
              </a:p>
              <a:p>
                <a:pPr marL="0" lvl="1" indent="0">
                  <a:spcBef>
                    <a:spcPts val="900"/>
                  </a:spcBef>
                  <a:buNone/>
                </a:pPr>
                <a:endParaRPr lang="en-US" sz="2520" dirty="0"/>
              </a:p>
              <a:p>
                <a:pPr marL="0" lvl="1" indent="0">
                  <a:spcBef>
                    <a:spcPts val="900"/>
                  </a:spcBef>
                  <a:buNone/>
                </a:pPr>
                <a:endParaRPr lang="en-US" sz="2520" dirty="0"/>
              </a:p>
              <a:p>
                <a:pPr marL="0" lvl="1" indent="0">
                  <a:spcBef>
                    <a:spcPts val="900"/>
                  </a:spcBef>
                  <a:buNone/>
                </a:pPr>
                <a:endParaRPr lang="en-US" sz="2520" dirty="0"/>
              </a:p>
              <a:p>
                <a:pPr marL="0" lvl="1" indent="0">
                  <a:spcBef>
                    <a:spcPts val="900"/>
                  </a:spcBef>
                  <a:buNone/>
                </a:pPr>
                <a:r>
                  <a:rPr lang="en-US" sz="2520" dirty="0"/>
                  <a:t>To avoid it, we reformulate </a:t>
                </a:r>
                <a14:m>
                  <m:oMath xmlns:m="http://schemas.openxmlformats.org/officeDocument/2006/math">
                    <m:sSub>
                      <m:sSubPr>
                        <m:ctrlPr>
                          <a:rPr lang="en-US" sz="2520" i="1">
                            <a:latin typeface="Cambria Math" panose="02040503050406030204" pitchFamily="18" charset="0"/>
                          </a:rPr>
                        </m:ctrlPr>
                      </m:sSubPr>
                      <m:e>
                        <m:r>
                          <a:rPr lang="en-US" sz="2520" i="1">
                            <a:latin typeface="Cambria Math" panose="02040503050406030204" pitchFamily="18" charset="0"/>
                          </a:rPr>
                          <m:t>𝑥</m:t>
                        </m:r>
                      </m:e>
                      <m:sub>
                        <m:r>
                          <a:rPr lang="en-US" sz="2520" i="1">
                            <a:latin typeface="Cambria Math" panose="02040503050406030204" pitchFamily="18" charset="0"/>
                          </a:rPr>
                          <m:t>2</m:t>
                        </m:r>
                      </m:sub>
                    </m:sSub>
                    <m:r>
                      <a:rPr lang="en-US" sz="2520" i="1">
                        <a:latin typeface="Cambria Math" panose="02040503050406030204" pitchFamily="18" charset="0"/>
                      </a:rPr>
                      <m:t>:</m:t>
                    </m:r>
                  </m:oMath>
                </a14:m>
                <a:endParaRPr lang="en-US" sz="2520" dirty="0"/>
              </a:p>
              <a:p>
                <a:pPr marL="0" lvl="1" indent="0">
                  <a:spcBef>
                    <a:spcPts val="900"/>
                  </a:spcBef>
                  <a:buNone/>
                </a:pPr>
                <a14:m>
                  <m:oMath xmlns:m="http://schemas.openxmlformats.org/officeDocument/2006/math">
                    <m:r>
                      <a:rPr lang="en-US" sz="2520" i="1">
                        <a:latin typeface="Cambria Math" panose="02040503050406030204" pitchFamily="18" charset="0"/>
                      </a:rPr>
                      <m:t>20−</m:t>
                    </m:r>
                    <m:rad>
                      <m:radPr>
                        <m:degHide m:val="on"/>
                        <m:ctrlPr>
                          <a:rPr lang="en-US" sz="2520" i="1">
                            <a:latin typeface="Cambria Math" panose="02040503050406030204" pitchFamily="18" charset="0"/>
                          </a:rPr>
                        </m:ctrlPr>
                      </m:radPr>
                      <m:deg/>
                      <m:e>
                        <m:r>
                          <a:rPr lang="en-US" sz="2520" i="1">
                            <a:latin typeface="Cambria Math" panose="02040503050406030204" pitchFamily="18" charset="0"/>
                          </a:rPr>
                          <m:t>398</m:t>
                        </m:r>
                      </m:e>
                    </m:rad>
                  </m:oMath>
                </a14:m>
                <a:r>
                  <a:rPr lang="en-US" sz="2520" dirty="0"/>
                  <a:t>= </a:t>
                </a:r>
                <a14:m>
                  <m:oMath xmlns:m="http://schemas.openxmlformats.org/officeDocument/2006/math">
                    <m:f>
                      <m:fPr>
                        <m:ctrlPr>
                          <a:rPr lang="en-US" sz="2520" i="1">
                            <a:latin typeface="Cambria Math" panose="02040503050406030204" pitchFamily="18" charset="0"/>
                          </a:rPr>
                        </m:ctrlPr>
                      </m:fPr>
                      <m:num>
                        <m:r>
                          <a:rPr lang="en-US" sz="2520">
                            <a:latin typeface="Cambria Math" panose="02040503050406030204" pitchFamily="18" charset="0"/>
                          </a:rPr>
                          <m:t>(</m:t>
                        </m:r>
                        <m:r>
                          <a:rPr lang="en-US" sz="2520" i="1">
                            <a:latin typeface="Cambria Math" panose="02040503050406030204" pitchFamily="18" charset="0"/>
                          </a:rPr>
                          <m:t>20−</m:t>
                        </m:r>
                        <m:rad>
                          <m:radPr>
                            <m:degHide m:val="on"/>
                            <m:ctrlPr>
                              <a:rPr lang="en-US" sz="2520" i="1">
                                <a:latin typeface="Cambria Math" panose="02040503050406030204" pitchFamily="18" charset="0"/>
                              </a:rPr>
                            </m:ctrlPr>
                          </m:radPr>
                          <m:deg/>
                          <m:e>
                            <m:r>
                              <a:rPr lang="en-US" sz="2520" i="1">
                                <a:latin typeface="Cambria Math" panose="02040503050406030204" pitchFamily="18" charset="0"/>
                              </a:rPr>
                              <m:t>398</m:t>
                            </m:r>
                          </m:e>
                        </m:rad>
                        <m:r>
                          <m:rPr>
                            <m:nor/>
                          </m:rPr>
                          <a:rPr lang="en-US" sz="2520" dirty="0"/>
                          <m:t>)(</m:t>
                        </m:r>
                        <m:r>
                          <a:rPr lang="en-US" sz="2520" i="1">
                            <a:latin typeface="Cambria Math" panose="02040503050406030204" pitchFamily="18" charset="0"/>
                          </a:rPr>
                          <m:t>20+</m:t>
                        </m:r>
                        <m:rad>
                          <m:radPr>
                            <m:degHide m:val="on"/>
                            <m:ctrlPr>
                              <a:rPr lang="en-US" sz="2520" i="1">
                                <a:latin typeface="Cambria Math" panose="02040503050406030204" pitchFamily="18" charset="0"/>
                              </a:rPr>
                            </m:ctrlPr>
                          </m:radPr>
                          <m:deg/>
                          <m:e>
                            <m:r>
                              <a:rPr lang="en-US" sz="2520" i="1">
                                <a:latin typeface="Cambria Math" panose="02040503050406030204" pitchFamily="18" charset="0"/>
                              </a:rPr>
                              <m:t>398</m:t>
                            </m:r>
                          </m:e>
                        </m:rad>
                        <m:r>
                          <m:rPr>
                            <m:nor/>
                          </m:rPr>
                          <a:rPr lang="en-US" sz="2520" dirty="0"/>
                          <m:t>)</m:t>
                        </m:r>
                      </m:num>
                      <m:den>
                        <m:r>
                          <a:rPr lang="en-US" sz="2520" i="1">
                            <a:latin typeface="Cambria Math" panose="02040503050406030204" pitchFamily="18" charset="0"/>
                          </a:rPr>
                          <m:t>20+</m:t>
                        </m:r>
                        <m:rad>
                          <m:radPr>
                            <m:degHide m:val="on"/>
                            <m:ctrlPr>
                              <a:rPr lang="en-US" sz="2520" i="1">
                                <a:latin typeface="Cambria Math" panose="02040503050406030204" pitchFamily="18" charset="0"/>
                              </a:rPr>
                            </m:ctrlPr>
                          </m:radPr>
                          <m:deg/>
                          <m:e>
                            <m:r>
                              <a:rPr lang="en-US" sz="2520" i="1">
                                <a:latin typeface="Cambria Math" panose="02040503050406030204" pitchFamily="18" charset="0"/>
                              </a:rPr>
                              <m:t>398</m:t>
                            </m:r>
                          </m:e>
                        </m:rad>
                      </m:den>
                    </m:f>
                    <m:r>
                      <a:rPr lang="en-US" sz="2520">
                        <a:latin typeface="Cambria Math" panose="02040503050406030204" pitchFamily="18" charset="0"/>
                      </a:rPr>
                      <m:t>=</m:t>
                    </m:r>
                    <m:f>
                      <m:fPr>
                        <m:ctrlPr>
                          <a:rPr lang="en-US" sz="2520" i="1">
                            <a:latin typeface="Cambria Math" panose="02040503050406030204" pitchFamily="18" charset="0"/>
                          </a:rPr>
                        </m:ctrlPr>
                      </m:fPr>
                      <m:num>
                        <m:r>
                          <a:rPr lang="en-US" sz="2520">
                            <a:latin typeface="Cambria Math" panose="02040503050406030204" pitchFamily="18" charset="0"/>
                          </a:rPr>
                          <m:t>2</m:t>
                        </m:r>
                      </m:num>
                      <m:den>
                        <m:r>
                          <a:rPr lang="en-US" sz="2520" i="1" dirty="0">
                            <a:latin typeface="Cambria Math" panose="02040503050406030204" pitchFamily="18" charset="0"/>
                          </a:rPr>
                          <m:t>39.95</m:t>
                        </m:r>
                      </m:den>
                    </m:f>
                    <m:r>
                      <a:rPr lang="en-US" sz="2520" i="1">
                        <a:latin typeface="Cambria Math" panose="02040503050406030204" pitchFamily="18" charset="0"/>
                      </a:rPr>
                      <m:t>≈0.05006</m:t>
                    </m:r>
                  </m:oMath>
                </a14:m>
                <a:endParaRPr lang="en-US" sz="2520" dirty="0"/>
              </a:p>
              <a:p>
                <a:pPr lvl="1"/>
                <a:endParaRPr lang="en-US" dirty="0"/>
              </a:p>
            </p:txBody>
          </p:sp>
        </mc:Choice>
        <mc:Fallback>
          <p:sp>
            <p:nvSpPr>
              <p:cNvPr id="3" name="Content Placeholder 2">
                <a:extLst>
                  <a:ext uri="{FF2B5EF4-FFF2-40B4-BE49-F238E27FC236}">
                    <a16:creationId xmlns:a16="http://schemas.microsoft.com/office/drawing/2014/main" id="{5EDB87A2-7973-4B5F-A31E-4CD3DEB00973}"/>
                  </a:ext>
                </a:extLst>
              </p:cNvPr>
              <p:cNvSpPr>
                <a:spLocks noGrp="1" noRot="1" noChangeAspect="1" noMove="1" noResize="1" noEditPoints="1" noAdjustHandles="1" noChangeArrowheads="1" noChangeShapeType="1" noTextEdit="1"/>
              </p:cNvSpPr>
              <p:nvPr>
                <p:ph idx="1"/>
              </p:nvPr>
            </p:nvSpPr>
            <p:spPr>
              <a:xfrm>
                <a:off x="754380" y="1985962"/>
                <a:ext cx="9464040" cy="4282250"/>
              </a:xfrm>
              <a:blipFill>
                <a:blip r:embed="rId3"/>
                <a:stretch>
                  <a:fillRect l="-1160" t="-2137" r="-1031" b="-57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6B4218EE-5385-4F2C-88B6-90BF1FEB587E}"/>
              </a:ext>
            </a:extLst>
          </p:cNvPr>
          <p:cNvPicPr>
            <a:picLocks noChangeAspect="1"/>
          </p:cNvPicPr>
          <p:nvPr/>
        </p:nvPicPr>
        <p:blipFill>
          <a:blip r:embed="rId4"/>
          <a:stretch>
            <a:fillRect/>
          </a:stretch>
        </p:blipFill>
        <p:spPr>
          <a:xfrm>
            <a:off x="2472023" y="3163253"/>
            <a:ext cx="5169218" cy="531495"/>
          </a:xfrm>
          <a:prstGeom prst="rect">
            <a:avLst/>
          </a:prstGeom>
        </p:spPr>
      </p:pic>
      <p:pic>
        <p:nvPicPr>
          <p:cNvPr id="8" name="Picture 7">
            <a:extLst>
              <a:ext uri="{FF2B5EF4-FFF2-40B4-BE49-F238E27FC236}">
                <a16:creationId xmlns:a16="http://schemas.microsoft.com/office/drawing/2014/main" id="{01E97E37-81EC-4499-86C9-55A9431C8A76}"/>
              </a:ext>
            </a:extLst>
          </p:cNvPr>
          <p:cNvPicPr>
            <a:picLocks noChangeAspect="1"/>
          </p:cNvPicPr>
          <p:nvPr/>
        </p:nvPicPr>
        <p:blipFill>
          <a:blip r:embed="rId5"/>
          <a:stretch>
            <a:fillRect/>
          </a:stretch>
        </p:blipFill>
        <p:spPr>
          <a:xfrm>
            <a:off x="1653725" y="3804953"/>
            <a:ext cx="7149465" cy="1131570"/>
          </a:xfrm>
          <a:prstGeom prst="rect">
            <a:avLst/>
          </a:prstGeom>
        </p:spPr>
      </p:pic>
      <p:sp>
        <p:nvSpPr>
          <p:cNvPr id="10" name="TextBox 9">
            <a:extLst>
              <a:ext uri="{FF2B5EF4-FFF2-40B4-BE49-F238E27FC236}">
                <a16:creationId xmlns:a16="http://schemas.microsoft.com/office/drawing/2014/main" id="{0A6B56E7-9A68-4382-8134-CA9E22A8B9E9}"/>
              </a:ext>
            </a:extLst>
          </p:cNvPr>
          <p:cNvSpPr txBox="1"/>
          <p:nvPr/>
        </p:nvSpPr>
        <p:spPr>
          <a:xfrm>
            <a:off x="7641241" y="5741617"/>
            <a:ext cx="4245960" cy="397032"/>
          </a:xfrm>
          <a:prstGeom prst="rect">
            <a:avLst/>
          </a:prstGeom>
          <a:noFill/>
        </p:spPr>
        <p:txBody>
          <a:bodyPr wrap="square">
            <a:spAutoFit/>
          </a:bodyPr>
          <a:lstStyle/>
          <a:p>
            <a:r>
              <a:rPr lang="en-US" sz="1980" b="1" dirty="0">
                <a:solidFill>
                  <a:srgbClr val="00B050"/>
                </a:solidFill>
                <a:latin typeface="CMSS10"/>
              </a:rPr>
              <a:t>We get back 4 significant digits</a:t>
            </a:r>
            <a:endParaRPr lang="en-US" sz="1980" b="1" dirty="0">
              <a:solidFill>
                <a:srgbClr val="00B050"/>
              </a:solidFill>
            </a:endParaRPr>
          </a:p>
        </p:txBody>
      </p:sp>
    </p:spTree>
    <p:extLst>
      <p:ext uri="{BB962C8B-B14F-4D97-AF65-F5344CB8AC3E}">
        <p14:creationId xmlns:p14="http://schemas.microsoft.com/office/powerpoint/2010/main" val="344122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1000"/>
                                        <p:tgtEl>
                                          <p:spTgt spid="3">
                                            <p:txEl>
                                              <p:pRg st="6" end="6"/>
                                            </p:txEl>
                                          </p:spTgt>
                                        </p:tgtEl>
                                      </p:cBhvr>
                                    </p:animEffect>
                                    <p:anim calcmode="lin" valueType="num">
                                      <p:cBhvr>
                                        <p:cTn id="2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barn(inVertical)">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arn(inVertical)">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472D0-A8C5-4557-9C54-E883D53E4C67}"/>
              </a:ext>
            </a:extLst>
          </p:cNvPr>
          <p:cNvSpPr>
            <a:spLocks noGrp="1"/>
          </p:cNvSpPr>
          <p:nvPr>
            <p:ph type="title"/>
          </p:nvPr>
        </p:nvSpPr>
        <p:spPr/>
        <p:txBody>
          <a:bodyPr/>
          <a:lstStyle/>
          <a:p>
            <a:r>
              <a:rPr lang="en-US" dirty="0"/>
              <a:t>Loss of significance</a:t>
            </a:r>
          </a:p>
        </p:txBody>
      </p:sp>
      <p:pic>
        <p:nvPicPr>
          <p:cNvPr id="6" name="Picture 5">
            <a:extLst>
              <a:ext uri="{FF2B5EF4-FFF2-40B4-BE49-F238E27FC236}">
                <a16:creationId xmlns:a16="http://schemas.microsoft.com/office/drawing/2014/main" id="{69931A9A-032B-46DC-8D35-0B1A081D8FD1}"/>
              </a:ext>
            </a:extLst>
          </p:cNvPr>
          <p:cNvPicPr>
            <a:picLocks noChangeAspect="1"/>
          </p:cNvPicPr>
          <p:nvPr/>
        </p:nvPicPr>
        <p:blipFill>
          <a:blip r:embed="rId3"/>
          <a:stretch>
            <a:fillRect/>
          </a:stretch>
        </p:blipFill>
        <p:spPr>
          <a:xfrm>
            <a:off x="587216" y="1630438"/>
            <a:ext cx="9798368" cy="2245995"/>
          </a:xfrm>
          <a:prstGeom prst="rect">
            <a:avLst/>
          </a:prstGeom>
        </p:spPr>
      </p:pic>
      <p:pic>
        <p:nvPicPr>
          <p:cNvPr id="9" name="Picture 8">
            <a:extLst>
              <a:ext uri="{FF2B5EF4-FFF2-40B4-BE49-F238E27FC236}">
                <a16:creationId xmlns:a16="http://schemas.microsoft.com/office/drawing/2014/main" id="{F59C7592-143D-4FBF-ABD1-3C9CD13F3FC6}"/>
              </a:ext>
            </a:extLst>
          </p:cNvPr>
          <p:cNvPicPr>
            <a:picLocks noChangeAspect="1"/>
          </p:cNvPicPr>
          <p:nvPr/>
        </p:nvPicPr>
        <p:blipFill>
          <a:blip r:embed="rId4"/>
          <a:stretch>
            <a:fillRect/>
          </a:stretch>
        </p:blipFill>
        <p:spPr>
          <a:xfrm>
            <a:off x="480060" y="4027412"/>
            <a:ext cx="9738360" cy="1200150"/>
          </a:xfrm>
          <a:prstGeom prst="rect">
            <a:avLst/>
          </a:prstGeom>
        </p:spPr>
      </p:pic>
    </p:spTree>
    <p:extLst>
      <p:ext uri="{BB962C8B-B14F-4D97-AF65-F5344CB8AC3E}">
        <p14:creationId xmlns:p14="http://schemas.microsoft.com/office/powerpoint/2010/main" val="2102768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472D0-A8C5-4557-9C54-E883D53E4C67}"/>
              </a:ext>
            </a:extLst>
          </p:cNvPr>
          <p:cNvSpPr>
            <a:spLocks noGrp="1"/>
          </p:cNvSpPr>
          <p:nvPr>
            <p:ph type="title"/>
          </p:nvPr>
        </p:nvSpPr>
        <p:spPr/>
        <p:txBody>
          <a:bodyPr/>
          <a:lstStyle/>
          <a:p>
            <a:r>
              <a:rPr lang="en-US" dirty="0"/>
              <a:t>Loss of significance</a:t>
            </a:r>
          </a:p>
        </p:txBody>
      </p:sp>
      <p:pic>
        <p:nvPicPr>
          <p:cNvPr id="3" name="Picture 2">
            <a:extLst>
              <a:ext uri="{FF2B5EF4-FFF2-40B4-BE49-F238E27FC236}">
                <a16:creationId xmlns:a16="http://schemas.microsoft.com/office/drawing/2014/main" id="{9670B4FC-4B6D-498A-8AC6-63ED88FB282E}"/>
              </a:ext>
            </a:extLst>
          </p:cNvPr>
          <p:cNvPicPr>
            <a:picLocks noChangeAspect="1"/>
          </p:cNvPicPr>
          <p:nvPr/>
        </p:nvPicPr>
        <p:blipFill>
          <a:blip r:embed="rId2"/>
          <a:stretch>
            <a:fillRect/>
          </a:stretch>
        </p:blipFill>
        <p:spPr>
          <a:xfrm>
            <a:off x="1363028" y="2430670"/>
            <a:ext cx="8246745" cy="225456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C2D8F59-AE08-4E6E-8639-8AE3A3261304}"/>
                  </a:ext>
                </a:extLst>
              </p:cNvPr>
              <p:cNvSpPr txBox="1"/>
              <p:nvPr/>
            </p:nvSpPr>
            <p:spPr>
              <a:xfrm>
                <a:off x="923544" y="1916918"/>
                <a:ext cx="7004304" cy="438582"/>
              </a:xfrm>
              <a:prstGeom prst="rect">
                <a:avLst/>
              </a:prstGeom>
              <a:noFill/>
            </p:spPr>
            <p:txBody>
              <a:bodyPr wrap="square">
                <a:spAutoFit/>
              </a:bodyPr>
              <a:lstStyle/>
              <a:p>
                <a:pPr marL="0" lvl="1">
                  <a:spcBef>
                    <a:spcPts val="900"/>
                  </a:spcBef>
                </a:pPr>
                <a:r>
                  <a:rPr lang="en-US" sz="2250" dirty="0"/>
                  <a:t>To avoid this problem, we reformulate the function </a:t>
                </a:r>
                <a14:m>
                  <m:oMath xmlns:m="http://schemas.openxmlformats.org/officeDocument/2006/math">
                    <m:r>
                      <a:rPr lang="en-US" sz="2250" i="1">
                        <a:latin typeface="Cambria Math" panose="02040503050406030204" pitchFamily="18" charset="0"/>
                      </a:rPr>
                      <m:t>𝑓</m:t>
                    </m:r>
                    <m:r>
                      <a:rPr lang="en-US" sz="2250" i="1">
                        <a:latin typeface="Cambria Math" panose="02040503050406030204" pitchFamily="18" charset="0"/>
                      </a:rPr>
                      <m:t>(</m:t>
                    </m:r>
                    <m:r>
                      <a:rPr lang="en-US" sz="2250" i="1">
                        <a:latin typeface="Cambria Math" panose="02040503050406030204" pitchFamily="18" charset="0"/>
                      </a:rPr>
                      <m:t>𝑥</m:t>
                    </m:r>
                    <m:r>
                      <a:rPr lang="en-US" sz="2250" i="1">
                        <a:latin typeface="Cambria Math" panose="02040503050406030204" pitchFamily="18" charset="0"/>
                      </a:rPr>
                      <m:t>)</m:t>
                    </m:r>
                  </m:oMath>
                </a14:m>
                <a:endParaRPr lang="en-US" sz="2250" dirty="0"/>
              </a:p>
            </p:txBody>
          </p:sp>
        </mc:Choice>
        <mc:Fallback xmlns="">
          <p:sp>
            <p:nvSpPr>
              <p:cNvPr id="7" name="TextBox 6">
                <a:extLst>
                  <a:ext uri="{FF2B5EF4-FFF2-40B4-BE49-F238E27FC236}">
                    <a16:creationId xmlns:a16="http://schemas.microsoft.com/office/drawing/2014/main" id="{2C2D8F59-AE08-4E6E-8639-8AE3A3261304}"/>
                  </a:ext>
                </a:extLst>
              </p:cNvPr>
              <p:cNvSpPr txBox="1">
                <a:spLocks noRot="1" noChangeAspect="1" noMove="1" noResize="1" noEditPoints="1" noAdjustHandles="1" noChangeArrowheads="1" noChangeShapeType="1" noTextEdit="1"/>
              </p:cNvSpPr>
              <p:nvPr/>
            </p:nvSpPr>
            <p:spPr>
              <a:xfrm>
                <a:off x="923544" y="1916918"/>
                <a:ext cx="7004304" cy="438582"/>
              </a:xfrm>
              <a:prstGeom prst="rect">
                <a:avLst/>
              </a:prstGeom>
              <a:blipFill>
                <a:blip r:embed="rId3"/>
                <a:stretch>
                  <a:fillRect l="-1218" t="-8333" b="-29167"/>
                </a:stretch>
              </a:blipFill>
            </p:spPr>
            <p:txBody>
              <a:bodyPr/>
              <a:lstStyle/>
              <a:p>
                <a:r>
                  <a:rPr lang="en-US">
                    <a:noFill/>
                  </a:rPr>
                  <a:t> </a:t>
                </a:r>
              </a:p>
            </p:txBody>
          </p:sp>
        </mc:Fallback>
      </mc:AlternateContent>
    </p:spTree>
    <p:extLst>
      <p:ext uri="{BB962C8B-B14F-4D97-AF65-F5344CB8AC3E}">
        <p14:creationId xmlns:p14="http://schemas.microsoft.com/office/powerpoint/2010/main" val="566090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B1B681B-B768-AC15-215F-D4D025F2DF6B}"/>
              </a:ext>
            </a:extLst>
          </p:cNvPr>
          <p:cNvSpPr>
            <a:spLocks noGrp="1"/>
          </p:cNvSpPr>
          <p:nvPr>
            <p:ph idx="1"/>
          </p:nvPr>
        </p:nvSpPr>
        <p:spPr>
          <a:xfrm>
            <a:off x="554874" y="502140"/>
            <a:ext cx="9464040" cy="3916204"/>
          </a:xfrm>
        </p:spPr>
        <p:txBody>
          <a:bodyPr>
            <a:normAutofit/>
          </a:bodyPr>
          <a:lstStyle/>
          <a:p>
            <a:pPr marL="0" indent="0">
              <a:buNone/>
            </a:pPr>
            <a:r>
              <a:rPr lang="en" altLang="zh-CN" sz="3240" dirty="0">
                <a:latin typeface="Arial" panose="020B0604020202020204" pitchFamily="34" charset="0"/>
              </a:rPr>
              <a:t>Write (64.625)</a:t>
            </a:r>
            <a:r>
              <a:rPr lang="en" altLang="zh-CN" sz="3240" baseline="-25000" dirty="0">
                <a:latin typeface="Arial" panose="020B0604020202020204" pitchFamily="34" charset="0"/>
              </a:rPr>
              <a:t>10</a:t>
            </a:r>
            <a:r>
              <a:rPr lang="en" altLang="zh-CN" sz="3240" dirty="0">
                <a:latin typeface="Arial" panose="020B0604020202020204" pitchFamily="34" charset="0"/>
              </a:rPr>
              <a:t> into normalized scientific notation in binary. You could use the result in the previous problem. Then determine how it would look like in a 32-bit computer, using a single-precision floating point representation.</a:t>
            </a:r>
            <a:endParaRPr kumimoji="1" lang="zh-CN" altLang="en-US" sz="3240" dirty="0"/>
          </a:p>
        </p:txBody>
      </p:sp>
      <p:sp>
        <p:nvSpPr>
          <p:cNvPr id="5" name="文本框 4">
            <a:extLst>
              <a:ext uri="{FF2B5EF4-FFF2-40B4-BE49-F238E27FC236}">
                <a16:creationId xmlns:a16="http://schemas.microsoft.com/office/drawing/2014/main" id="{C37D4FBD-7F44-B461-9D0E-7E86CCEFD89B}"/>
              </a:ext>
            </a:extLst>
          </p:cNvPr>
          <p:cNvSpPr txBox="1"/>
          <p:nvPr/>
        </p:nvSpPr>
        <p:spPr>
          <a:xfrm>
            <a:off x="554874" y="5045881"/>
            <a:ext cx="5486400" cy="480131"/>
          </a:xfrm>
          <a:prstGeom prst="rect">
            <a:avLst/>
          </a:prstGeom>
          <a:noFill/>
        </p:spPr>
        <p:txBody>
          <a:bodyPr wrap="square">
            <a:spAutoFit/>
          </a:bodyPr>
          <a:lstStyle/>
          <a:p>
            <a:r>
              <a:rPr lang="en-US" altLang="zh-CN" sz="2520" dirty="0"/>
              <a:t>the value of the number is written as </a:t>
            </a:r>
            <a:endParaRPr lang="zh-CN" altLang="en-US" sz="2520" dirty="0"/>
          </a:p>
        </p:txBody>
      </p:sp>
      <p:pic>
        <p:nvPicPr>
          <p:cNvPr id="6" name="Picture 7">
            <a:extLst>
              <a:ext uri="{FF2B5EF4-FFF2-40B4-BE49-F238E27FC236}">
                <a16:creationId xmlns:a16="http://schemas.microsoft.com/office/drawing/2014/main" id="{431DDC2D-B8FC-8ED4-B3FB-746C627FF343}"/>
              </a:ext>
            </a:extLst>
          </p:cNvPr>
          <p:cNvPicPr>
            <a:picLocks noChangeAspect="1"/>
          </p:cNvPicPr>
          <p:nvPr/>
        </p:nvPicPr>
        <p:blipFill>
          <a:blip r:embed="rId2"/>
          <a:stretch>
            <a:fillRect/>
          </a:stretch>
        </p:blipFill>
        <p:spPr>
          <a:xfrm>
            <a:off x="3810733" y="5636696"/>
            <a:ext cx="3523298" cy="822960"/>
          </a:xfrm>
          <a:prstGeom prst="rect">
            <a:avLst/>
          </a:prstGeom>
        </p:spPr>
      </p:pic>
      <p:pic>
        <p:nvPicPr>
          <p:cNvPr id="7" name="Picture 6">
            <a:extLst>
              <a:ext uri="{FF2B5EF4-FFF2-40B4-BE49-F238E27FC236}">
                <a16:creationId xmlns:a16="http://schemas.microsoft.com/office/drawing/2014/main" id="{DBF0C426-153E-F1B0-D33F-897BF8B4C6AA}"/>
              </a:ext>
            </a:extLst>
          </p:cNvPr>
          <p:cNvPicPr>
            <a:picLocks noChangeAspect="1"/>
          </p:cNvPicPr>
          <p:nvPr/>
        </p:nvPicPr>
        <p:blipFill>
          <a:blip r:embed="rId3"/>
          <a:stretch>
            <a:fillRect/>
          </a:stretch>
        </p:blipFill>
        <p:spPr>
          <a:xfrm>
            <a:off x="960120" y="2799934"/>
            <a:ext cx="9052560" cy="2185988"/>
          </a:xfrm>
          <a:prstGeom prst="rect">
            <a:avLst/>
          </a:prstGeom>
        </p:spPr>
      </p:pic>
    </p:spTree>
    <p:extLst>
      <p:ext uri="{BB962C8B-B14F-4D97-AF65-F5344CB8AC3E}">
        <p14:creationId xmlns:p14="http://schemas.microsoft.com/office/powerpoint/2010/main" val="36689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482C13C-B8EA-1B8B-640C-3C1F8012A864}"/>
              </a:ext>
            </a:extLst>
          </p:cNvPr>
          <p:cNvPicPr>
            <a:picLocks noChangeAspect="1"/>
          </p:cNvPicPr>
          <p:nvPr/>
        </p:nvPicPr>
        <p:blipFill>
          <a:blip r:embed="rId2"/>
          <a:stretch>
            <a:fillRect/>
          </a:stretch>
        </p:blipFill>
        <p:spPr>
          <a:xfrm>
            <a:off x="554874" y="1528874"/>
            <a:ext cx="9594966" cy="3800253"/>
          </a:xfrm>
          <a:prstGeom prst="rect">
            <a:avLst/>
          </a:prstGeom>
        </p:spPr>
      </p:pic>
    </p:spTree>
    <p:extLst>
      <p:ext uri="{BB962C8B-B14F-4D97-AF65-F5344CB8AC3E}">
        <p14:creationId xmlns:p14="http://schemas.microsoft.com/office/powerpoint/2010/main" val="1213237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7E90-E98E-D966-CF62-39772793B97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F626BB2-72A8-BB4D-2DD8-CC664B3E870E}"/>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t>Overviews</a:t>
            </a:r>
            <a:endParaRPr lang="zh-CN" altLang="en-US" sz="3200" dirty="0"/>
          </a:p>
        </p:txBody>
      </p:sp>
      <p:sp>
        <p:nvSpPr>
          <p:cNvPr id="3" name="文本框 2">
            <a:extLst>
              <a:ext uri="{FF2B5EF4-FFF2-40B4-BE49-F238E27FC236}">
                <a16:creationId xmlns:a16="http://schemas.microsoft.com/office/drawing/2014/main" id="{466E8FA3-5B64-AF65-19B5-65F259400E2A}"/>
              </a:ext>
            </a:extLst>
          </p:cNvPr>
          <p:cNvSpPr txBox="1"/>
          <p:nvPr/>
        </p:nvSpPr>
        <p:spPr>
          <a:xfrm>
            <a:off x="1435145" y="1651177"/>
            <a:ext cx="9289875" cy="3154133"/>
          </a:xfrm>
          <a:prstGeom prst="rect">
            <a:avLst/>
          </a:prstGeom>
          <a:noFill/>
        </p:spPr>
        <p:txBody>
          <a:bodyPr wrap="square">
            <a:spAutoFit/>
          </a:bodyPr>
          <a:lstStyle/>
          <a:p>
            <a:pPr marL="342900" indent="-342900">
              <a:lnSpc>
                <a:spcPct val="250000"/>
              </a:lnSpc>
              <a:buFont typeface="Arial" panose="020B0604020202020204" pitchFamily="34" charset="0"/>
              <a:buChar char="•"/>
            </a:pPr>
            <a:r>
              <a:rPr lang="en-US" altLang="zh-CN" sz="2800" b="1" dirty="0">
                <a:solidFill>
                  <a:schemeClr val="bg1">
                    <a:lumMod val="65000"/>
                  </a:schemeClr>
                </a:solidFill>
              </a:rPr>
              <a:t>Loss of Significance</a:t>
            </a:r>
          </a:p>
          <a:p>
            <a:pPr marL="342900" indent="-342900">
              <a:lnSpc>
                <a:spcPct val="250000"/>
              </a:lnSpc>
              <a:buFont typeface="Arial" panose="020B0604020202020204" pitchFamily="34" charset="0"/>
              <a:buChar char="•"/>
            </a:pPr>
            <a:r>
              <a:rPr lang="en-US" altLang="zh-CN" sz="2800" b="1" dirty="0"/>
              <a:t>Gaussian Elimination with Scaled Partial Pivoting</a:t>
            </a:r>
          </a:p>
          <a:p>
            <a:pPr marL="342900" indent="-342900">
              <a:lnSpc>
                <a:spcPct val="250000"/>
              </a:lnSpc>
              <a:buFont typeface="Arial" panose="020B0604020202020204" pitchFamily="34" charset="0"/>
              <a:buChar char="•"/>
            </a:pPr>
            <a:r>
              <a:rPr lang="en-US" altLang="en-US" sz="2800" b="1" dirty="0">
                <a:solidFill>
                  <a:schemeClr val="bg1">
                    <a:lumMod val="65000"/>
                  </a:schemeClr>
                </a:solidFill>
              </a:rPr>
              <a:t>LU F</a:t>
            </a:r>
            <a:r>
              <a:rPr lang="en-US" altLang="zh-CN" sz="2800" b="1" dirty="0">
                <a:solidFill>
                  <a:schemeClr val="bg1">
                    <a:lumMod val="65000"/>
                  </a:schemeClr>
                </a:solidFill>
              </a:rPr>
              <a:t>ac</a:t>
            </a:r>
            <a:r>
              <a:rPr lang="en-US" altLang="zh-CN" sz="2800" b="1" i="1" dirty="0">
                <a:solidFill>
                  <a:schemeClr val="bg1">
                    <a:lumMod val="65000"/>
                  </a:schemeClr>
                </a:solidFill>
              </a:rPr>
              <a:t>toriz</a:t>
            </a:r>
            <a:r>
              <a:rPr lang="en-US" altLang="zh-CN" sz="2800" b="1" dirty="0">
                <a:solidFill>
                  <a:schemeClr val="bg1">
                    <a:lumMod val="65000"/>
                  </a:schemeClr>
                </a:solidFill>
              </a:rPr>
              <a:t>ation</a:t>
            </a:r>
          </a:p>
        </p:txBody>
      </p:sp>
    </p:spTree>
    <p:extLst>
      <p:ext uri="{BB962C8B-B14F-4D97-AF65-F5344CB8AC3E}">
        <p14:creationId xmlns:p14="http://schemas.microsoft.com/office/powerpoint/2010/main" val="464968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7ABB5-2A33-153C-9607-45F3A6C1338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6AAC5421-5691-5CA0-1AF4-CA900C518864}"/>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E</a:t>
            </a:r>
            <a:r>
              <a:rPr lang="en-US" altLang="zh-CN" sz="3200" b="1" dirty="0"/>
              <a:t>xample</a:t>
            </a:r>
            <a:endParaRPr lang="en-US" sz="3200" b="1" dirty="0"/>
          </a:p>
        </p:txBody>
      </p:sp>
      <p:graphicFrame>
        <p:nvGraphicFramePr>
          <p:cNvPr id="4" name="Object 11">
            <a:extLst>
              <a:ext uri="{FF2B5EF4-FFF2-40B4-BE49-F238E27FC236}">
                <a16:creationId xmlns:a16="http://schemas.microsoft.com/office/drawing/2014/main" id="{74EA1734-C28D-2EB6-2410-C3FF89F88A55}"/>
              </a:ext>
            </a:extLst>
          </p:cNvPr>
          <p:cNvGraphicFramePr>
            <a:graphicFrameLocks noChangeAspect="1"/>
          </p:cNvGraphicFramePr>
          <p:nvPr>
            <p:extLst>
              <p:ext uri="{D42A27DB-BD31-4B8C-83A1-F6EECF244321}">
                <p14:modId xmlns:p14="http://schemas.microsoft.com/office/powerpoint/2010/main" val="486315009"/>
              </p:ext>
            </p:extLst>
          </p:nvPr>
        </p:nvGraphicFramePr>
        <p:xfrm>
          <a:off x="2819400" y="1480891"/>
          <a:ext cx="5334000" cy="1778000"/>
        </p:xfrm>
        <a:graphic>
          <a:graphicData uri="http://schemas.openxmlformats.org/presentationml/2006/ole">
            <mc:AlternateContent xmlns:mc="http://schemas.openxmlformats.org/markup-compatibility/2006">
              <mc:Choice xmlns:v="urn:schemas-microsoft-com:vml" Requires="v">
                <p:oleObj name="Equation" r:id="rId2" imgW="2133600" imgH="711200" progId="Equation.3">
                  <p:embed/>
                </p:oleObj>
              </mc:Choice>
              <mc:Fallback>
                <p:oleObj name="Equation" r:id="rId2" imgW="2133600" imgH="711200" progId="Equation.3">
                  <p:embed/>
                  <p:pic>
                    <p:nvPicPr>
                      <p:cNvPr id="7" name="Object 11">
                        <a:extLst>
                          <a:ext uri="{FF2B5EF4-FFF2-40B4-BE49-F238E27FC236}">
                            <a16:creationId xmlns:a16="http://schemas.microsoft.com/office/drawing/2014/main" id="{1127AB1C-160B-9500-E54D-3E084A2A00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480891"/>
                        <a:ext cx="5334000" cy="177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2">
            <a:extLst>
              <a:ext uri="{FF2B5EF4-FFF2-40B4-BE49-F238E27FC236}">
                <a16:creationId xmlns:a16="http://schemas.microsoft.com/office/drawing/2014/main" id="{6E27CC81-B7D3-2308-E5D9-8FEB10D48252}"/>
              </a:ext>
            </a:extLst>
          </p:cNvPr>
          <p:cNvSpPr txBox="1">
            <a:spLocks noChangeArrowheads="1"/>
          </p:cNvSpPr>
          <p:nvPr/>
        </p:nvSpPr>
        <p:spPr bwMode="auto">
          <a:xfrm>
            <a:off x="1243183" y="3595462"/>
            <a:ext cx="876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lgn="ctr" eaLnBrk="1" hangingPunct="1">
              <a:spcBef>
                <a:spcPct val="50000"/>
              </a:spcBef>
              <a:buFontTx/>
              <a:buNone/>
            </a:pPr>
            <a:r>
              <a:rPr lang="en-US" altLang="en-US" sz="2400" dirty="0"/>
              <a:t>Exact Solution</a:t>
            </a:r>
          </a:p>
        </p:txBody>
      </p:sp>
      <p:graphicFrame>
        <p:nvGraphicFramePr>
          <p:cNvPr id="6" name="Object 13">
            <a:extLst>
              <a:ext uri="{FF2B5EF4-FFF2-40B4-BE49-F238E27FC236}">
                <a16:creationId xmlns:a16="http://schemas.microsoft.com/office/drawing/2014/main" id="{B5B537CD-1694-E546-AD84-0928B130B8C1}"/>
              </a:ext>
            </a:extLst>
          </p:cNvPr>
          <p:cNvGraphicFramePr>
            <a:graphicFrameLocks noChangeAspect="1"/>
          </p:cNvGraphicFramePr>
          <p:nvPr>
            <p:extLst>
              <p:ext uri="{D42A27DB-BD31-4B8C-83A1-F6EECF244321}">
                <p14:modId xmlns:p14="http://schemas.microsoft.com/office/powerpoint/2010/main" val="2789145082"/>
              </p:ext>
            </p:extLst>
          </p:nvPr>
        </p:nvGraphicFramePr>
        <p:xfrm>
          <a:off x="4617243" y="4232042"/>
          <a:ext cx="1738313" cy="1803400"/>
        </p:xfrm>
        <a:graphic>
          <a:graphicData uri="http://schemas.openxmlformats.org/presentationml/2006/ole">
            <mc:AlternateContent xmlns:mc="http://schemas.openxmlformats.org/markup-compatibility/2006">
              <mc:Choice xmlns:v="urn:schemas-microsoft-com:vml" Requires="v">
                <p:oleObj name="Equation" r:id="rId4" imgW="685800" imgH="711200" progId="Equation.3">
                  <p:embed/>
                </p:oleObj>
              </mc:Choice>
              <mc:Fallback>
                <p:oleObj name="Equation" r:id="rId4" imgW="685800" imgH="711200" progId="Equation.3">
                  <p:embed/>
                  <p:pic>
                    <p:nvPicPr>
                      <p:cNvPr id="12" name="Object 13">
                        <a:extLst>
                          <a:ext uri="{FF2B5EF4-FFF2-40B4-BE49-F238E27FC236}">
                            <a16:creationId xmlns:a16="http://schemas.microsoft.com/office/drawing/2014/main" id="{71A6FFC0-170F-7425-768F-D982208BBF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7243" y="4232042"/>
                        <a:ext cx="1738313"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Box 8">
            <a:extLst>
              <a:ext uri="{FF2B5EF4-FFF2-40B4-BE49-F238E27FC236}">
                <a16:creationId xmlns:a16="http://schemas.microsoft.com/office/drawing/2014/main" id="{1A13D42A-FD0F-E9CD-7D9D-34BA2BA55DAB}"/>
              </a:ext>
            </a:extLst>
          </p:cNvPr>
          <p:cNvSpPr txBox="1"/>
          <p:nvPr/>
        </p:nvSpPr>
        <p:spPr>
          <a:xfrm>
            <a:off x="811033" y="1018928"/>
            <a:ext cx="1719381" cy="461665"/>
          </a:xfrm>
          <a:prstGeom prst="rect">
            <a:avLst/>
          </a:prstGeom>
          <a:noFill/>
        </p:spPr>
        <p:txBody>
          <a:bodyPr wrap="none" rtlCol="0">
            <a:spAutoFit/>
          </a:bodyPr>
          <a:lstStyle/>
          <a:p>
            <a:r>
              <a:rPr lang="en-US" sz="2400" b="1" dirty="0"/>
              <a:t>E</a:t>
            </a:r>
            <a:r>
              <a:rPr lang="en-US" altLang="zh-CN" sz="2400" b="1" dirty="0"/>
              <a:t>xample 1:</a:t>
            </a:r>
            <a:endParaRPr lang="en-US" sz="2400" b="1" dirty="0"/>
          </a:p>
        </p:txBody>
      </p:sp>
    </p:spTree>
    <p:extLst>
      <p:ext uri="{BB962C8B-B14F-4D97-AF65-F5344CB8AC3E}">
        <p14:creationId xmlns:p14="http://schemas.microsoft.com/office/powerpoint/2010/main" val="1372077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14CD-DF82-045F-D8DF-73D44736710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F3E55CD-F84B-10CA-C460-29D4E1934510}"/>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E</a:t>
            </a:r>
            <a:r>
              <a:rPr lang="en-US" altLang="zh-CN" sz="3200" b="1" dirty="0"/>
              <a:t>xample</a:t>
            </a:r>
            <a:endParaRPr lang="en-US" sz="3200" b="1" dirty="0"/>
          </a:p>
        </p:txBody>
      </p:sp>
      <p:sp>
        <p:nvSpPr>
          <p:cNvPr id="3" name="TextBox 2">
            <a:extLst>
              <a:ext uri="{FF2B5EF4-FFF2-40B4-BE49-F238E27FC236}">
                <a16:creationId xmlns:a16="http://schemas.microsoft.com/office/drawing/2014/main" id="{51A1EE2C-D0DC-3022-4F67-C346B7F06094}"/>
              </a:ext>
            </a:extLst>
          </p:cNvPr>
          <p:cNvSpPr txBox="1"/>
          <p:nvPr/>
        </p:nvSpPr>
        <p:spPr>
          <a:xfrm>
            <a:off x="811033" y="1018928"/>
            <a:ext cx="1719381" cy="461665"/>
          </a:xfrm>
          <a:prstGeom prst="rect">
            <a:avLst/>
          </a:prstGeom>
          <a:noFill/>
        </p:spPr>
        <p:txBody>
          <a:bodyPr wrap="none" rtlCol="0">
            <a:spAutoFit/>
          </a:bodyPr>
          <a:lstStyle/>
          <a:p>
            <a:r>
              <a:rPr lang="en-US" sz="2400" b="1" dirty="0"/>
              <a:t>E</a:t>
            </a:r>
            <a:r>
              <a:rPr lang="en-US" altLang="zh-CN" sz="2400" b="1" dirty="0"/>
              <a:t>xample 2:</a:t>
            </a:r>
            <a:endParaRPr lang="en-US" sz="2400" b="1" dirty="0"/>
          </a:p>
        </p:txBody>
      </p:sp>
      <mc:AlternateContent xmlns:mc="http://schemas.openxmlformats.org/markup-compatibility/2006">
        <mc:Choice xmlns:a14="http://schemas.microsoft.com/office/drawing/2010/main" Requires="a14">
          <p:sp>
            <p:nvSpPr>
              <p:cNvPr id="5" name="文本框 7">
                <a:extLst>
                  <a:ext uri="{FF2B5EF4-FFF2-40B4-BE49-F238E27FC236}">
                    <a16:creationId xmlns:a16="http://schemas.microsoft.com/office/drawing/2014/main" id="{E48629D3-7008-1662-79F2-AA117D95C481}"/>
                  </a:ext>
                </a:extLst>
              </p:cNvPr>
              <p:cNvSpPr txBox="1"/>
              <p:nvPr/>
            </p:nvSpPr>
            <p:spPr>
              <a:xfrm>
                <a:off x="3029484" y="1627471"/>
                <a:ext cx="5136471" cy="14789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5400" i="1" smtClean="0">
                              <a:latin typeface="Cambria Math" panose="02040503050406030204" pitchFamily="18" charset="0"/>
                            </a:rPr>
                          </m:ctrlPr>
                        </m:dPr>
                        <m:e>
                          <m:eqArr>
                            <m:eqArrPr>
                              <m:ctrlPr>
                                <a:rPr lang="en-US" sz="5400" i="1">
                                  <a:latin typeface="Cambria Math" panose="02040503050406030204" pitchFamily="18" charset="0"/>
                                </a:rPr>
                              </m:ctrlPr>
                            </m:eqArrPr>
                            <m:e>
                              <m:r>
                                <a:rPr lang="en-US" sz="5400" i="1">
                                  <a:latin typeface="Cambria Math" panose="02040503050406030204" pitchFamily="18" charset="0"/>
                                </a:rPr>
                                <m:t>𝜀</m:t>
                              </m:r>
                              <m:r>
                                <a:rPr lang="en-US" sz="5400" i="1">
                                  <a:latin typeface="Cambria Math" panose="02040503050406030204" pitchFamily="18" charset="0"/>
                                </a:rPr>
                                <m:t>   1</m:t>
                              </m:r>
                            </m:e>
                            <m:e>
                              <m:r>
                                <a:rPr lang="en-US" sz="5400" b="0" i="1" smtClean="0">
                                  <a:latin typeface="Cambria Math" panose="02040503050406030204" pitchFamily="18" charset="0"/>
                                </a:rPr>
                                <m:t>1</m:t>
                              </m:r>
                              <m:r>
                                <a:rPr lang="en-US" sz="5400" i="1">
                                  <a:latin typeface="Cambria Math" panose="02040503050406030204" pitchFamily="18" charset="0"/>
                                </a:rPr>
                                <m:t>   1</m:t>
                              </m:r>
                            </m:e>
                          </m:eqArr>
                        </m:e>
                      </m:d>
                      <m:r>
                        <a:rPr lang="en-US" sz="5400" i="1">
                          <a:latin typeface="Cambria Math" panose="02040503050406030204" pitchFamily="18" charset="0"/>
                        </a:rPr>
                        <m:t> </m:t>
                      </m:r>
                      <m:d>
                        <m:dPr>
                          <m:begChr m:val="["/>
                          <m:endChr m:val="]"/>
                          <m:ctrlPr>
                            <a:rPr lang="en-US" sz="5400" i="1" smtClean="0">
                              <a:latin typeface="Cambria Math" panose="02040503050406030204" pitchFamily="18" charset="0"/>
                            </a:rPr>
                          </m:ctrlPr>
                        </m:dPr>
                        <m:e>
                          <m:eqArr>
                            <m:eqArrPr>
                              <m:ctrlPr>
                                <a:rPr lang="en-US" sz="5400" b="0" i="1" smtClean="0">
                                  <a:latin typeface="Cambria Math" panose="02040503050406030204" pitchFamily="18" charset="0"/>
                                </a:rPr>
                              </m:ctrlPr>
                            </m:eqArrPr>
                            <m:e>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𝑥</m:t>
                                  </m:r>
                                </m:e>
                                <m:sub>
                                  <m:r>
                                    <a:rPr lang="en-US" sz="5400" b="0" i="1" smtClean="0">
                                      <a:latin typeface="Cambria Math" panose="02040503050406030204" pitchFamily="18" charset="0"/>
                                    </a:rPr>
                                    <m:t>1</m:t>
                                  </m:r>
                                </m:sub>
                              </m:sSub>
                            </m:e>
                            <m:e>
                              <m:sSub>
                                <m:sSubPr>
                                  <m:ctrlPr>
                                    <a:rPr lang="en-US" sz="5400" i="1">
                                      <a:latin typeface="Cambria Math" panose="02040503050406030204" pitchFamily="18" charset="0"/>
                                    </a:rPr>
                                  </m:ctrlPr>
                                </m:sSubPr>
                                <m:e>
                                  <m:r>
                                    <a:rPr lang="en-US" sz="5400" b="0" i="1" smtClean="0">
                                      <a:latin typeface="Cambria Math" panose="02040503050406030204" pitchFamily="18" charset="0"/>
                                    </a:rPr>
                                    <m:t>𝑥</m:t>
                                  </m:r>
                                </m:e>
                                <m:sub>
                                  <m:r>
                                    <a:rPr lang="en-US" sz="5400" b="0" i="1" smtClean="0">
                                      <a:latin typeface="Cambria Math" panose="02040503050406030204" pitchFamily="18" charset="0"/>
                                    </a:rPr>
                                    <m:t>2</m:t>
                                  </m:r>
                                </m:sub>
                              </m:sSub>
                            </m:e>
                          </m:eqArr>
                        </m:e>
                      </m:d>
                      <m:r>
                        <a:rPr lang="en-US" sz="5400" b="0" i="1" smtClean="0">
                          <a:latin typeface="Cambria Math" panose="02040503050406030204" pitchFamily="18" charset="0"/>
                        </a:rPr>
                        <m:t>=</m:t>
                      </m:r>
                      <m:d>
                        <m:dPr>
                          <m:begChr m:val="["/>
                          <m:endChr m:val="]"/>
                          <m:ctrlPr>
                            <a:rPr lang="en-US" sz="5400" i="1">
                              <a:latin typeface="Cambria Math" panose="02040503050406030204" pitchFamily="18" charset="0"/>
                            </a:rPr>
                          </m:ctrlPr>
                        </m:dPr>
                        <m:e>
                          <m:eqArr>
                            <m:eqArrPr>
                              <m:ctrlPr>
                                <a:rPr lang="en-US" sz="5400" i="1">
                                  <a:latin typeface="Cambria Math" panose="02040503050406030204" pitchFamily="18" charset="0"/>
                                </a:rPr>
                              </m:ctrlPr>
                            </m:eqArrPr>
                            <m:e>
                              <m:r>
                                <a:rPr lang="en-US" sz="5400" b="0" i="1" smtClean="0">
                                  <a:latin typeface="Cambria Math" panose="02040503050406030204" pitchFamily="18" charset="0"/>
                                </a:rPr>
                                <m:t>1</m:t>
                              </m:r>
                            </m:e>
                            <m:e>
                              <m:r>
                                <a:rPr lang="en-US" sz="5400" b="0" i="1" smtClean="0">
                                  <a:latin typeface="Cambria Math" panose="02040503050406030204" pitchFamily="18" charset="0"/>
                                </a:rPr>
                                <m:t>2</m:t>
                              </m:r>
                            </m:e>
                          </m:eqArr>
                        </m:e>
                      </m:d>
                    </m:oMath>
                  </m:oMathPara>
                </a14:m>
                <a:endParaRPr lang="en-US" i="1" dirty="0"/>
              </a:p>
            </p:txBody>
          </p:sp>
        </mc:Choice>
        <mc:Fallback>
          <p:sp>
            <p:nvSpPr>
              <p:cNvPr id="5" name="文本框 7">
                <a:extLst>
                  <a:ext uri="{FF2B5EF4-FFF2-40B4-BE49-F238E27FC236}">
                    <a16:creationId xmlns:a16="http://schemas.microsoft.com/office/drawing/2014/main" id="{E48629D3-7008-1662-79F2-AA117D95C481}"/>
                  </a:ext>
                </a:extLst>
              </p:cNvPr>
              <p:cNvSpPr txBox="1">
                <a:spLocks noRot="1" noChangeAspect="1" noMove="1" noResize="1" noEditPoints="1" noAdjustHandles="1" noChangeArrowheads="1" noChangeShapeType="1" noTextEdit="1"/>
              </p:cNvSpPr>
              <p:nvPr/>
            </p:nvSpPr>
            <p:spPr>
              <a:xfrm>
                <a:off x="3029484" y="1627471"/>
                <a:ext cx="5136471" cy="147899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C3F692B-2CCD-9219-970C-65BB507CDA32}"/>
                  </a:ext>
                </a:extLst>
              </p:cNvPr>
              <p:cNvSpPr txBox="1"/>
              <p:nvPr/>
            </p:nvSpPr>
            <p:spPr>
              <a:xfrm>
                <a:off x="383558" y="3070964"/>
                <a:ext cx="5569248" cy="19423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𝒙</m:t>
                          </m:r>
                        </m:e>
                        <m:sub>
                          <m:r>
                            <a:rPr lang="en-US" sz="3600" b="1" i="1" smtClean="0">
                              <a:latin typeface="Cambria Math" panose="02040503050406030204" pitchFamily="18" charset="0"/>
                            </a:rPr>
                            <m:t>𝟐</m:t>
                          </m:r>
                        </m:sub>
                      </m:sSub>
                      <m:r>
                        <a:rPr lang="en-US" sz="3600" b="1" i="1" smtClean="0">
                          <a:latin typeface="Cambria Math" panose="02040503050406030204" pitchFamily="18" charset="0"/>
                        </a:rPr>
                        <m:t>= </m:t>
                      </m:r>
                      <m:f>
                        <m:fPr>
                          <m:ctrlPr>
                            <a:rPr lang="en-US" sz="3600" b="1" i="1" smtClean="0">
                              <a:latin typeface="Cambria Math" panose="02040503050406030204" pitchFamily="18" charset="0"/>
                            </a:rPr>
                          </m:ctrlPr>
                        </m:fPr>
                        <m:num>
                          <m:r>
                            <a:rPr lang="en-US" sz="3600" b="1" i="1" smtClean="0">
                              <a:latin typeface="Cambria Math" panose="02040503050406030204" pitchFamily="18" charset="0"/>
                            </a:rPr>
                            <m:t>𝟐</m:t>
                          </m:r>
                          <m:r>
                            <a:rPr lang="en-US" sz="3600" b="1" i="1" smtClean="0">
                              <a:latin typeface="Cambria Math" panose="02040503050406030204" pitchFamily="18" charset="0"/>
                            </a:rPr>
                            <m:t>−</m:t>
                          </m:r>
                          <m:f>
                            <m:fPr>
                              <m:ctrlPr>
                                <a:rPr lang="en-US" sz="3600" b="1" i="1" smtClean="0">
                                  <a:latin typeface="Cambria Math" panose="02040503050406030204" pitchFamily="18" charset="0"/>
                                </a:rPr>
                              </m:ctrlPr>
                            </m:fPr>
                            <m:num>
                              <m:r>
                                <a:rPr lang="en-US" sz="3600" b="1" i="1" smtClean="0">
                                  <a:latin typeface="Cambria Math" panose="02040503050406030204" pitchFamily="18" charset="0"/>
                                </a:rPr>
                                <m:t>𝟏</m:t>
                              </m:r>
                            </m:num>
                            <m:den>
                              <m:r>
                                <a:rPr lang="en-US" sz="3600" b="1" i="1" smtClean="0">
                                  <a:latin typeface="Cambria Math" panose="02040503050406030204" pitchFamily="18" charset="0"/>
                                </a:rPr>
                                <m:t>𝜺</m:t>
                              </m:r>
                            </m:den>
                          </m:f>
                        </m:num>
                        <m:den>
                          <m:r>
                            <a:rPr lang="en-US" sz="3600" b="1" i="1" smtClean="0">
                              <a:latin typeface="Cambria Math" panose="02040503050406030204" pitchFamily="18" charset="0"/>
                            </a:rPr>
                            <m:t>𝟏</m:t>
                          </m:r>
                          <m:r>
                            <a:rPr lang="en-US" sz="3600" b="1" i="1" smtClean="0">
                              <a:latin typeface="Cambria Math" panose="02040503050406030204" pitchFamily="18" charset="0"/>
                            </a:rPr>
                            <m:t>−</m:t>
                          </m:r>
                          <m:f>
                            <m:fPr>
                              <m:ctrlPr>
                                <a:rPr lang="en-US" sz="3600" b="1" i="1" smtClean="0">
                                  <a:latin typeface="Cambria Math" panose="02040503050406030204" pitchFamily="18" charset="0"/>
                                </a:rPr>
                              </m:ctrlPr>
                            </m:fPr>
                            <m:num>
                              <m:r>
                                <a:rPr lang="en-US" sz="3600" b="1" i="1" smtClean="0">
                                  <a:latin typeface="Cambria Math" panose="02040503050406030204" pitchFamily="18" charset="0"/>
                                </a:rPr>
                                <m:t>𝟏</m:t>
                              </m:r>
                            </m:num>
                            <m:den>
                              <m:r>
                                <a:rPr lang="en-US" sz="3600" b="1" i="1" smtClean="0">
                                  <a:latin typeface="Cambria Math" panose="02040503050406030204" pitchFamily="18" charset="0"/>
                                </a:rPr>
                                <m:t>𝜺</m:t>
                              </m:r>
                            </m:den>
                          </m:f>
                        </m:den>
                      </m:f>
                    </m:oMath>
                  </m:oMathPara>
                </a14:m>
                <a:endParaRPr lang="en-US" b="1" dirty="0"/>
              </a:p>
            </p:txBody>
          </p:sp>
        </mc:Choice>
        <mc:Fallback>
          <p:sp>
            <p:nvSpPr>
              <p:cNvPr id="6" name="TextBox 5">
                <a:extLst>
                  <a:ext uri="{FF2B5EF4-FFF2-40B4-BE49-F238E27FC236}">
                    <a16:creationId xmlns:a16="http://schemas.microsoft.com/office/drawing/2014/main" id="{EC3F692B-2CCD-9219-970C-65BB507CDA32}"/>
                  </a:ext>
                </a:extLst>
              </p:cNvPr>
              <p:cNvSpPr txBox="1">
                <a:spLocks noRot="1" noChangeAspect="1" noMove="1" noResize="1" noEditPoints="1" noAdjustHandles="1" noChangeArrowheads="1" noChangeShapeType="1" noTextEdit="1"/>
              </p:cNvSpPr>
              <p:nvPr/>
            </p:nvSpPr>
            <p:spPr>
              <a:xfrm>
                <a:off x="383558" y="3070964"/>
                <a:ext cx="5569248" cy="194239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A0C499A-BCA6-8E15-C688-8F043563BE5A}"/>
                  </a:ext>
                </a:extLst>
              </p:cNvPr>
              <p:cNvSpPr txBox="1"/>
              <p:nvPr/>
            </p:nvSpPr>
            <p:spPr>
              <a:xfrm>
                <a:off x="4618537" y="3547061"/>
                <a:ext cx="5569248" cy="11330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𝒙</m:t>
                          </m:r>
                        </m:e>
                        <m:sub>
                          <m:r>
                            <a:rPr lang="en-US" sz="3600" b="1" i="1" smtClean="0">
                              <a:latin typeface="Cambria Math" panose="02040503050406030204" pitchFamily="18" charset="0"/>
                            </a:rPr>
                            <m:t>𝟏</m:t>
                          </m:r>
                        </m:sub>
                      </m:sSub>
                      <m:r>
                        <a:rPr lang="en-US" sz="3600" b="1" i="1" smtClean="0">
                          <a:latin typeface="Cambria Math" panose="02040503050406030204" pitchFamily="18" charset="0"/>
                        </a:rPr>
                        <m:t>=(</m:t>
                      </m:r>
                      <m:r>
                        <a:rPr lang="en-US" sz="3600" b="1" i="1" smtClean="0">
                          <a:latin typeface="Cambria Math" panose="02040503050406030204" pitchFamily="18" charset="0"/>
                        </a:rPr>
                        <m:t>𝟏</m:t>
                      </m:r>
                      <m:r>
                        <a:rPr lang="en-US" sz="3600" b="1" i="1" smtClean="0">
                          <a:latin typeface="Cambria Math" panose="02040503050406030204" pitchFamily="18" charset="0"/>
                        </a:rPr>
                        <m:t>−</m:t>
                      </m:r>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𝒙</m:t>
                          </m:r>
                        </m:e>
                        <m:sub>
                          <m:r>
                            <a:rPr lang="en-US" sz="3600" b="1" i="1" smtClean="0">
                              <a:latin typeface="Cambria Math" panose="02040503050406030204" pitchFamily="18" charset="0"/>
                            </a:rPr>
                            <m:t>𝟐</m:t>
                          </m:r>
                        </m:sub>
                      </m:sSub>
                      <m:r>
                        <a:rPr lang="en-US" sz="3600" b="1" i="1" smtClean="0">
                          <a:latin typeface="Cambria Math" panose="02040503050406030204" pitchFamily="18" charset="0"/>
                        </a:rPr>
                        <m:t>)</m:t>
                      </m:r>
                      <m:f>
                        <m:fPr>
                          <m:ctrlPr>
                            <a:rPr lang="en-US" sz="3600" b="1" i="1" smtClean="0">
                              <a:latin typeface="Cambria Math" panose="02040503050406030204" pitchFamily="18" charset="0"/>
                            </a:rPr>
                          </m:ctrlPr>
                        </m:fPr>
                        <m:num>
                          <m:r>
                            <a:rPr lang="en-US" sz="3600" b="1" i="1" smtClean="0">
                              <a:latin typeface="Cambria Math" panose="02040503050406030204" pitchFamily="18" charset="0"/>
                            </a:rPr>
                            <m:t>𝟏</m:t>
                          </m:r>
                        </m:num>
                        <m:den>
                          <m:r>
                            <a:rPr lang="en-US" sz="3600" b="1" i="1" smtClean="0">
                              <a:latin typeface="Cambria Math" panose="02040503050406030204" pitchFamily="18" charset="0"/>
                            </a:rPr>
                            <m:t>𝜺</m:t>
                          </m:r>
                        </m:den>
                      </m:f>
                    </m:oMath>
                  </m:oMathPara>
                </a14:m>
                <a:endParaRPr lang="en-US" b="1" dirty="0"/>
              </a:p>
            </p:txBody>
          </p:sp>
        </mc:Choice>
        <mc:Fallback>
          <p:sp>
            <p:nvSpPr>
              <p:cNvPr id="7" name="TextBox 6">
                <a:extLst>
                  <a:ext uri="{FF2B5EF4-FFF2-40B4-BE49-F238E27FC236}">
                    <a16:creationId xmlns:a16="http://schemas.microsoft.com/office/drawing/2014/main" id="{2A0C499A-BCA6-8E15-C688-8F043563BE5A}"/>
                  </a:ext>
                </a:extLst>
              </p:cNvPr>
              <p:cNvSpPr txBox="1">
                <a:spLocks noRot="1" noChangeAspect="1" noMove="1" noResize="1" noEditPoints="1" noAdjustHandles="1" noChangeArrowheads="1" noChangeShapeType="1" noTextEdit="1"/>
              </p:cNvSpPr>
              <p:nvPr/>
            </p:nvSpPr>
            <p:spPr>
              <a:xfrm>
                <a:off x="4618537" y="3547061"/>
                <a:ext cx="5569248" cy="1133067"/>
              </a:xfrm>
              <a:prstGeom prst="rect">
                <a:avLst/>
              </a:prstGeom>
              <a:blipFill>
                <a:blip r:embed="rId4"/>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A0A9B2E8-1CA6-6E55-10EB-4BE045B54216}"/>
              </a:ext>
            </a:extLst>
          </p:cNvPr>
          <p:cNvPicPr>
            <a:picLocks noChangeAspect="1"/>
          </p:cNvPicPr>
          <p:nvPr/>
        </p:nvPicPr>
        <p:blipFill>
          <a:blip r:embed="rId5"/>
          <a:stretch>
            <a:fillRect/>
          </a:stretch>
        </p:blipFill>
        <p:spPr>
          <a:xfrm>
            <a:off x="-245213" y="5589850"/>
            <a:ext cx="11282184" cy="588841"/>
          </a:xfrm>
          <a:prstGeom prst="rect">
            <a:avLst/>
          </a:prstGeom>
        </p:spPr>
      </p:pic>
    </p:spTree>
    <p:extLst>
      <p:ext uri="{BB962C8B-B14F-4D97-AF65-F5344CB8AC3E}">
        <p14:creationId xmlns:p14="http://schemas.microsoft.com/office/powerpoint/2010/main" val="402757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D2D0E-91A8-070B-19AC-C6D71BBDE13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2310501-7825-BC4C-84A1-AE40D653D861}"/>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E</a:t>
            </a:r>
            <a:r>
              <a:rPr lang="en-US" altLang="zh-CN" sz="3200" b="1" dirty="0"/>
              <a:t>xample</a:t>
            </a:r>
            <a:endParaRPr lang="en-US" sz="3200" b="1" dirty="0"/>
          </a:p>
        </p:txBody>
      </p:sp>
      <p:sp>
        <p:nvSpPr>
          <p:cNvPr id="3" name="TextBox 2">
            <a:extLst>
              <a:ext uri="{FF2B5EF4-FFF2-40B4-BE49-F238E27FC236}">
                <a16:creationId xmlns:a16="http://schemas.microsoft.com/office/drawing/2014/main" id="{DB831998-8E66-FEFC-9884-709D67F3EA6F}"/>
              </a:ext>
            </a:extLst>
          </p:cNvPr>
          <p:cNvSpPr txBox="1"/>
          <p:nvPr/>
        </p:nvSpPr>
        <p:spPr>
          <a:xfrm>
            <a:off x="811033" y="1018928"/>
            <a:ext cx="1719381" cy="461665"/>
          </a:xfrm>
          <a:prstGeom prst="rect">
            <a:avLst/>
          </a:prstGeom>
          <a:noFill/>
        </p:spPr>
        <p:txBody>
          <a:bodyPr wrap="none" rtlCol="0">
            <a:spAutoFit/>
          </a:bodyPr>
          <a:lstStyle/>
          <a:p>
            <a:r>
              <a:rPr lang="en-US" sz="2400" b="1" dirty="0"/>
              <a:t>E</a:t>
            </a:r>
            <a:r>
              <a:rPr lang="en-US" altLang="zh-CN" sz="2400" b="1" dirty="0"/>
              <a:t>xample 3:</a:t>
            </a:r>
            <a:endParaRPr lang="en-US" sz="2400" b="1" dirty="0"/>
          </a:p>
        </p:txBody>
      </p:sp>
      <p:pic>
        <p:nvPicPr>
          <p:cNvPr id="4" name="Picture 3">
            <a:extLst>
              <a:ext uri="{FF2B5EF4-FFF2-40B4-BE49-F238E27FC236}">
                <a16:creationId xmlns:a16="http://schemas.microsoft.com/office/drawing/2014/main" id="{A1F53E8F-65EE-F3A9-F2CB-74E22C9E4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906" y="1915540"/>
            <a:ext cx="58864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2706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22621-0994-6BCC-A144-4E55F7A340E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FE6F3A6-9089-2F3A-EC84-06E60DE3B213}"/>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sp>
        <p:nvSpPr>
          <p:cNvPr id="5" name="Rectangle 3">
            <a:extLst>
              <a:ext uri="{FF2B5EF4-FFF2-40B4-BE49-F238E27FC236}">
                <a16:creationId xmlns:a16="http://schemas.microsoft.com/office/drawing/2014/main" id="{678E78EE-6B19-EF7C-1D3E-CE5D87C32849}"/>
              </a:ext>
            </a:extLst>
          </p:cNvPr>
          <p:cNvSpPr txBox="1">
            <a:spLocks/>
          </p:cNvSpPr>
          <p:nvPr/>
        </p:nvSpPr>
        <p:spPr>
          <a:xfrm>
            <a:off x="1753262" y="1282148"/>
            <a:ext cx="8229600" cy="4530725"/>
          </a:xfrm>
          <a:prstGeom prst="rect">
            <a:avLst/>
          </a:prstGeom>
          <a:blipFill>
            <a:blip r:embed="rId2"/>
            <a:stretch>
              <a:fillRect l="-1111" t="-1077" r="-519"/>
            </a:stretch>
          </a:blipFill>
        </p:spPr>
        <p:txBody>
          <a:bodyPr vert="horz" lIns="91440" tIns="45720" rIns="91440" bIns="45720" rtlCol="0">
            <a:normAutofit/>
          </a:bodyPr>
          <a:lstStyle>
            <a:lvl1pPr marL="0" indent="0" algn="ctr" defTabSz="822960" rtl="0" eaLnBrk="1" latinLnBrk="0" hangingPunct="1">
              <a:lnSpc>
                <a:spcPct val="90000"/>
              </a:lnSpc>
              <a:spcBef>
                <a:spcPts val="900"/>
              </a:spcBef>
              <a:buFont typeface="Arial" panose="020B0604020202020204" pitchFamily="34" charset="0"/>
              <a:buNone/>
              <a:defRPr sz="2160" kern="1200">
                <a:solidFill>
                  <a:schemeClr val="tx1"/>
                </a:solidFill>
                <a:latin typeface="+mn-lt"/>
                <a:ea typeface="+mn-ea"/>
                <a:cs typeface="+mn-cs"/>
              </a:defRPr>
            </a:lvl1pPr>
            <a:lvl2pPr marL="411480" indent="0" algn="ctr" defTabSz="822960" rtl="0" eaLnBrk="1" latinLnBrk="0" hangingPunct="1">
              <a:lnSpc>
                <a:spcPct val="90000"/>
              </a:lnSpc>
              <a:spcBef>
                <a:spcPts val="450"/>
              </a:spcBef>
              <a:buFont typeface="Arial" panose="020B0604020202020204" pitchFamily="34" charset="0"/>
              <a:buNone/>
              <a:defRPr sz="1800" kern="1200">
                <a:solidFill>
                  <a:schemeClr val="tx1"/>
                </a:solidFill>
                <a:latin typeface="+mn-lt"/>
                <a:ea typeface="+mn-ea"/>
                <a:cs typeface="+mn-cs"/>
              </a:defRPr>
            </a:lvl2pPr>
            <a:lvl3pPr marL="822960" indent="0" algn="ctr" defTabSz="822960" rtl="0" eaLnBrk="1" latinLnBrk="0" hangingPunct="1">
              <a:lnSpc>
                <a:spcPct val="90000"/>
              </a:lnSpc>
              <a:spcBef>
                <a:spcPts val="450"/>
              </a:spcBef>
              <a:buFont typeface="Arial" panose="020B0604020202020204" pitchFamily="34" charset="0"/>
              <a:buNone/>
              <a:defRPr sz="1620" kern="1200">
                <a:solidFill>
                  <a:schemeClr val="tx1"/>
                </a:solidFill>
                <a:latin typeface="+mn-lt"/>
                <a:ea typeface="+mn-ea"/>
                <a:cs typeface="+mn-cs"/>
              </a:defRPr>
            </a:lvl3pPr>
            <a:lvl4pPr marL="1234440" indent="0" algn="ctr" defTabSz="822960" rtl="0" eaLnBrk="1" latinLnBrk="0" hangingPunct="1">
              <a:lnSpc>
                <a:spcPct val="90000"/>
              </a:lnSpc>
              <a:spcBef>
                <a:spcPts val="450"/>
              </a:spcBef>
              <a:buFont typeface="Arial" panose="020B0604020202020204" pitchFamily="34" charset="0"/>
              <a:buNone/>
              <a:defRPr sz="1440" kern="1200">
                <a:solidFill>
                  <a:schemeClr val="tx1"/>
                </a:solidFill>
                <a:latin typeface="+mn-lt"/>
                <a:ea typeface="+mn-ea"/>
                <a:cs typeface="+mn-cs"/>
              </a:defRPr>
            </a:lvl4pPr>
            <a:lvl5pPr marL="1645920" indent="0" algn="ctr" defTabSz="822960" rtl="0" eaLnBrk="1" latinLnBrk="0" hangingPunct="1">
              <a:lnSpc>
                <a:spcPct val="90000"/>
              </a:lnSpc>
              <a:spcBef>
                <a:spcPts val="450"/>
              </a:spcBef>
              <a:buFont typeface="Arial" panose="020B0604020202020204" pitchFamily="34" charset="0"/>
              <a:buNone/>
              <a:defRPr sz="1440" kern="1200">
                <a:solidFill>
                  <a:schemeClr val="tx1"/>
                </a:solidFill>
                <a:latin typeface="+mn-lt"/>
                <a:ea typeface="+mn-ea"/>
                <a:cs typeface="+mn-cs"/>
              </a:defRPr>
            </a:lvl5pPr>
            <a:lvl6pPr marL="2057400" indent="0" algn="ctr" defTabSz="822960" rtl="0" eaLnBrk="1" latinLnBrk="0" hangingPunct="1">
              <a:lnSpc>
                <a:spcPct val="90000"/>
              </a:lnSpc>
              <a:spcBef>
                <a:spcPts val="450"/>
              </a:spcBef>
              <a:buFont typeface="Arial" panose="020B0604020202020204" pitchFamily="34" charset="0"/>
              <a:buNone/>
              <a:defRPr sz="1440" kern="1200">
                <a:solidFill>
                  <a:schemeClr val="tx1"/>
                </a:solidFill>
                <a:latin typeface="+mn-lt"/>
                <a:ea typeface="+mn-ea"/>
                <a:cs typeface="+mn-cs"/>
              </a:defRPr>
            </a:lvl6pPr>
            <a:lvl7pPr marL="2468880" indent="0" algn="ctr" defTabSz="822960" rtl="0" eaLnBrk="1" latinLnBrk="0" hangingPunct="1">
              <a:lnSpc>
                <a:spcPct val="90000"/>
              </a:lnSpc>
              <a:spcBef>
                <a:spcPts val="450"/>
              </a:spcBef>
              <a:buFont typeface="Arial" panose="020B0604020202020204" pitchFamily="34" charset="0"/>
              <a:buNone/>
              <a:defRPr sz="1440" kern="1200">
                <a:solidFill>
                  <a:schemeClr val="tx1"/>
                </a:solidFill>
                <a:latin typeface="+mn-lt"/>
                <a:ea typeface="+mn-ea"/>
                <a:cs typeface="+mn-cs"/>
              </a:defRPr>
            </a:lvl7pPr>
            <a:lvl8pPr marL="2880360" indent="0" algn="ctr" defTabSz="822960" rtl="0" eaLnBrk="1" latinLnBrk="0" hangingPunct="1">
              <a:lnSpc>
                <a:spcPct val="90000"/>
              </a:lnSpc>
              <a:spcBef>
                <a:spcPts val="450"/>
              </a:spcBef>
              <a:buFont typeface="Arial" panose="020B0604020202020204" pitchFamily="34" charset="0"/>
              <a:buNone/>
              <a:defRPr sz="1440" kern="1200">
                <a:solidFill>
                  <a:schemeClr val="tx1"/>
                </a:solidFill>
                <a:latin typeface="+mn-lt"/>
                <a:ea typeface="+mn-ea"/>
                <a:cs typeface="+mn-cs"/>
              </a:defRPr>
            </a:lvl8pPr>
            <a:lvl9pPr marL="3291840" indent="0" algn="ctr" defTabSz="822960" rtl="0" eaLnBrk="1" latinLnBrk="0" hangingPunct="1">
              <a:lnSpc>
                <a:spcPct val="90000"/>
              </a:lnSpc>
              <a:spcBef>
                <a:spcPts val="450"/>
              </a:spcBef>
              <a:buFont typeface="Arial" panose="020B0604020202020204" pitchFamily="34" charset="0"/>
              <a:buNone/>
              <a:defRPr sz="1440" kern="1200">
                <a:solidFill>
                  <a:schemeClr val="tx1"/>
                </a:solidFill>
                <a:latin typeface="+mn-lt"/>
                <a:ea typeface="+mn-ea"/>
                <a:cs typeface="+mn-cs"/>
              </a:defRPr>
            </a:lvl9pPr>
          </a:lstStyle>
          <a:p>
            <a:pPr>
              <a:defRPr/>
            </a:pPr>
            <a:r>
              <a:rPr lang="en-US">
                <a:noFill/>
              </a:rPr>
              <a:t> </a:t>
            </a:r>
          </a:p>
        </p:txBody>
      </p:sp>
    </p:spTree>
    <p:extLst>
      <p:ext uri="{BB962C8B-B14F-4D97-AF65-F5344CB8AC3E}">
        <p14:creationId xmlns:p14="http://schemas.microsoft.com/office/powerpoint/2010/main" val="1676657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98BEA-C384-331F-DACB-47434B6D81A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5A07E22-C807-4823-A24E-FBFCB69A1C55}"/>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graphicFrame>
        <p:nvGraphicFramePr>
          <p:cNvPr id="3" name="Object 2">
            <a:extLst>
              <a:ext uri="{FF2B5EF4-FFF2-40B4-BE49-F238E27FC236}">
                <a16:creationId xmlns:a16="http://schemas.microsoft.com/office/drawing/2014/main" id="{D91B9004-E23D-CEB2-76EA-14544D9278D4}"/>
              </a:ext>
            </a:extLst>
          </p:cNvPr>
          <p:cNvGraphicFramePr>
            <a:graphicFrameLocks noChangeAspect="1"/>
          </p:cNvGraphicFramePr>
          <p:nvPr>
            <p:extLst>
              <p:ext uri="{D42A27DB-BD31-4B8C-83A1-F6EECF244321}">
                <p14:modId xmlns:p14="http://schemas.microsoft.com/office/powerpoint/2010/main" val="144551326"/>
              </p:ext>
            </p:extLst>
          </p:nvPr>
        </p:nvGraphicFramePr>
        <p:xfrm>
          <a:off x="1883797" y="1630680"/>
          <a:ext cx="8229600" cy="3827463"/>
        </p:xfrm>
        <a:graphic>
          <a:graphicData uri="http://schemas.openxmlformats.org/presentationml/2006/ole">
            <mc:AlternateContent xmlns:mc="http://schemas.openxmlformats.org/markup-compatibility/2006">
              <mc:Choice xmlns:v="urn:schemas-microsoft-com:vml" Requires="v">
                <p:oleObj name="Equation" r:id="rId2" imgW="3441700" imgH="1600200" progId="Equation.3">
                  <p:embed/>
                </p:oleObj>
              </mc:Choice>
              <mc:Fallback>
                <p:oleObj name="Equation" r:id="rId2" imgW="3441700" imgH="1600200" progId="Equation.3">
                  <p:embed/>
                  <p:pic>
                    <p:nvPicPr>
                      <p:cNvPr id="9221" name="Object 2">
                        <a:extLst>
                          <a:ext uri="{FF2B5EF4-FFF2-40B4-BE49-F238E27FC236}">
                            <a16:creationId xmlns:a16="http://schemas.microsoft.com/office/drawing/2014/main" id="{5FFFFF85-EA78-FD38-5956-834CA1B91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3797" y="1630680"/>
                        <a:ext cx="8229600" cy="3827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86067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A4AD3-B560-426E-91A1-F0E221CB2AE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AD5328D-0F9C-1694-E10E-66F1013D23B9}"/>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1">
            <a:extLst>
              <a:ext uri="{FF2B5EF4-FFF2-40B4-BE49-F238E27FC236}">
                <a16:creationId xmlns:a16="http://schemas.microsoft.com/office/drawing/2014/main" id="{FB7E9D6D-7C44-24F1-DA4C-30FBF4759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074" y="1948741"/>
            <a:ext cx="5695950"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9">
            <a:extLst>
              <a:ext uri="{FF2B5EF4-FFF2-40B4-BE49-F238E27FC236}">
                <a16:creationId xmlns:a16="http://schemas.microsoft.com/office/drawing/2014/main" id="{7F060E27-AA0C-B459-314F-62E68A10CB9A}"/>
              </a:ext>
            </a:extLst>
          </p:cNvPr>
          <p:cNvGrpSpPr/>
          <p:nvPr/>
        </p:nvGrpSpPr>
        <p:grpSpPr>
          <a:xfrm>
            <a:off x="3588863" y="2028290"/>
            <a:ext cx="1828800" cy="2514600"/>
            <a:chOff x="1163715" y="1670482"/>
            <a:chExt cx="1828800" cy="2514600"/>
          </a:xfrm>
        </p:grpSpPr>
        <p:sp>
          <p:nvSpPr>
            <p:cNvPr id="5" name="Oval 4">
              <a:extLst>
                <a:ext uri="{FF2B5EF4-FFF2-40B4-BE49-F238E27FC236}">
                  <a16:creationId xmlns:a16="http://schemas.microsoft.com/office/drawing/2014/main" id="{5E9CBB36-3252-DB01-F94D-A2255FBF54AD}"/>
                </a:ext>
              </a:extLst>
            </p:cNvPr>
            <p:cNvSpPr>
              <a:spLocks noChangeArrowheads="1"/>
            </p:cNvSpPr>
            <p:nvPr/>
          </p:nvSpPr>
          <p:spPr bwMode="auto">
            <a:xfrm>
              <a:off x="1925715" y="1670482"/>
              <a:ext cx="381000" cy="5334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6" name="Oval 5">
              <a:extLst>
                <a:ext uri="{FF2B5EF4-FFF2-40B4-BE49-F238E27FC236}">
                  <a16:creationId xmlns:a16="http://schemas.microsoft.com/office/drawing/2014/main" id="{1726849B-78F6-FAB6-DA12-00AB21A3D748}"/>
                </a:ext>
              </a:extLst>
            </p:cNvPr>
            <p:cNvSpPr>
              <a:spLocks noChangeArrowheads="1"/>
            </p:cNvSpPr>
            <p:nvPr/>
          </p:nvSpPr>
          <p:spPr bwMode="auto">
            <a:xfrm>
              <a:off x="2611515" y="2356282"/>
              <a:ext cx="381000" cy="5334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7" name="Oval 6">
              <a:extLst>
                <a:ext uri="{FF2B5EF4-FFF2-40B4-BE49-F238E27FC236}">
                  <a16:creationId xmlns:a16="http://schemas.microsoft.com/office/drawing/2014/main" id="{3EF9E1F2-E1FD-CE06-8EFC-D2367D9FBF33}"/>
                </a:ext>
              </a:extLst>
            </p:cNvPr>
            <p:cNvSpPr>
              <a:spLocks noChangeArrowheads="1"/>
            </p:cNvSpPr>
            <p:nvPr/>
          </p:nvSpPr>
          <p:spPr bwMode="auto">
            <a:xfrm>
              <a:off x="1163715" y="3042082"/>
              <a:ext cx="381000" cy="5334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8" name="Oval 7">
              <a:extLst>
                <a:ext uri="{FF2B5EF4-FFF2-40B4-BE49-F238E27FC236}">
                  <a16:creationId xmlns:a16="http://schemas.microsoft.com/office/drawing/2014/main" id="{AD7E13C9-BC89-12EC-4F9B-D273CA18E629}"/>
                </a:ext>
              </a:extLst>
            </p:cNvPr>
            <p:cNvSpPr>
              <a:spLocks noChangeArrowheads="1"/>
            </p:cNvSpPr>
            <p:nvPr/>
          </p:nvSpPr>
          <p:spPr bwMode="auto">
            <a:xfrm>
              <a:off x="1925715" y="3651682"/>
              <a:ext cx="381000" cy="5334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grpSp>
      <p:sp>
        <p:nvSpPr>
          <p:cNvPr id="9" name="Text Box 8">
            <a:extLst>
              <a:ext uri="{FF2B5EF4-FFF2-40B4-BE49-F238E27FC236}">
                <a16:creationId xmlns:a16="http://schemas.microsoft.com/office/drawing/2014/main" id="{5108BE8B-9603-9F0A-6F48-F138E7C2BD87}"/>
              </a:ext>
            </a:extLst>
          </p:cNvPr>
          <p:cNvSpPr txBox="1">
            <a:spLocks noChangeArrowheads="1"/>
          </p:cNvSpPr>
          <p:nvPr/>
        </p:nvSpPr>
        <p:spPr bwMode="auto">
          <a:xfrm>
            <a:off x="8361285" y="1791132"/>
            <a:ext cx="20574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sz="2000" dirty="0">
                <a:solidFill>
                  <a:srgbClr val="FF0000"/>
                </a:solidFill>
              </a:rPr>
              <a:t>Scaling vector:</a:t>
            </a:r>
          </a:p>
          <a:p>
            <a:pPr eaLnBrk="1" hangingPunct="1">
              <a:spcBef>
                <a:spcPct val="50000"/>
              </a:spcBef>
              <a:buClrTx/>
              <a:buSzTx/>
              <a:buFontTx/>
              <a:buNone/>
            </a:pPr>
            <a:r>
              <a:rPr lang="en-US" altLang="en-US" sz="2000" dirty="0">
                <a:solidFill>
                  <a:srgbClr val="3333FF"/>
                </a:solidFill>
              </a:rPr>
              <a:t>find largest absolute value in each row</a:t>
            </a:r>
          </a:p>
        </p:txBody>
      </p:sp>
    </p:spTree>
    <p:extLst>
      <p:ext uri="{BB962C8B-B14F-4D97-AF65-F5344CB8AC3E}">
        <p14:creationId xmlns:p14="http://schemas.microsoft.com/office/powerpoint/2010/main" val="526446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F0A5D-8D11-84F1-E1A6-C80C2D061B2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147B0D4-3882-9615-E8F3-7C990DCD64CA}"/>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1">
            <a:extLst>
              <a:ext uri="{FF2B5EF4-FFF2-40B4-BE49-F238E27FC236}">
                <a16:creationId xmlns:a16="http://schemas.microsoft.com/office/drawing/2014/main" id="{DCDD9A9C-82BF-181C-E37E-D23D6FE55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751" y="1552575"/>
            <a:ext cx="7902575"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a:extLst>
              <a:ext uri="{FF2B5EF4-FFF2-40B4-BE49-F238E27FC236}">
                <a16:creationId xmlns:a16="http://schemas.microsoft.com/office/drawing/2014/main" id="{84D69B8E-068B-EF50-4C91-94270BBF68F2}"/>
              </a:ext>
            </a:extLst>
          </p:cNvPr>
          <p:cNvSpPr txBox="1">
            <a:spLocks noRot="1" noChangeAspect="1" noMove="1" noResize="1" noEditPoints="1" noAdjustHandles="1" noChangeArrowheads="1" noChangeShapeType="1" noTextEdit="1"/>
          </p:cNvSpPr>
          <p:nvPr/>
        </p:nvSpPr>
        <p:spPr bwMode="auto">
          <a:xfrm>
            <a:off x="914400" y="5592702"/>
            <a:ext cx="3733800" cy="400110"/>
          </a:xfrm>
          <a:prstGeom prst="rect">
            <a:avLst/>
          </a:prstGeom>
          <a:blipFill>
            <a:blip r:embed="rId3"/>
            <a:stretch>
              <a:fillRect l="-1631" t="-7576" b="-25758"/>
            </a:stretch>
          </a:blipFill>
          <a:ln>
            <a:noFill/>
          </a:ln>
        </p:spPr>
        <p:txBody>
          <a:bodyPr/>
          <a:lstStyle/>
          <a:p>
            <a:pPr>
              <a:defRPr/>
            </a:pPr>
            <a:r>
              <a:rPr lang="en-US">
                <a:noFill/>
              </a:rPr>
              <a:t> </a:t>
            </a:r>
          </a:p>
        </p:txBody>
      </p:sp>
    </p:spTree>
    <p:extLst>
      <p:ext uri="{BB962C8B-B14F-4D97-AF65-F5344CB8AC3E}">
        <p14:creationId xmlns:p14="http://schemas.microsoft.com/office/powerpoint/2010/main" val="179813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D2367-8FBB-2E40-7028-7B1EDE0EA57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F4ED37D-8248-39B9-3298-D7B30E809A5F}"/>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1">
            <a:extLst>
              <a:ext uri="{FF2B5EF4-FFF2-40B4-BE49-F238E27FC236}">
                <a16:creationId xmlns:a16="http://schemas.microsoft.com/office/drawing/2014/main" id="{D12FD390-8B57-460A-791F-837E4DC72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9699" y="1834888"/>
            <a:ext cx="5953125"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FCD6AC75-F1BF-7D95-A82B-28854DCE9D0A}"/>
              </a:ext>
            </a:extLst>
          </p:cNvPr>
          <p:cNvSpPr>
            <a:spLocks noChangeArrowheads="1"/>
          </p:cNvSpPr>
          <p:nvPr/>
        </p:nvSpPr>
        <p:spPr bwMode="auto">
          <a:xfrm>
            <a:off x="2509299" y="1982525"/>
            <a:ext cx="3352800" cy="381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5" name="Text Box 8">
            <a:extLst>
              <a:ext uri="{FF2B5EF4-FFF2-40B4-BE49-F238E27FC236}">
                <a16:creationId xmlns:a16="http://schemas.microsoft.com/office/drawing/2014/main" id="{4B5C0E32-EA07-DDC8-F90E-FE6D2D03E23C}"/>
              </a:ext>
            </a:extLst>
          </p:cNvPr>
          <p:cNvSpPr txBox="1">
            <a:spLocks noChangeArrowheads="1"/>
          </p:cNvSpPr>
          <p:nvPr/>
        </p:nvSpPr>
        <p:spPr bwMode="auto">
          <a:xfrm>
            <a:off x="7157499" y="2668325"/>
            <a:ext cx="3124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b="1">
                <a:solidFill>
                  <a:srgbClr val="FF0000"/>
                </a:solidFill>
              </a:rPr>
              <a:t>S=[5 4 8 2]</a:t>
            </a:r>
          </a:p>
        </p:txBody>
      </p:sp>
      <p:sp>
        <p:nvSpPr>
          <p:cNvPr id="6" name="Rectangle 6">
            <a:extLst>
              <a:ext uri="{FF2B5EF4-FFF2-40B4-BE49-F238E27FC236}">
                <a16:creationId xmlns:a16="http://schemas.microsoft.com/office/drawing/2014/main" id="{406C3FAB-9ADE-F0B8-629A-87883CE1F47E}"/>
              </a:ext>
            </a:extLst>
          </p:cNvPr>
          <p:cNvSpPr>
            <a:spLocks noChangeArrowheads="1"/>
          </p:cNvSpPr>
          <p:nvPr/>
        </p:nvSpPr>
        <p:spPr bwMode="auto">
          <a:xfrm>
            <a:off x="2509299" y="3238500"/>
            <a:ext cx="3352800" cy="381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Tree>
    <p:extLst>
      <p:ext uri="{BB962C8B-B14F-4D97-AF65-F5344CB8AC3E}">
        <p14:creationId xmlns:p14="http://schemas.microsoft.com/office/powerpoint/2010/main" val="149303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707A1-8C9B-8CB1-BDC0-C9009D0D773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3D2D4C1-70C9-49CE-462E-6071E49BE140}"/>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sp>
        <p:nvSpPr>
          <p:cNvPr id="3" name="Text Box 8">
            <a:extLst>
              <a:ext uri="{FF2B5EF4-FFF2-40B4-BE49-F238E27FC236}">
                <a16:creationId xmlns:a16="http://schemas.microsoft.com/office/drawing/2014/main" id="{FAE810B4-56FE-9590-35F4-21E6F88F7AA4}"/>
              </a:ext>
            </a:extLst>
          </p:cNvPr>
          <p:cNvSpPr txBox="1">
            <a:spLocks noRot="1" noChangeAspect="1" noMove="1" noResize="1" noEditPoints="1" noAdjustHandles="1" noChangeArrowheads="1" noChangeShapeType="1" noTextEdit="1"/>
          </p:cNvSpPr>
          <p:nvPr/>
        </p:nvSpPr>
        <p:spPr bwMode="auto">
          <a:xfrm>
            <a:off x="862012" y="3888941"/>
            <a:ext cx="4089400" cy="721159"/>
          </a:xfrm>
          <a:prstGeom prst="rect">
            <a:avLst/>
          </a:prstGeom>
          <a:blipFill>
            <a:blip r:embed="rId2"/>
            <a:stretch>
              <a:fillRect l="-2981" b="-7627"/>
            </a:stretch>
          </a:blipFill>
          <a:ln>
            <a:noFill/>
          </a:ln>
        </p:spPr>
        <p:txBody>
          <a:bodyPr/>
          <a:lstStyle/>
          <a:p>
            <a:pPr>
              <a:defRPr/>
            </a:pPr>
            <a:r>
              <a:rPr lang="en-US">
                <a:noFill/>
              </a:rPr>
              <a:t> </a:t>
            </a:r>
          </a:p>
        </p:txBody>
      </p:sp>
      <p:pic>
        <p:nvPicPr>
          <p:cNvPr id="4" name="Picture 2">
            <a:extLst>
              <a:ext uri="{FF2B5EF4-FFF2-40B4-BE49-F238E27FC236}">
                <a16:creationId xmlns:a16="http://schemas.microsoft.com/office/drawing/2014/main" id="{6D7C2F5F-3101-38CA-C69D-19F0AEFC8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420" y="1825735"/>
            <a:ext cx="5362575"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8">
            <a:extLst>
              <a:ext uri="{FF2B5EF4-FFF2-40B4-BE49-F238E27FC236}">
                <a16:creationId xmlns:a16="http://schemas.microsoft.com/office/drawing/2014/main" id="{9528F62F-EAE5-2C19-2BE0-C60F8644A1BE}"/>
              </a:ext>
            </a:extLst>
          </p:cNvPr>
          <p:cNvSpPr txBox="1">
            <a:spLocks noChangeArrowheads="1"/>
          </p:cNvSpPr>
          <p:nvPr/>
        </p:nvSpPr>
        <p:spPr bwMode="auto">
          <a:xfrm>
            <a:off x="7790995" y="2578210"/>
            <a:ext cx="3124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b="1">
                <a:solidFill>
                  <a:srgbClr val="FF0000"/>
                </a:solidFill>
              </a:rPr>
              <a:t>S=[5 4 8 2]</a:t>
            </a:r>
          </a:p>
        </p:txBody>
      </p:sp>
      <p:sp>
        <p:nvSpPr>
          <p:cNvPr id="6" name="Text Box 8">
            <a:extLst>
              <a:ext uri="{FF2B5EF4-FFF2-40B4-BE49-F238E27FC236}">
                <a16:creationId xmlns:a16="http://schemas.microsoft.com/office/drawing/2014/main" id="{250E56F2-344E-A0F5-DB95-BF704754F3E1}"/>
              </a:ext>
            </a:extLst>
          </p:cNvPr>
          <p:cNvSpPr txBox="1">
            <a:spLocks noChangeArrowheads="1"/>
          </p:cNvSpPr>
          <p:nvPr/>
        </p:nvSpPr>
        <p:spPr bwMode="auto">
          <a:xfrm>
            <a:off x="6744832" y="4156185"/>
            <a:ext cx="3124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sz="2000">
                <a:solidFill>
                  <a:srgbClr val="FF0000"/>
                </a:solidFill>
              </a:rPr>
              <a:t>K=4</a:t>
            </a:r>
          </a:p>
        </p:txBody>
      </p:sp>
      <p:sp>
        <p:nvSpPr>
          <p:cNvPr id="7" name="Text Box 8">
            <a:extLst>
              <a:ext uri="{FF2B5EF4-FFF2-40B4-BE49-F238E27FC236}">
                <a16:creationId xmlns:a16="http://schemas.microsoft.com/office/drawing/2014/main" id="{6A7258B5-7418-B7F6-DA2A-26ABD141D52C}"/>
              </a:ext>
            </a:extLst>
          </p:cNvPr>
          <p:cNvSpPr txBox="1">
            <a:spLocks noRot="1" noChangeAspect="1" noMove="1" noResize="1" noEditPoints="1" noAdjustHandles="1" noChangeArrowheads="1" noChangeShapeType="1" noTextEdit="1"/>
          </p:cNvSpPr>
          <p:nvPr/>
        </p:nvSpPr>
        <p:spPr bwMode="auto">
          <a:xfrm>
            <a:off x="944927" y="5047006"/>
            <a:ext cx="3733800" cy="400110"/>
          </a:xfrm>
          <a:prstGeom prst="rect">
            <a:avLst/>
          </a:prstGeom>
          <a:blipFill>
            <a:blip r:embed="rId4"/>
            <a:stretch>
              <a:fillRect l="-1631" t="-9091" b="-25758"/>
            </a:stretch>
          </a:blipFill>
          <a:ln>
            <a:noFill/>
          </a:ln>
        </p:spPr>
        <p:txBody>
          <a:bodyPr/>
          <a:lstStyle/>
          <a:p>
            <a:pPr>
              <a:defRPr/>
            </a:pPr>
            <a:r>
              <a:rPr lang="en-US">
                <a:noFill/>
              </a:rPr>
              <a:t> </a:t>
            </a:r>
          </a:p>
        </p:txBody>
      </p:sp>
    </p:spTree>
    <p:extLst>
      <p:ext uri="{BB962C8B-B14F-4D97-AF65-F5344CB8AC3E}">
        <p14:creationId xmlns:p14="http://schemas.microsoft.com/office/powerpoint/2010/main" val="206572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B4F00-8AF0-EAA1-60EC-62BF0B638BC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B2DD318-D435-94B5-6D8B-22F44741AE9C}"/>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sp>
        <p:nvSpPr>
          <p:cNvPr id="3" name="Text Box 8">
            <a:extLst>
              <a:ext uri="{FF2B5EF4-FFF2-40B4-BE49-F238E27FC236}">
                <a16:creationId xmlns:a16="http://schemas.microsoft.com/office/drawing/2014/main" id="{EDB84357-FE80-E6D8-C9B7-09E975476BFB}"/>
              </a:ext>
            </a:extLst>
          </p:cNvPr>
          <p:cNvSpPr txBox="1">
            <a:spLocks noChangeArrowheads="1"/>
          </p:cNvSpPr>
          <p:nvPr/>
        </p:nvSpPr>
        <p:spPr bwMode="auto">
          <a:xfrm>
            <a:off x="6224588" y="2514600"/>
            <a:ext cx="3124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b="1">
                <a:solidFill>
                  <a:srgbClr val="FF0000"/>
                </a:solidFill>
              </a:rPr>
              <a:t>S=[5 2 8 4]</a:t>
            </a:r>
          </a:p>
        </p:txBody>
      </p:sp>
      <p:pic>
        <p:nvPicPr>
          <p:cNvPr id="4" name="Picture 1">
            <a:extLst>
              <a:ext uri="{FF2B5EF4-FFF2-40B4-BE49-F238E27FC236}">
                <a16:creationId xmlns:a16="http://schemas.microsoft.com/office/drawing/2014/main" id="{60D8EB79-2FA3-9418-B2A2-F075C6C88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238" y="4040188"/>
            <a:ext cx="55340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6DBCA3FA-026A-476A-E271-6B689F6AB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50" y="1935163"/>
            <a:ext cx="523875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0961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FE9A7-17BE-67A5-5F49-9E5AD8D8834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63003A8-DF5B-ACD0-F22A-7E6ADF03C6D2}"/>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1">
            <a:extLst>
              <a:ext uri="{FF2B5EF4-FFF2-40B4-BE49-F238E27FC236}">
                <a16:creationId xmlns:a16="http://schemas.microsoft.com/office/drawing/2014/main" id="{795B81E1-7BA7-1CF8-30B8-235DBC78E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943350"/>
            <a:ext cx="28765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5">
            <a:extLst>
              <a:ext uri="{FF2B5EF4-FFF2-40B4-BE49-F238E27FC236}">
                <a16:creationId xmlns:a16="http://schemas.microsoft.com/office/drawing/2014/main" id="{5EE15E55-E477-90AD-9114-C4CD1F6E286F}"/>
              </a:ext>
            </a:extLst>
          </p:cNvPr>
          <p:cNvSpPr>
            <a:spLocks noChangeArrowheads="1"/>
          </p:cNvSpPr>
          <p:nvPr/>
        </p:nvSpPr>
        <p:spPr bwMode="auto">
          <a:xfrm>
            <a:off x="3733800" y="3886200"/>
            <a:ext cx="457200" cy="7207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5" name="Text Box 8">
            <a:extLst>
              <a:ext uri="{FF2B5EF4-FFF2-40B4-BE49-F238E27FC236}">
                <a16:creationId xmlns:a16="http://schemas.microsoft.com/office/drawing/2014/main" id="{2B785A06-4E6B-0DD7-D75F-BDB30163681C}"/>
              </a:ext>
            </a:extLst>
          </p:cNvPr>
          <p:cNvSpPr txBox="1">
            <a:spLocks noChangeArrowheads="1"/>
          </p:cNvSpPr>
          <p:nvPr/>
        </p:nvSpPr>
        <p:spPr bwMode="auto">
          <a:xfrm>
            <a:off x="6224588" y="2514600"/>
            <a:ext cx="3124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b="1">
                <a:solidFill>
                  <a:srgbClr val="FF0000"/>
                </a:solidFill>
              </a:rPr>
              <a:t>S=[5 2 8 4]</a:t>
            </a:r>
          </a:p>
        </p:txBody>
      </p:sp>
      <p:sp>
        <p:nvSpPr>
          <p:cNvPr id="6" name="Text Box 8">
            <a:extLst>
              <a:ext uri="{FF2B5EF4-FFF2-40B4-BE49-F238E27FC236}">
                <a16:creationId xmlns:a16="http://schemas.microsoft.com/office/drawing/2014/main" id="{F79EAE1F-7FFF-5BEE-09E2-7D15139970A3}"/>
              </a:ext>
            </a:extLst>
          </p:cNvPr>
          <p:cNvSpPr txBox="1">
            <a:spLocks noChangeArrowheads="1"/>
          </p:cNvSpPr>
          <p:nvPr/>
        </p:nvSpPr>
        <p:spPr bwMode="auto">
          <a:xfrm>
            <a:off x="5178425" y="4092575"/>
            <a:ext cx="3124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sz="2000">
                <a:solidFill>
                  <a:srgbClr val="FF0000"/>
                </a:solidFill>
              </a:rPr>
              <a:t>K=4</a:t>
            </a:r>
          </a:p>
        </p:txBody>
      </p:sp>
      <p:sp>
        <p:nvSpPr>
          <p:cNvPr id="7" name="Text Box 8">
            <a:extLst>
              <a:ext uri="{FF2B5EF4-FFF2-40B4-BE49-F238E27FC236}">
                <a16:creationId xmlns:a16="http://schemas.microsoft.com/office/drawing/2014/main" id="{791899B7-4432-2A09-4D15-CC54153DFA19}"/>
              </a:ext>
            </a:extLst>
          </p:cNvPr>
          <p:cNvSpPr txBox="1">
            <a:spLocks noRot="1" noChangeAspect="1" noMove="1" noResize="1" noEditPoints="1" noAdjustHandles="1" noChangeArrowheads="1" noChangeShapeType="1" noTextEdit="1"/>
          </p:cNvSpPr>
          <p:nvPr/>
        </p:nvSpPr>
        <p:spPr bwMode="auto">
          <a:xfrm>
            <a:off x="944927" y="5047006"/>
            <a:ext cx="3733800" cy="400110"/>
          </a:xfrm>
          <a:prstGeom prst="rect">
            <a:avLst/>
          </a:prstGeom>
          <a:blipFill>
            <a:blip r:embed="rId3"/>
            <a:stretch>
              <a:fillRect l="-1631" t="-9091" b="-25758"/>
            </a:stretch>
          </a:blipFill>
          <a:ln>
            <a:noFill/>
          </a:ln>
        </p:spPr>
        <p:txBody>
          <a:bodyPr/>
          <a:lstStyle/>
          <a:p>
            <a:pPr>
              <a:defRPr/>
            </a:pPr>
            <a:r>
              <a:rPr lang="en-US">
                <a:noFill/>
              </a:rPr>
              <a:t> </a:t>
            </a:r>
          </a:p>
        </p:txBody>
      </p:sp>
      <p:pic>
        <p:nvPicPr>
          <p:cNvPr id="8" name="Picture 16">
            <a:extLst>
              <a:ext uri="{FF2B5EF4-FFF2-40B4-BE49-F238E27FC236}">
                <a16:creationId xmlns:a16="http://schemas.microsoft.com/office/drawing/2014/main" id="{28BC2439-711D-EF1A-3A2A-00F00DA949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863" y="1752600"/>
            <a:ext cx="55340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864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80F76-D345-742F-499E-A071BE9AABC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11A1963-11FA-5BD1-46F2-925EE3A1E6F0}"/>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1">
            <a:extLst>
              <a:ext uri="{FF2B5EF4-FFF2-40B4-BE49-F238E27FC236}">
                <a16:creationId xmlns:a16="http://schemas.microsoft.com/office/drawing/2014/main" id="{52998449-7B1F-BD27-4CC0-F3E2EB2C8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544" y="1828799"/>
            <a:ext cx="550545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a:extLst>
              <a:ext uri="{FF2B5EF4-FFF2-40B4-BE49-F238E27FC236}">
                <a16:creationId xmlns:a16="http://schemas.microsoft.com/office/drawing/2014/main" id="{51FBFB91-DEE4-EF10-06CC-B2410F4336F0}"/>
              </a:ext>
            </a:extLst>
          </p:cNvPr>
          <p:cNvSpPr txBox="1">
            <a:spLocks noChangeArrowheads="1"/>
          </p:cNvSpPr>
          <p:nvPr/>
        </p:nvSpPr>
        <p:spPr bwMode="auto">
          <a:xfrm>
            <a:off x="6224588" y="2514600"/>
            <a:ext cx="3124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b="1">
                <a:solidFill>
                  <a:srgbClr val="FF0000"/>
                </a:solidFill>
              </a:rPr>
              <a:t>S=[5 2 4 8]</a:t>
            </a:r>
          </a:p>
        </p:txBody>
      </p:sp>
      <p:sp>
        <p:nvSpPr>
          <p:cNvPr id="5" name="Rectangle 6">
            <a:extLst>
              <a:ext uri="{FF2B5EF4-FFF2-40B4-BE49-F238E27FC236}">
                <a16:creationId xmlns:a16="http://schemas.microsoft.com/office/drawing/2014/main" id="{A8957D55-E1DD-4AD9-0273-D66FE74ECCBF}"/>
              </a:ext>
            </a:extLst>
          </p:cNvPr>
          <p:cNvSpPr>
            <a:spLocks noChangeArrowheads="1"/>
          </p:cNvSpPr>
          <p:nvPr/>
        </p:nvSpPr>
        <p:spPr bwMode="auto">
          <a:xfrm>
            <a:off x="1447800" y="2819400"/>
            <a:ext cx="4419600" cy="762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cs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4pPr>
            <a:lvl5pPr marL="2057400" indent="-228600">
              <a:spcBef>
                <a:spcPct val="20000"/>
              </a:spcBef>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Verdan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pic>
        <p:nvPicPr>
          <p:cNvPr id="6" name="Picture 2">
            <a:extLst>
              <a:ext uri="{FF2B5EF4-FFF2-40B4-BE49-F238E27FC236}">
                <a16:creationId xmlns:a16="http://schemas.microsoft.com/office/drawing/2014/main" id="{BF1644EB-D277-F260-684A-E28254A6F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886200"/>
            <a:ext cx="5505450"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64346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40C1E-A48C-517E-03FB-AF11B2837DA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BBC04DB-A629-58AF-DFA0-D096BEB93C2B}"/>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6">
            <a:extLst>
              <a:ext uri="{FF2B5EF4-FFF2-40B4-BE49-F238E27FC236}">
                <a16:creationId xmlns:a16="http://schemas.microsoft.com/office/drawing/2014/main" id="{B7069721-BD57-4962-04C5-534F19D18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1592263"/>
            <a:ext cx="5505450"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
            <a:extLst>
              <a:ext uri="{FF2B5EF4-FFF2-40B4-BE49-F238E27FC236}">
                <a16:creationId xmlns:a16="http://schemas.microsoft.com/office/drawing/2014/main" id="{768DD871-CC42-8602-68E7-95F9E976D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840163"/>
            <a:ext cx="16002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24590BFD-E2E6-EF3B-9B47-4B1E3F118B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3749675"/>
            <a:ext cx="41052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a:extLst>
              <a:ext uri="{FF2B5EF4-FFF2-40B4-BE49-F238E27FC236}">
                <a16:creationId xmlns:a16="http://schemas.microsoft.com/office/drawing/2014/main" id="{1D910B73-6F3F-7540-A733-1DD1488161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4867275"/>
            <a:ext cx="4314825"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a:extLst>
              <a:ext uri="{FF2B5EF4-FFF2-40B4-BE49-F238E27FC236}">
                <a16:creationId xmlns:a16="http://schemas.microsoft.com/office/drawing/2014/main" id="{BA797411-1A34-D91F-663E-4D8F4C92DA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4425" y="4859338"/>
            <a:ext cx="42481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3360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88725-BE56-9A73-169E-F38433926C1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20B0BE6-36E7-C4CA-1EA0-2214F8D9BDF8}"/>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mc:AlternateContent xmlns:mc="http://schemas.openxmlformats.org/markup-compatibility/2006">
        <mc:Choice xmlns:a14="http://schemas.microsoft.com/office/drawing/2010/main" Requires="a14">
          <p:sp>
            <p:nvSpPr>
              <p:cNvPr id="5" name="文本框 7">
                <a:extLst>
                  <a:ext uri="{FF2B5EF4-FFF2-40B4-BE49-F238E27FC236}">
                    <a16:creationId xmlns:a16="http://schemas.microsoft.com/office/drawing/2014/main" id="{15358FDB-9175-803E-7B78-D2D85C913EEC}"/>
                  </a:ext>
                </a:extLst>
              </p:cNvPr>
              <p:cNvSpPr txBox="1"/>
              <p:nvPr/>
            </p:nvSpPr>
            <p:spPr>
              <a:xfrm>
                <a:off x="2480844" y="2263576"/>
                <a:ext cx="6249531" cy="21997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5400" i="1" smtClean="0">
                              <a:latin typeface="Cambria Math" panose="02040503050406030204" pitchFamily="18" charset="0"/>
                            </a:rPr>
                          </m:ctrlPr>
                        </m:dPr>
                        <m:e>
                          <m:eqArr>
                            <m:eqArrPr>
                              <m:ctrlPr>
                                <a:rPr lang="en-US" sz="5400" i="1">
                                  <a:latin typeface="Cambria Math" panose="02040503050406030204" pitchFamily="18" charset="0"/>
                                </a:rPr>
                              </m:ctrlPr>
                            </m:eqArrPr>
                            <m:e>
                              <m:eqArr>
                                <m:eqArrPr>
                                  <m:ctrlPr>
                                    <a:rPr lang="en-US" sz="5400" i="1">
                                      <a:latin typeface="Cambria Math" panose="02040503050406030204" pitchFamily="18" charset="0"/>
                                    </a:rPr>
                                  </m:ctrlPr>
                                </m:eqArrPr>
                                <m:e>
                                  <m:r>
                                    <a:rPr lang="en-US" sz="5400" b="0" i="1" smtClean="0">
                                      <a:latin typeface="Cambria Math" panose="02040503050406030204" pitchFamily="18" charset="0"/>
                                    </a:rPr>
                                    <m:t>1</m:t>
                                  </m:r>
                                  <m:r>
                                    <a:rPr lang="en-US" sz="5400" i="1">
                                      <a:latin typeface="Cambria Math" panose="02040503050406030204" pitchFamily="18" charset="0"/>
                                    </a:rPr>
                                    <m:t>   </m:t>
                                  </m:r>
                                  <m:r>
                                    <a:rPr lang="en-US" sz="5400" b="0" i="1" smtClean="0">
                                      <a:latin typeface="Cambria Math" panose="02040503050406030204" pitchFamily="18" charset="0"/>
                                    </a:rPr>
                                    <m:t>2    3</m:t>
                                  </m:r>
                                </m:e>
                                <m:e>
                                  <m:r>
                                    <a:rPr lang="en-US" sz="5400" b="0" i="1" smtClean="0">
                                      <a:latin typeface="Cambria Math" panose="02040503050406030204" pitchFamily="18" charset="0"/>
                                    </a:rPr>
                                    <m:t>3   3    5</m:t>
                                  </m:r>
                                </m:e>
                              </m:eqArr>
                            </m:e>
                            <m:e>
                              <m:r>
                                <a:rPr lang="en-US" sz="5400" b="0" i="1" smtClean="0">
                                  <a:latin typeface="Cambria Math" panose="02040503050406030204" pitchFamily="18" charset="0"/>
                                </a:rPr>
                                <m:t>3</m:t>
                              </m:r>
                              <m:r>
                                <a:rPr lang="en-US" sz="5400" i="1">
                                  <a:latin typeface="Cambria Math" panose="02040503050406030204" pitchFamily="18" charset="0"/>
                                </a:rPr>
                                <m:t>   </m:t>
                              </m:r>
                              <m:r>
                                <a:rPr lang="en-US" sz="5400" b="0" i="1" smtClean="0">
                                  <a:latin typeface="Cambria Math" panose="02040503050406030204" pitchFamily="18" charset="0"/>
                                </a:rPr>
                                <m:t>4</m:t>
                              </m:r>
                              <m:r>
                                <a:rPr lang="en-US" sz="5400" i="1">
                                  <a:latin typeface="Cambria Math" panose="02040503050406030204" pitchFamily="18" charset="0"/>
                                </a:rPr>
                                <m:t>    </m:t>
                              </m:r>
                              <m:r>
                                <a:rPr lang="en-US" sz="5400" b="0" i="1" smtClean="0">
                                  <a:latin typeface="Cambria Math" panose="02040503050406030204" pitchFamily="18" charset="0"/>
                                </a:rPr>
                                <m:t>6</m:t>
                              </m:r>
                            </m:e>
                          </m:eqArr>
                        </m:e>
                      </m:d>
                      <m:r>
                        <a:rPr lang="en-US" sz="5400" i="1">
                          <a:latin typeface="Cambria Math" panose="02040503050406030204" pitchFamily="18" charset="0"/>
                        </a:rPr>
                        <m:t> </m:t>
                      </m:r>
                      <m:d>
                        <m:dPr>
                          <m:begChr m:val="["/>
                          <m:endChr m:val="]"/>
                          <m:ctrlPr>
                            <a:rPr lang="en-US" sz="5400" i="1" smtClean="0">
                              <a:latin typeface="Cambria Math" panose="02040503050406030204" pitchFamily="18" charset="0"/>
                            </a:rPr>
                          </m:ctrlPr>
                        </m:dPr>
                        <m:e>
                          <m:eqArr>
                            <m:eqArrPr>
                              <m:ctrlPr>
                                <a:rPr lang="en-US" sz="5400" b="0" i="1" smtClean="0">
                                  <a:latin typeface="Cambria Math" panose="02040503050406030204" pitchFamily="18" charset="0"/>
                                </a:rPr>
                              </m:ctrlPr>
                            </m:eqArrPr>
                            <m:e>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𝑥</m:t>
                                  </m:r>
                                </m:e>
                                <m:sub>
                                  <m:r>
                                    <a:rPr lang="en-US" sz="5400" b="0" i="1" smtClean="0">
                                      <a:latin typeface="Cambria Math" panose="02040503050406030204" pitchFamily="18" charset="0"/>
                                    </a:rPr>
                                    <m:t>1</m:t>
                                  </m:r>
                                </m:sub>
                              </m:sSub>
                            </m:e>
                            <m:e>
                              <m:sSub>
                                <m:sSubPr>
                                  <m:ctrlPr>
                                    <a:rPr lang="en-US" sz="5400" i="1">
                                      <a:latin typeface="Cambria Math" panose="02040503050406030204" pitchFamily="18" charset="0"/>
                                    </a:rPr>
                                  </m:ctrlPr>
                                </m:sSubPr>
                                <m:e>
                                  <m:r>
                                    <a:rPr lang="en-US" sz="5400" b="0" i="1" smtClean="0">
                                      <a:latin typeface="Cambria Math" panose="02040503050406030204" pitchFamily="18" charset="0"/>
                                    </a:rPr>
                                    <m:t>𝑥</m:t>
                                  </m:r>
                                </m:e>
                                <m:sub>
                                  <m:r>
                                    <a:rPr lang="en-US" sz="5400" b="0" i="1" smtClean="0">
                                      <a:latin typeface="Cambria Math" panose="02040503050406030204" pitchFamily="18" charset="0"/>
                                    </a:rPr>
                                    <m:t>2</m:t>
                                  </m:r>
                                </m:sub>
                              </m:sSub>
                            </m:e>
                            <m:e>
                              <m:sSub>
                                <m:sSubPr>
                                  <m:ctrlPr>
                                    <a:rPr lang="en-US" sz="5400" i="1">
                                      <a:latin typeface="Cambria Math" panose="02040503050406030204" pitchFamily="18" charset="0"/>
                                    </a:rPr>
                                  </m:ctrlPr>
                                </m:sSubPr>
                                <m:e>
                                  <m:r>
                                    <a:rPr lang="en-US" sz="5400" i="1">
                                      <a:latin typeface="Cambria Math" panose="02040503050406030204" pitchFamily="18" charset="0"/>
                                    </a:rPr>
                                    <m:t>𝑥</m:t>
                                  </m:r>
                                </m:e>
                                <m:sub>
                                  <m:r>
                                    <a:rPr lang="en-US" sz="5400" b="0" i="1" smtClean="0">
                                      <a:latin typeface="Cambria Math" panose="02040503050406030204" pitchFamily="18" charset="0"/>
                                    </a:rPr>
                                    <m:t>3</m:t>
                                  </m:r>
                                </m:sub>
                              </m:sSub>
                            </m:e>
                          </m:eqArr>
                        </m:e>
                      </m:d>
                      <m:r>
                        <a:rPr lang="en-US" sz="5400" b="0" i="1" smtClean="0">
                          <a:latin typeface="Cambria Math" panose="02040503050406030204" pitchFamily="18" charset="0"/>
                        </a:rPr>
                        <m:t>=</m:t>
                      </m:r>
                      <m:d>
                        <m:dPr>
                          <m:begChr m:val="["/>
                          <m:endChr m:val="]"/>
                          <m:ctrlPr>
                            <a:rPr lang="en-US" sz="5400" i="1">
                              <a:latin typeface="Cambria Math" panose="02040503050406030204" pitchFamily="18" charset="0"/>
                            </a:rPr>
                          </m:ctrlPr>
                        </m:dPr>
                        <m:e>
                          <m:eqArr>
                            <m:eqArrPr>
                              <m:ctrlPr>
                                <a:rPr lang="en-US" sz="5400" b="0" i="1">
                                  <a:latin typeface="Cambria Math" panose="02040503050406030204" pitchFamily="18" charset="0"/>
                                </a:rPr>
                              </m:ctrlPr>
                            </m:eqArrPr>
                            <m:e>
                              <m:r>
                                <a:rPr lang="en-US" sz="5400" b="0" i="1" smtClean="0">
                                  <a:latin typeface="Cambria Math" panose="02040503050406030204" pitchFamily="18" charset="0"/>
                                </a:rPr>
                                <m:t>1</m:t>
                              </m:r>
                            </m:e>
                            <m:e>
                              <m:r>
                                <a:rPr lang="en-US" sz="5400" b="0" i="1" smtClean="0">
                                  <a:latin typeface="Cambria Math" panose="02040503050406030204" pitchFamily="18" charset="0"/>
                                </a:rPr>
                                <m:t>2</m:t>
                              </m:r>
                            </m:e>
                            <m:e>
                              <m:r>
                                <a:rPr lang="en-US" sz="5400" b="0" i="1" smtClean="0">
                                  <a:latin typeface="Cambria Math" panose="02040503050406030204" pitchFamily="18" charset="0"/>
                                </a:rPr>
                                <m:t>3</m:t>
                              </m:r>
                            </m:e>
                          </m:eqArr>
                        </m:e>
                      </m:d>
                    </m:oMath>
                  </m:oMathPara>
                </a14:m>
                <a:endParaRPr lang="en-US" i="1" dirty="0"/>
              </a:p>
            </p:txBody>
          </p:sp>
        </mc:Choice>
        <mc:Fallback>
          <p:sp>
            <p:nvSpPr>
              <p:cNvPr id="5" name="文本框 7">
                <a:extLst>
                  <a:ext uri="{FF2B5EF4-FFF2-40B4-BE49-F238E27FC236}">
                    <a16:creationId xmlns:a16="http://schemas.microsoft.com/office/drawing/2014/main" id="{15358FDB-9175-803E-7B78-D2D85C913EEC}"/>
                  </a:ext>
                </a:extLst>
              </p:cNvPr>
              <p:cNvSpPr txBox="1">
                <a:spLocks noRot="1" noChangeAspect="1" noMove="1" noResize="1" noEditPoints="1" noAdjustHandles="1" noChangeArrowheads="1" noChangeShapeType="1" noTextEdit="1"/>
              </p:cNvSpPr>
              <p:nvPr/>
            </p:nvSpPr>
            <p:spPr>
              <a:xfrm>
                <a:off x="2480844" y="2263576"/>
                <a:ext cx="6249531" cy="2199769"/>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3062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60E07-2AE6-0B4C-5D67-EBE95797D53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5880579-3F42-1EBE-5FCD-B773C3A47C70}"/>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5">
            <a:extLst>
              <a:ext uri="{FF2B5EF4-FFF2-40B4-BE49-F238E27FC236}">
                <a16:creationId xmlns:a16="http://schemas.microsoft.com/office/drawing/2014/main" id="{82241D90-6086-769B-2C7D-001EAB74F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0273" y="1752600"/>
            <a:ext cx="668655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9063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9B86-ABBC-34F7-5301-84AF2063553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4098B1B-56CD-F8C4-709C-DE274F2817FE}"/>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4" name="Picture 6">
            <a:extLst>
              <a:ext uri="{FF2B5EF4-FFF2-40B4-BE49-F238E27FC236}">
                <a16:creationId xmlns:a16="http://schemas.microsoft.com/office/drawing/2014/main" id="{75C8B3D4-C5BC-5077-8EEF-F42EFE77AD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00" y="1449279"/>
            <a:ext cx="8153400"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0122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73E04-D371-0008-CBDF-9ADACBBFED5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5BBCDE3-B9FD-9EAC-42A4-0C344F5F5C78}"/>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1">
            <a:extLst>
              <a:ext uri="{FF2B5EF4-FFF2-40B4-BE49-F238E27FC236}">
                <a16:creationId xmlns:a16="http://schemas.microsoft.com/office/drawing/2014/main" id="{2A0D2B08-D63C-8EB2-5DB8-313951E47C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031" y="1003917"/>
            <a:ext cx="742473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5422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82CE7-AA9F-475E-7E1D-42DD728F94F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8A31C16-9517-A488-25FC-E60291473FA2}"/>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Gaussian Elimination with Scaled Partial Pivoting</a:t>
            </a:r>
            <a:endParaRPr lang="en-US" sz="3200" b="1" dirty="0"/>
          </a:p>
        </p:txBody>
      </p:sp>
      <p:pic>
        <p:nvPicPr>
          <p:cNvPr id="3" name="Picture 2">
            <a:extLst>
              <a:ext uri="{FF2B5EF4-FFF2-40B4-BE49-F238E27FC236}">
                <a16:creationId xmlns:a16="http://schemas.microsoft.com/office/drawing/2014/main" id="{66FB98E5-1DC4-62B4-599F-D80C6B8FB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311" y="3283459"/>
            <a:ext cx="7466860" cy="34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B3A7A1A2-6E4D-5A0A-2817-9B37ECE55A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311" y="857759"/>
            <a:ext cx="7466860" cy="2196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9934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BAF76-C6BC-2775-A590-1DD18655E23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AAB7F34-CFC9-E1B1-53AF-CC0776174567}"/>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t>Overviews</a:t>
            </a:r>
            <a:endParaRPr lang="zh-CN" altLang="en-US" sz="3200" dirty="0"/>
          </a:p>
        </p:txBody>
      </p:sp>
      <p:sp>
        <p:nvSpPr>
          <p:cNvPr id="3" name="文本框 2">
            <a:extLst>
              <a:ext uri="{FF2B5EF4-FFF2-40B4-BE49-F238E27FC236}">
                <a16:creationId xmlns:a16="http://schemas.microsoft.com/office/drawing/2014/main" id="{6C756BF0-098A-7468-A9B1-AB04CA09D584}"/>
              </a:ext>
            </a:extLst>
          </p:cNvPr>
          <p:cNvSpPr txBox="1"/>
          <p:nvPr/>
        </p:nvSpPr>
        <p:spPr>
          <a:xfrm>
            <a:off x="1435145" y="1651177"/>
            <a:ext cx="9289875" cy="3154133"/>
          </a:xfrm>
          <a:prstGeom prst="rect">
            <a:avLst/>
          </a:prstGeom>
          <a:noFill/>
        </p:spPr>
        <p:txBody>
          <a:bodyPr wrap="square">
            <a:spAutoFit/>
          </a:bodyPr>
          <a:lstStyle/>
          <a:p>
            <a:pPr marL="342900" indent="-342900">
              <a:lnSpc>
                <a:spcPct val="250000"/>
              </a:lnSpc>
              <a:buFont typeface="Arial" panose="020B0604020202020204" pitchFamily="34" charset="0"/>
              <a:buChar char="•"/>
            </a:pPr>
            <a:r>
              <a:rPr lang="en-US" altLang="zh-CN" sz="2800" b="1" dirty="0">
                <a:solidFill>
                  <a:schemeClr val="bg1">
                    <a:lumMod val="65000"/>
                  </a:schemeClr>
                </a:solidFill>
              </a:rPr>
              <a:t>Loss of Significance</a:t>
            </a:r>
          </a:p>
          <a:p>
            <a:pPr marL="342900" indent="-342900">
              <a:lnSpc>
                <a:spcPct val="250000"/>
              </a:lnSpc>
              <a:buFont typeface="Arial" panose="020B0604020202020204" pitchFamily="34" charset="0"/>
              <a:buChar char="•"/>
            </a:pPr>
            <a:r>
              <a:rPr lang="en-US" altLang="zh-CN" sz="2800" b="1" dirty="0">
                <a:solidFill>
                  <a:schemeClr val="bg1">
                    <a:lumMod val="65000"/>
                  </a:schemeClr>
                </a:solidFill>
              </a:rPr>
              <a:t>Gaussian Elimination with Scaled Partial Pivoting</a:t>
            </a:r>
          </a:p>
          <a:p>
            <a:pPr marL="342900" indent="-342900">
              <a:lnSpc>
                <a:spcPct val="250000"/>
              </a:lnSpc>
              <a:buFont typeface="Arial" panose="020B0604020202020204" pitchFamily="34" charset="0"/>
              <a:buChar char="•"/>
            </a:pPr>
            <a:r>
              <a:rPr lang="en-US" altLang="en-US" sz="2800" b="1" dirty="0"/>
              <a:t>LU F</a:t>
            </a:r>
            <a:r>
              <a:rPr lang="en-US" altLang="zh-CN" sz="2800" b="1" dirty="0"/>
              <a:t>ac</a:t>
            </a:r>
            <a:r>
              <a:rPr lang="en-US" altLang="zh-CN" sz="2800" b="1" i="1" dirty="0"/>
              <a:t>toriz</a:t>
            </a:r>
            <a:r>
              <a:rPr lang="en-US" altLang="zh-CN" sz="2800" b="1" dirty="0"/>
              <a:t>ation</a:t>
            </a:r>
          </a:p>
        </p:txBody>
      </p:sp>
    </p:spTree>
    <p:extLst>
      <p:ext uri="{BB962C8B-B14F-4D97-AF65-F5344CB8AC3E}">
        <p14:creationId xmlns:p14="http://schemas.microsoft.com/office/powerpoint/2010/main" val="1953970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E92DF-3B20-8DCD-A24E-F9121DEFE9F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2FA192C-4420-AE81-AF15-23ECF7FC7516}"/>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Rectangle 2">
            <a:extLst>
              <a:ext uri="{FF2B5EF4-FFF2-40B4-BE49-F238E27FC236}">
                <a16:creationId xmlns:a16="http://schemas.microsoft.com/office/drawing/2014/main" id="{0ADB2FFD-8B00-2C06-4D2E-E04DB93CACDD}"/>
              </a:ext>
            </a:extLst>
          </p:cNvPr>
          <p:cNvSpPr txBox="1">
            <a:spLocks noChangeArrowheads="1"/>
          </p:cNvSpPr>
          <p:nvPr/>
        </p:nvSpPr>
        <p:spPr>
          <a:xfrm>
            <a:off x="-1748901" y="556334"/>
            <a:ext cx="9144000" cy="1143000"/>
          </a:xfrm>
          <a:prstGeom prst="rect">
            <a:avLst/>
          </a:prstGeom>
        </p:spPr>
        <p:txBody>
          <a:bodyPr vert="horz" lIns="91440" tIns="45720" rIns="91440" bIns="45720" rtlCol="0" anchor="b">
            <a:normAutofit/>
          </a:bodyPr>
          <a:lstStyle>
            <a:lvl1pPr algn="ctr" defTabSz="822960" rtl="0" eaLnBrk="1" latinLnBrk="0" hangingPunct="1">
              <a:lnSpc>
                <a:spcPct val="90000"/>
              </a:lnSpc>
              <a:spcBef>
                <a:spcPct val="0"/>
              </a:spcBef>
              <a:buNone/>
              <a:defRPr sz="5400" kern="1200">
                <a:solidFill>
                  <a:schemeClr val="tx1"/>
                </a:solidFill>
                <a:latin typeface="+mj-lt"/>
                <a:ea typeface="+mj-ea"/>
                <a:cs typeface="+mj-cs"/>
              </a:defRPr>
            </a:lvl1pPr>
          </a:lstStyle>
          <a:p>
            <a:r>
              <a:rPr lang="en-US" altLang="en-US" sz="3200" dirty="0">
                <a:latin typeface="Arial" panose="020B0604020202020204" pitchFamily="34" charset="0"/>
              </a:rPr>
              <a:t>Gaussian elimination</a:t>
            </a:r>
            <a:endParaRPr lang="en-US" altLang="en-US" sz="3200" dirty="0"/>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B32648B-4560-F594-398A-0DE4E10A8B78}"/>
                  </a:ext>
                </a:extLst>
              </p:cNvPr>
              <p:cNvSpPr txBox="1"/>
              <p:nvPr/>
            </p:nvSpPr>
            <p:spPr>
              <a:xfrm>
                <a:off x="1530406" y="1869133"/>
                <a:ext cx="7911988" cy="22476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5400" b="0" i="0" smtClean="0">
                          <a:latin typeface="Cambria Math" panose="02040503050406030204" pitchFamily="18" charset="0"/>
                        </a:rPr>
                        <m:t>A</m:t>
                      </m:r>
                      <m:r>
                        <a:rPr lang="en-US" sz="5400" b="0" i="0" smtClean="0">
                          <a:latin typeface="Cambria Math" panose="02040503050406030204" pitchFamily="18" charset="0"/>
                        </a:rPr>
                        <m:t>=</m:t>
                      </m:r>
                      <m:d>
                        <m:dPr>
                          <m:begChr m:val="["/>
                          <m:endChr m:val="]"/>
                          <m:ctrlPr>
                            <a:rPr lang="en-US" sz="5400" i="1" smtClean="0">
                              <a:latin typeface="Cambria Math" panose="02040503050406030204" pitchFamily="18" charset="0"/>
                            </a:rPr>
                          </m:ctrlPr>
                        </m:dPr>
                        <m:e>
                          <m:eqArr>
                            <m:eqArrPr>
                              <m:ctrlPr>
                                <a:rPr lang="en-US" sz="5400" i="1">
                                  <a:latin typeface="Cambria Math" panose="02040503050406030204" pitchFamily="18" charset="0"/>
                                </a:rPr>
                              </m:ctrlPr>
                            </m:eqArrPr>
                            <m:e>
                              <m:eqArr>
                                <m:eqArrPr>
                                  <m:ctrlPr>
                                    <a:rPr lang="en-US" sz="5400" i="1" smtClean="0">
                                      <a:latin typeface="Cambria Math" panose="02040503050406030204" pitchFamily="18" charset="0"/>
                                    </a:rPr>
                                  </m:ctrlPr>
                                </m:eqArrPr>
                                <m:e>
                                  <m:r>
                                    <a:rPr lang="en-US" sz="5400" b="0" i="1" smtClean="0">
                                      <a:latin typeface="Cambria Math" panose="02040503050406030204" pitchFamily="18" charset="0"/>
                                    </a:rPr>
                                    <m:t>2</m:t>
                                  </m:r>
                                  <m:r>
                                    <a:rPr lang="en-US" sz="5400" i="1">
                                      <a:latin typeface="Cambria Math" panose="02040503050406030204" pitchFamily="18" charset="0"/>
                                    </a:rPr>
                                    <m:t>   </m:t>
                                  </m:r>
                                  <m:r>
                                    <a:rPr lang="en-US" sz="5400" b="0" i="1" smtClean="0">
                                      <a:latin typeface="Cambria Math" panose="02040503050406030204" pitchFamily="18" charset="0"/>
                                    </a:rPr>
                                    <m:t>1</m:t>
                                  </m:r>
                                  <m:r>
                                    <a:rPr lang="en-US" sz="5400" b="0" i="1" smtClean="0">
                                      <a:latin typeface="Cambria Math" panose="02040503050406030204" pitchFamily="18" charset="0"/>
                                    </a:rPr>
                                    <m:t>    </m:t>
                                  </m:r>
                                  <m:r>
                                    <a:rPr lang="en-US" sz="5400" b="0" i="1" smtClean="0">
                                      <a:latin typeface="Cambria Math" panose="02040503050406030204" pitchFamily="18" charset="0"/>
                                    </a:rPr>
                                    <m:t>1</m:t>
                                  </m:r>
                                </m:e>
                                <m:e>
                                  <m:r>
                                    <a:rPr lang="en-US" sz="5400" b="0" i="1" smtClean="0">
                                      <a:latin typeface="Cambria Math" panose="02040503050406030204" pitchFamily="18" charset="0"/>
                                    </a:rPr>
                                    <m:t>4 </m:t>
                                  </m:r>
                                  <m:r>
                                    <a:rPr lang="en-US" sz="5400" b="0" i="1" smtClean="0">
                                      <a:latin typeface="Cambria Math" panose="02040503050406030204" pitchFamily="18" charset="0"/>
                                      <a:ea typeface="Cambria Math" panose="02040503050406030204" pitchFamily="18" charset="0"/>
                                    </a:rPr>
                                    <m:t>−</m:t>
                                  </m:r>
                                  <m:r>
                                    <a:rPr lang="en-US" sz="5400" b="0" i="1" smtClean="0">
                                      <a:latin typeface="Cambria Math" panose="02040503050406030204" pitchFamily="18" charset="0"/>
                                    </a:rPr>
                                    <m:t>6</m:t>
                                  </m:r>
                                  <m:r>
                                    <a:rPr lang="en-US" sz="5400" b="0" i="1" smtClean="0">
                                      <a:latin typeface="Cambria Math" panose="02040503050406030204" pitchFamily="18" charset="0"/>
                                    </a:rPr>
                                    <m:t>  </m:t>
                                  </m:r>
                                  <m:r>
                                    <a:rPr lang="en-US" sz="5400" b="0" i="1" smtClean="0">
                                      <a:latin typeface="Cambria Math" panose="02040503050406030204" pitchFamily="18" charset="0"/>
                                    </a:rPr>
                                    <m:t>5</m:t>
                                  </m:r>
                                </m:e>
                              </m:eqArr>
                            </m:e>
                            <m:e>
                              <m:r>
                                <a:rPr lang="en-US" sz="5400" b="0" i="1" smtClean="0">
                                  <a:latin typeface="Cambria Math" panose="02040503050406030204" pitchFamily="18" charset="0"/>
                                </a:rPr>
                                <m:t>−2</m:t>
                              </m:r>
                              <m:r>
                                <a:rPr lang="en-US" sz="5400" i="1">
                                  <a:latin typeface="Cambria Math" panose="02040503050406030204" pitchFamily="18" charset="0"/>
                                </a:rPr>
                                <m:t>   </m:t>
                              </m:r>
                              <m:r>
                                <a:rPr lang="en-US" sz="5400" b="0" i="1" smtClean="0">
                                  <a:latin typeface="Cambria Math" panose="02040503050406030204" pitchFamily="18" charset="0"/>
                                </a:rPr>
                                <m:t>7</m:t>
                              </m:r>
                              <m:r>
                                <a:rPr lang="en-US" sz="5400" i="1">
                                  <a:latin typeface="Cambria Math" panose="02040503050406030204" pitchFamily="18" charset="0"/>
                                </a:rPr>
                                <m:t>  </m:t>
                              </m:r>
                              <m:r>
                                <a:rPr lang="en-US" sz="5400" b="0" i="1" smtClean="0">
                                  <a:latin typeface="Cambria Math" panose="02040503050406030204" pitchFamily="18" charset="0"/>
                                </a:rPr>
                                <m:t>0</m:t>
                              </m:r>
                            </m:e>
                          </m:eqArr>
                        </m:e>
                      </m:d>
                    </m:oMath>
                  </m:oMathPara>
                </a14:m>
                <a:endParaRPr lang="en-US" dirty="0"/>
              </a:p>
            </p:txBody>
          </p:sp>
        </mc:Choice>
        <mc:Fallback>
          <p:sp>
            <p:nvSpPr>
              <p:cNvPr id="12" name="TextBox 11">
                <a:extLst>
                  <a:ext uri="{FF2B5EF4-FFF2-40B4-BE49-F238E27FC236}">
                    <a16:creationId xmlns:a16="http://schemas.microsoft.com/office/drawing/2014/main" id="{3B32648B-4560-F594-398A-0DE4E10A8B78}"/>
                  </a:ext>
                </a:extLst>
              </p:cNvPr>
              <p:cNvSpPr txBox="1">
                <a:spLocks noRot="1" noChangeAspect="1" noMove="1" noResize="1" noEditPoints="1" noAdjustHandles="1" noChangeArrowheads="1" noChangeShapeType="1" noTextEdit="1"/>
              </p:cNvSpPr>
              <p:nvPr/>
            </p:nvSpPr>
            <p:spPr>
              <a:xfrm>
                <a:off x="1530406" y="1869133"/>
                <a:ext cx="7911988" cy="224760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76C306C-3431-BC5F-3D99-274CDFB36EF5}"/>
                  </a:ext>
                </a:extLst>
              </p:cNvPr>
              <p:cNvSpPr txBox="1"/>
              <p:nvPr/>
            </p:nvSpPr>
            <p:spPr>
              <a:xfrm>
                <a:off x="1407678" y="4375681"/>
                <a:ext cx="7911988" cy="22476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𝑈</m:t>
                      </m:r>
                      <m:r>
                        <a:rPr lang="en-US" sz="5400" b="0" i="1" smtClean="0">
                          <a:latin typeface="Cambria Math" panose="02040503050406030204" pitchFamily="18" charset="0"/>
                        </a:rPr>
                        <m:t>=</m:t>
                      </m:r>
                      <m:d>
                        <m:dPr>
                          <m:begChr m:val="["/>
                          <m:endChr m:val="]"/>
                          <m:ctrlPr>
                            <a:rPr lang="en-US" sz="5400" i="1" smtClean="0">
                              <a:latin typeface="Cambria Math" panose="02040503050406030204" pitchFamily="18" charset="0"/>
                            </a:rPr>
                          </m:ctrlPr>
                        </m:dPr>
                        <m:e>
                          <m:eqArr>
                            <m:eqArrPr>
                              <m:ctrlPr>
                                <a:rPr lang="en-US" sz="5400" i="1">
                                  <a:latin typeface="Cambria Math" panose="02040503050406030204" pitchFamily="18" charset="0"/>
                                </a:rPr>
                              </m:ctrlPr>
                            </m:eqArrPr>
                            <m:e>
                              <m:eqArr>
                                <m:eqArrPr>
                                  <m:ctrlPr>
                                    <a:rPr lang="en-US" sz="5400" i="1" smtClean="0">
                                      <a:latin typeface="Cambria Math" panose="02040503050406030204" pitchFamily="18" charset="0"/>
                                    </a:rPr>
                                  </m:ctrlPr>
                                </m:eqArrPr>
                                <m:e>
                                  <m:r>
                                    <a:rPr lang="en-US" sz="5400" b="0" i="1" smtClean="0">
                                      <a:latin typeface="Cambria Math" panose="02040503050406030204" pitchFamily="18" charset="0"/>
                                    </a:rPr>
                                    <m:t>2 </m:t>
                                  </m:r>
                                  <m:r>
                                    <a:rPr lang="en-US" sz="5400" i="1">
                                      <a:latin typeface="Cambria Math" panose="02040503050406030204" pitchFamily="18" charset="0"/>
                                    </a:rPr>
                                    <m:t>  </m:t>
                                  </m:r>
                                  <m:r>
                                    <a:rPr lang="en-US" sz="5400" b="0" i="1" smtClean="0">
                                      <a:latin typeface="Cambria Math" panose="02040503050406030204" pitchFamily="18" charset="0"/>
                                    </a:rPr>
                                    <m:t>1</m:t>
                                  </m:r>
                                  <m:r>
                                    <a:rPr lang="en-US" sz="5400" b="0" i="1" smtClean="0">
                                      <a:latin typeface="Cambria Math" panose="02040503050406030204" pitchFamily="18" charset="0"/>
                                    </a:rPr>
                                    <m:t>    </m:t>
                                  </m:r>
                                  <m:r>
                                    <a:rPr lang="en-US" sz="5400" b="0" i="1" smtClean="0">
                                      <a:latin typeface="Cambria Math" panose="02040503050406030204" pitchFamily="18" charset="0"/>
                                    </a:rPr>
                                    <m:t>1</m:t>
                                  </m:r>
                                </m:e>
                                <m:e>
                                  <m:r>
                                    <a:rPr lang="en-US" sz="5400" b="0" i="1" smtClean="0">
                                      <a:latin typeface="Cambria Math" panose="02040503050406030204" pitchFamily="18" charset="0"/>
                                    </a:rPr>
                                    <m:t>0−8</m:t>
                                  </m:r>
                                  <m:r>
                                    <a:rPr lang="en-US" sz="5400" b="0" i="1" smtClean="0">
                                      <a:latin typeface="Cambria Math" panose="02040503050406030204" pitchFamily="18" charset="0"/>
                                    </a:rPr>
                                    <m:t> </m:t>
                                  </m:r>
                                  <m:r>
                                    <a:rPr lang="en-US" sz="5400" b="0" i="1" smtClean="0">
                                      <a:latin typeface="Cambria Math" panose="02040503050406030204" pitchFamily="18" charset="0"/>
                                    </a:rPr>
                                    <m:t>−2</m:t>
                                  </m:r>
                                </m:e>
                              </m:eqArr>
                            </m:e>
                            <m:e>
                              <m:r>
                                <a:rPr lang="en-US" sz="5400" b="0" i="1" smtClean="0">
                                  <a:latin typeface="Cambria Math" panose="02040503050406030204" pitchFamily="18" charset="0"/>
                                </a:rPr>
                                <m:t>0    0   </m:t>
                              </m:r>
                              <m:r>
                                <a:rPr lang="en-US" sz="5400" i="1">
                                  <a:latin typeface="Cambria Math" panose="02040503050406030204" pitchFamily="18" charset="0"/>
                                </a:rPr>
                                <m:t>  </m:t>
                              </m:r>
                              <m:r>
                                <a:rPr lang="en-US" sz="5400" b="0" i="1" smtClean="0">
                                  <a:latin typeface="Cambria Math" panose="02040503050406030204" pitchFamily="18" charset="0"/>
                                </a:rPr>
                                <m:t>1</m:t>
                              </m:r>
                            </m:e>
                          </m:eqArr>
                        </m:e>
                      </m:d>
                    </m:oMath>
                  </m:oMathPara>
                </a14:m>
                <a:endParaRPr lang="en-US" dirty="0"/>
              </a:p>
            </p:txBody>
          </p:sp>
        </mc:Choice>
        <mc:Fallback>
          <p:sp>
            <p:nvSpPr>
              <p:cNvPr id="13" name="TextBox 12">
                <a:extLst>
                  <a:ext uri="{FF2B5EF4-FFF2-40B4-BE49-F238E27FC236}">
                    <a16:creationId xmlns:a16="http://schemas.microsoft.com/office/drawing/2014/main" id="{776C306C-3431-BC5F-3D99-274CDFB36EF5}"/>
                  </a:ext>
                </a:extLst>
              </p:cNvPr>
              <p:cNvSpPr txBox="1">
                <a:spLocks noRot="1" noChangeAspect="1" noMove="1" noResize="1" noEditPoints="1" noAdjustHandles="1" noChangeArrowheads="1" noChangeShapeType="1" noTextEdit="1"/>
              </p:cNvSpPr>
              <p:nvPr/>
            </p:nvSpPr>
            <p:spPr>
              <a:xfrm>
                <a:off x="1407678" y="4375681"/>
                <a:ext cx="7911988" cy="224760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85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C97D-2D36-A9DB-1D31-28DC68A3F23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5915171-6AAC-D9CC-4EEB-72F4045F6DC8}"/>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5" name="Text Box 16">
            <a:extLst>
              <a:ext uri="{FF2B5EF4-FFF2-40B4-BE49-F238E27FC236}">
                <a16:creationId xmlns:a16="http://schemas.microsoft.com/office/drawing/2014/main" id="{F1DE1861-6073-7541-B7E8-B6DE63FFEF3B}"/>
              </a:ext>
            </a:extLst>
          </p:cNvPr>
          <p:cNvSpPr txBox="1">
            <a:spLocks noChangeArrowheads="1"/>
          </p:cNvSpPr>
          <p:nvPr/>
        </p:nvSpPr>
        <p:spPr bwMode="auto">
          <a:xfrm>
            <a:off x="692342" y="836425"/>
            <a:ext cx="9900313"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dirty="0">
                <a:latin typeface="Arial" panose="020B0604020202020204" pitchFamily="34" charset="0"/>
              </a:rPr>
              <a:t>For most non-singular matrix [</a:t>
            </a:r>
            <a:r>
              <a:rPr lang="en-US" altLang="en-US" sz="2400" i="1" dirty="0">
                <a:latin typeface="Arial" panose="020B0604020202020204" pitchFamily="34" charset="0"/>
              </a:rPr>
              <a:t>A</a:t>
            </a:r>
            <a:r>
              <a:rPr lang="en-US" altLang="en-US" sz="2400" dirty="0">
                <a:latin typeface="Arial" panose="020B0604020202020204" pitchFamily="34" charset="0"/>
              </a:rPr>
              <a:t>] that one could conduct Naïve Gauss Elimination forward elimination steps, one can always write it as</a:t>
            </a:r>
          </a:p>
          <a:p>
            <a:pPr algn="ctr" eaLnBrk="1" hangingPunct="1">
              <a:spcBef>
                <a:spcPct val="50000"/>
              </a:spcBef>
              <a:buClrTx/>
              <a:buSzTx/>
              <a:buFontTx/>
              <a:buNone/>
            </a:pP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A</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Times New Roman" panose="02020603050405020304" pitchFamily="18" charset="0"/>
              </a:rPr>
              <a:t>L</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U</a:t>
            </a:r>
            <a:r>
              <a:rPr lang="en-US" altLang="en-US" dirty="0">
                <a:latin typeface="Times New Roman" panose="02020603050405020304" pitchFamily="18" charset="0"/>
                <a:cs typeface="Times New Roman" panose="02020603050405020304" pitchFamily="18" charset="0"/>
              </a:rPr>
              <a:t>]</a:t>
            </a:r>
          </a:p>
          <a:p>
            <a:pPr eaLnBrk="1" hangingPunct="1">
              <a:spcBef>
                <a:spcPct val="50000"/>
              </a:spcBef>
              <a:buClrTx/>
              <a:buSzTx/>
              <a:buFontTx/>
              <a:buNone/>
            </a:pPr>
            <a:r>
              <a:rPr lang="en-US" altLang="en-US" sz="2800" dirty="0">
                <a:latin typeface="Arial" panose="020B0604020202020204" pitchFamily="34" charset="0"/>
              </a:rPr>
              <a:t>where</a:t>
            </a:r>
          </a:p>
          <a:p>
            <a:pPr eaLnBrk="1" hangingPunct="1">
              <a:spcBef>
                <a:spcPct val="50000"/>
              </a:spcBef>
              <a:buClrTx/>
              <a:buSzTx/>
              <a:buFontTx/>
              <a:buNone/>
            </a:pPr>
            <a:r>
              <a:rPr lang="en-US" altLang="en-US" sz="2800" dirty="0">
                <a:latin typeface="Arial" panose="020B0604020202020204" pitchFamily="34" charset="0"/>
              </a:rPr>
              <a:t>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L</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Arial" panose="020B0604020202020204" pitchFamily="34" charset="0"/>
              </a:rPr>
              <a:t>= lower triangular matrix</a:t>
            </a:r>
          </a:p>
          <a:p>
            <a:pPr eaLnBrk="1" hangingPunct="1">
              <a:spcBef>
                <a:spcPct val="50000"/>
              </a:spcBef>
              <a:buClrTx/>
              <a:buSzTx/>
              <a:buFontTx/>
              <a:buNone/>
            </a:pPr>
            <a:r>
              <a:rPr lang="en-US" altLang="en-US" sz="2800" dirty="0">
                <a:latin typeface="Arial" panose="020B0604020202020204" pitchFamily="34" charset="0"/>
              </a:rPr>
              <a:t>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U</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Arial" panose="020B0604020202020204" pitchFamily="34" charset="0"/>
              </a:rPr>
              <a:t>= upper triangular matrix</a:t>
            </a:r>
          </a:p>
          <a:p>
            <a:pPr algn="ctr" eaLnBrk="1" hangingPunct="1">
              <a:spcBef>
                <a:spcPct val="50000"/>
              </a:spcBef>
              <a:buClrTx/>
              <a:buSzTx/>
              <a:buFontTx/>
              <a:buNone/>
            </a:pPr>
            <a:endParaRPr lang="en-US" altLang="en-US" sz="2400" dirty="0">
              <a:latin typeface="Arial" panose="020B0604020202020204" pitchFamily="34" charset="0"/>
            </a:endParaRPr>
          </a:p>
        </p:txBody>
      </p:sp>
      <p:graphicFrame>
        <p:nvGraphicFramePr>
          <p:cNvPr id="6" name="Object 4">
            <a:extLst>
              <a:ext uri="{FF2B5EF4-FFF2-40B4-BE49-F238E27FC236}">
                <a16:creationId xmlns:a16="http://schemas.microsoft.com/office/drawing/2014/main" id="{E7EB93B6-7D33-C143-01F7-F83E930D4765}"/>
              </a:ext>
            </a:extLst>
          </p:cNvPr>
          <p:cNvGraphicFramePr>
            <a:graphicFrameLocks noChangeAspect="1"/>
          </p:cNvGraphicFramePr>
          <p:nvPr>
            <p:extLst>
              <p:ext uri="{D42A27DB-BD31-4B8C-83A1-F6EECF244321}">
                <p14:modId xmlns:p14="http://schemas.microsoft.com/office/powerpoint/2010/main" val="4139314215"/>
              </p:ext>
            </p:extLst>
          </p:nvPr>
        </p:nvGraphicFramePr>
        <p:xfrm>
          <a:off x="2518298" y="5053144"/>
          <a:ext cx="6248400" cy="1562100"/>
        </p:xfrm>
        <a:graphic>
          <a:graphicData uri="http://schemas.openxmlformats.org/presentationml/2006/ole">
            <mc:AlternateContent xmlns:mc="http://schemas.openxmlformats.org/markup-compatibility/2006">
              <mc:Choice xmlns:v="urn:schemas-microsoft-com:vml" Requires="v">
                <p:oleObj name="Equation" r:id="rId2" imgW="2755900" imgH="711200" progId="Equation.3">
                  <p:embed/>
                </p:oleObj>
              </mc:Choice>
              <mc:Fallback>
                <p:oleObj name="Equation" r:id="rId2" imgW="2755900" imgH="711200" progId="Equation.3">
                  <p:embed/>
                  <p:pic>
                    <p:nvPicPr>
                      <p:cNvPr id="49156" name="Object 4">
                        <a:extLst>
                          <a:ext uri="{FF2B5EF4-FFF2-40B4-BE49-F238E27FC236}">
                            <a16:creationId xmlns:a16="http://schemas.microsoft.com/office/drawing/2014/main" id="{D26E8A3B-A91F-00D2-EE33-1D96E0ED6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8298" y="5053144"/>
                        <a:ext cx="62484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383476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21F2F-790E-0214-51EA-10EBE0A4387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8A09CB2-D267-B6DF-47C2-80C06F683A94}"/>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5" name="TextBox 4">
            <a:extLst>
              <a:ext uri="{FF2B5EF4-FFF2-40B4-BE49-F238E27FC236}">
                <a16:creationId xmlns:a16="http://schemas.microsoft.com/office/drawing/2014/main" id="{B12814F6-E2A0-021E-712F-07CD50309A18}"/>
              </a:ext>
            </a:extLst>
          </p:cNvPr>
          <p:cNvSpPr txBox="1"/>
          <p:nvPr/>
        </p:nvSpPr>
        <p:spPr>
          <a:xfrm>
            <a:off x="1073425" y="4419420"/>
            <a:ext cx="9342783" cy="1754326"/>
          </a:xfrm>
          <a:prstGeom prst="rect">
            <a:avLst/>
          </a:prstGeom>
          <a:noFill/>
        </p:spPr>
        <p:txBody>
          <a:bodyPr wrap="square">
            <a:spAutoFit/>
          </a:bodyPr>
          <a:lstStyle/>
          <a:p>
            <a:pPr eaLnBrk="1" hangingPunct="1">
              <a:spcBef>
                <a:spcPct val="50000"/>
              </a:spcBef>
              <a:buClrTx/>
              <a:buSzTx/>
              <a:buFontTx/>
              <a:buNone/>
            </a:pPr>
            <a:r>
              <a:rPr lang="en-US" altLang="en-US" sz="2400" dirty="0">
                <a:latin typeface="Arial" panose="020B0604020202020204" pitchFamily="34" charset="0"/>
              </a:rPr>
              <a:t>[</a:t>
            </a:r>
            <a:r>
              <a:rPr lang="en-US" altLang="en-US" sz="2400" i="1" dirty="0">
                <a:latin typeface="Arial" panose="020B0604020202020204" pitchFamily="34" charset="0"/>
              </a:rPr>
              <a:t>U</a:t>
            </a:r>
            <a:r>
              <a:rPr lang="en-US" altLang="en-US" sz="2400" dirty="0">
                <a:latin typeface="Arial" panose="020B0604020202020204" pitchFamily="34" charset="0"/>
              </a:rPr>
              <a:t>] is the same as the coefficient matrix at the end of the forward elimination step.</a:t>
            </a:r>
          </a:p>
          <a:p>
            <a:pPr eaLnBrk="1" hangingPunct="1">
              <a:spcBef>
                <a:spcPct val="50000"/>
              </a:spcBef>
              <a:buClrTx/>
              <a:buSzTx/>
              <a:buFontTx/>
              <a:buNone/>
            </a:pPr>
            <a:r>
              <a:rPr lang="en-US" altLang="en-US" sz="2400" dirty="0">
                <a:latin typeface="Arial" panose="020B0604020202020204" pitchFamily="34" charset="0"/>
              </a:rPr>
              <a:t>[</a:t>
            </a:r>
            <a:r>
              <a:rPr lang="en-US" altLang="en-US" sz="2400" i="1" dirty="0">
                <a:latin typeface="Arial" panose="020B0604020202020204" pitchFamily="34" charset="0"/>
              </a:rPr>
              <a:t>L</a:t>
            </a:r>
            <a:r>
              <a:rPr lang="en-US" altLang="en-US" sz="2400" dirty="0">
                <a:latin typeface="Arial" panose="020B0604020202020204" pitchFamily="34" charset="0"/>
              </a:rPr>
              <a:t>] is obtained using the </a:t>
            </a:r>
            <a:r>
              <a:rPr lang="en-US" altLang="en-US" sz="2400" i="1" dirty="0">
                <a:latin typeface="Arial" panose="020B0604020202020204" pitchFamily="34" charset="0"/>
              </a:rPr>
              <a:t>multipliers</a:t>
            </a:r>
            <a:r>
              <a:rPr lang="en-US" altLang="en-US" sz="2400" dirty="0">
                <a:latin typeface="Arial" panose="020B0604020202020204" pitchFamily="34" charset="0"/>
              </a:rPr>
              <a:t> that were used in the forward elimination process</a:t>
            </a:r>
          </a:p>
        </p:txBody>
      </p:sp>
      <p:graphicFrame>
        <p:nvGraphicFramePr>
          <p:cNvPr id="6" name="Object 4">
            <a:extLst>
              <a:ext uri="{FF2B5EF4-FFF2-40B4-BE49-F238E27FC236}">
                <a16:creationId xmlns:a16="http://schemas.microsoft.com/office/drawing/2014/main" id="{4C979C41-8592-F05E-6DCF-08B46E4D89B9}"/>
              </a:ext>
            </a:extLst>
          </p:cNvPr>
          <p:cNvGraphicFramePr>
            <a:graphicFrameLocks noChangeAspect="1"/>
          </p:cNvGraphicFramePr>
          <p:nvPr>
            <p:extLst>
              <p:ext uri="{D42A27DB-BD31-4B8C-83A1-F6EECF244321}">
                <p14:modId xmlns:p14="http://schemas.microsoft.com/office/powerpoint/2010/main" val="4197653872"/>
              </p:ext>
            </p:extLst>
          </p:nvPr>
        </p:nvGraphicFramePr>
        <p:xfrm>
          <a:off x="2430833" y="1866900"/>
          <a:ext cx="6248400" cy="1562100"/>
        </p:xfrm>
        <a:graphic>
          <a:graphicData uri="http://schemas.openxmlformats.org/presentationml/2006/ole">
            <mc:AlternateContent xmlns:mc="http://schemas.openxmlformats.org/markup-compatibility/2006">
              <mc:Choice xmlns:v="urn:schemas-microsoft-com:vml" Requires="v">
                <p:oleObj name="Equation" r:id="rId2" imgW="2755900" imgH="711200" progId="Equation.3">
                  <p:embed/>
                </p:oleObj>
              </mc:Choice>
              <mc:Fallback>
                <p:oleObj name="Equation" r:id="rId2" imgW="2755900" imgH="711200" progId="Equation.3">
                  <p:embed/>
                  <p:pic>
                    <p:nvPicPr>
                      <p:cNvPr id="6" name="Object 4">
                        <a:extLst>
                          <a:ext uri="{FF2B5EF4-FFF2-40B4-BE49-F238E27FC236}">
                            <a16:creationId xmlns:a16="http://schemas.microsoft.com/office/drawing/2014/main" id="{E7EB93B6-7D33-C143-01F7-F83E930D47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0833" y="1866900"/>
                        <a:ext cx="62484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00034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A428E-7DBD-2288-8D12-179AE39F466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BC053BD-B7CE-D392-D5B0-C9ED67F3239F}"/>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pic>
        <p:nvPicPr>
          <p:cNvPr id="3" name="Picture 3">
            <a:extLst>
              <a:ext uri="{FF2B5EF4-FFF2-40B4-BE49-F238E27FC236}">
                <a16:creationId xmlns:a16="http://schemas.microsoft.com/office/drawing/2014/main" id="{A53D4AEB-5C57-5639-A58D-701B6EFFE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686" y="1938130"/>
            <a:ext cx="6716713" cy="357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2542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C8ADB-9E05-0B28-0394-64C6FA3414F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93F5672-5AC5-AA34-092C-E4EF11D56B37}"/>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pic>
        <p:nvPicPr>
          <p:cNvPr id="4" name="Picture 4">
            <a:extLst>
              <a:ext uri="{FF2B5EF4-FFF2-40B4-BE49-F238E27FC236}">
                <a16:creationId xmlns:a16="http://schemas.microsoft.com/office/drawing/2014/main" id="{39F9D1E7-DD26-0BC8-9F59-0E8E1BAA7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63429"/>
            <a:ext cx="9144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65784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34EAD-39BB-1384-055E-75F44DBF8C1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92BBC11-22F6-DE6C-D44F-1137B2197B84}"/>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Text Box 3">
            <a:extLst>
              <a:ext uri="{FF2B5EF4-FFF2-40B4-BE49-F238E27FC236}">
                <a16:creationId xmlns:a16="http://schemas.microsoft.com/office/drawing/2014/main" id="{76C4F5E3-0178-5E3F-803C-16592910F320}"/>
              </a:ext>
            </a:extLst>
          </p:cNvPr>
          <p:cNvSpPr txBox="1">
            <a:spLocks noChangeArrowheads="1"/>
          </p:cNvSpPr>
          <p:nvPr/>
        </p:nvSpPr>
        <p:spPr bwMode="auto">
          <a:xfrm>
            <a:off x="914400" y="1049044"/>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800" dirty="0">
                <a:latin typeface="Arial" panose="020B0604020202020204" pitchFamily="34" charset="0"/>
              </a:rPr>
              <a:t>How can this be used?</a:t>
            </a:r>
          </a:p>
        </p:txBody>
      </p:sp>
      <p:sp>
        <p:nvSpPr>
          <p:cNvPr id="5" name="Text Box 4">
            <a:extLst>
              <a:ext uri="{FF2B5EF4-FFF2-40B4-BE49-F238E27FC236}">
                <a16:creationId xmlns:a16="http://schemas.microsoft.com/office/drawing/2014/main" id="{38FD12B3-AA10-D610-C2FB-B8D753F3BAE4}"/>
              </a:ext>
            </a:extLst>
          </p:cNvPr>
          <p:cNvSpPr txBox="1">
            <a:spLocks noChangeArrowheads="1"/>
          </p:cNvSpPr>
          <p:nvPr/>
        </p:nvSpPr>
        <p:spPr bwMode="auto">
          <a:xfrm>
            <a:off x="1865051" y="2469580"/>
            <a:ext cx="8272508" cy="333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spcAft>
                <a:spcPts val="600"/>
              </a:spcAft>
              <a:buClrTx/>
              <a:buSzTx/>
              <a:buFontTx/>
              <a:buNone/>
            </a:pPr>
            <a:r>
              <a:rPr lang="en-US" altLang="en-US" dirty="0">
                <a:latin typeface="Arial" panose="020B0604020202020204" pitchFamily="34" charset="0"/>
              </a:rPr>
              <a:t>Given  </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A</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X</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Times New Roman" panose="02020603050405020304" pitchFamily="18" charset="0"/>
              </a:rPr>
              <a:t>b</a:t>
            </a:r>
            <a:r>
              <a:rPr lang="en-US" altLang="en-US" dirty="0">
                <a:latin typeface="Times New Roman" panose="02020603050405020304" pitchFamily="18" charset="0"/>
                <a:cs typeface="Times New Roman" panose="02020603050405020304" pitchFamily="18" charset="0"/>
              </a:rPr>
              <a:t>]       </a:t>
            </a:r>
          </a:p>
          <a:p>
            <a:pPr eaLnBrk="1" hangingPunct="1">
              <a:spcBef>
                <a:spcPct val="50000"/>
              </a:spcBef>
              <a:buClrTx/>
              <a:buSzTx/>
              <a:buFontTx/>
              <a:buAutoNum type="arabicPeriod"/>
            </a:pPr>
            <a:r>
              <a:rPr lang="en-US" altLang="en-US" sz="2800" dirty="0">
                <a:latin typeface="Arial" panose="020B0604020202020204" pitchFamily="34" charset="0"/>
              </a:rPr>
              <a:t>Decompose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A</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Arial" panose="020B0604020202020204" pitchFamily="34" charset="0"/>
              </a:rPr>
              <a:t>into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L</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Arial" panose="020B0604020202020204" pitchFamily="34" charset="0"/>
              </a:rPr>
              <a:t>and</a:t>
            </a:r>
            <a:r>
              <a:rPr lang="en-US" altLang="en-US" sz="2800" dirty="0">
                <a:latin typeface="Times New Roman" panose="02020603050405020304" pitchFamily="18" charset="0"/>
                <a:cs typeface="Times New Roman" panose="02020603050405020304" pitchFamily="18" charset="0"/>
              </a:rPr>
              <a:t> [</a:t>
            </a:r>
            <a:r>
              <a:rPr lang="en-US" altLang="en-US" sz="2800" i="1" dirty="0">
                <a:latin typeface="Times New Roman" panose="02020603050405020304" pitchFamily="18" charset="0"/>
                <a:cs typeface="Times New Roman" panose="02020603050405020304" pitchFamily="18" charset="0"/>
              </a:rPr>
              <a:t>U</a:t>
            </a:r>
            <a:r>
              <a:rPr lang="en-US" altLang="en-US" sz="2800" dirty="0">
                <a:latin typeface="Times New Roman" panose="02020603050405020304" pitchFamily="18" charset="0"/>
                <a:cs typeface="Times New Roman" panose="02020603050405020304" pitchFamily="18" charset="0"/>
              </a:rPr>
              <a:t>]</a:t>
            </a:r>
          </a:p>
          <a:p>
            <a:pPr eaLnBrk="1" hangingPunct="1">
              <a:spcBef>
                <a:spcPct val="50000"/>
              </a:spcBef>
              <a:buClrTx/>
              <a:buSzTx/>
              <a:buFontTx/>
              <a:buAutoNum type="arabicPeriod"/>
            </a:pPr>
            <a:r>
              <a:rPr lang="en-US" altLang="en-US" sz="2800" dirty="0">
                <a:latin typeface="Arial" panose="020B0604020202020204" pitchFamily="34" charset="0"/>
              </a:rPr>
              <a:t>Solve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L</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Z</a:t>
            </a:r>
            <a:r>
              <a:rPr lang="en-US" altLang="en-US" sz="2800" dirty="0">
                <a:latin typeface="Times New Roman" panose="02020603050405020304" pitchFamily="18" charset="0"/>
                <a:cs typeface="Times New Roman" panose="02020603050405020304" pitchFamily="18" charset="0"/>
              </a:rPr>
              <a:t>] = [</a:t>
            </a:r>
            <a:r>
              <a:rPr lang="en-US" altLang="en-US" sz="2800" i="1" dirty="0">
                <a:latin typeface="Times New Roman" panose="02020603050405020304" pitchFamily="18" charset="0"/>
                <a:cs typeface="Times New Roman" panose="02020603050405020304" pitchFamily="18" charset="0"/>
              </a:rPr>
              <a:t>b</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Arial" panose="020B0604020202020204" pitchFamily="34" charset="0"/>
              </a:rPr>
              <a:t>for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Z</a:t>
            </a:r>
            <a:r>
              <a:rPr lang="en-US" altLang="en-US" sz="2800" dirty="0">
                <a:latin typeface="Times New Roman" panose="02020603050405020304" pitchFamily="18" charset="0"/>
                <a:cs typeface="Times New Roman" panose="02020603050405020304" pitchFamily="18" charset="0"/>
              </a:rPr>
              <a:t>]  by forward substitution</a:t>
            </a:r>
            <a:endParaRPr lang="en-US" altLang="en-US" sz="2800" dirty="0">
              <a:latin typeface="Arial" panose="020B0604020202020204" pitchFamily="34" charset="0"/>
              <a:cs typeface="Times New Roman" panose="02020603050405020304" pitchFamily="18" charset="0"/>
            </a:endParaRPr>
          </a:p>
          <a:p>
            <a:pPr eaLnBrk="1" hangingPunct="1">
              <a:spcBef>
                <a:spcPct val="50000"/>
              </a:spcBef>
              <a:buClrTx/>
              <a:buSzTx/>
              <a:buFontTx/>
              <a:buAutoNum type="arabicPeriod"/>
            </a:pPr>
            <a:r>
              <a:rPr lang="en-US" altLang="en-US" sz="2800" dirty="0">
                <a:latin typeface="Arial" panose="020B0604020202020204" pitchFamily="34" charset="0"/>
              </a:rPr>
              <a:t>Solve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U</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X</a:t>
            </a:r>
            <a:r>
              <a:rPr lang="en-US" altLang="en-US" sz="2800" dirty="0">
                <a:latin typeface="Times New Roman" panose="02020603050405020304" pitchFamily="18" charset="0"/>
                <a:cs typeface="Times New Roman" panose="02020603050405020304" pitchFamily="18" charset="0"/>
              </a:rPr>
              <a:t>] = [</a:t>
            </a:r>
            <a:r>
              <a:rPr lang="en-US" altLang="en-US" sz="2800" i="1" dirty="0">
                <a:latin typeface="Times New Roman" panose="02020603050405020304" pitchFamily="18" charset="0"/>
                <a:cs typeface="Times New Roman" panose="02020603050405020304" pitchFamily="18" charset="0"/>
              </a:rPr>
              <a:t>Z</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Arial" panose="020B0604020202020204" pitchFamily="34" charset="0"/>
              </a:rPr>
              <a:t>for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X</a:t>
            </a:r>
            <a:r>
              <a:rPr lang="en-US" altLang="en-US" sz="2800" dirty="0">
                <a:latin typeface="Times New Roman" panose="02020603050405020304" pitchFamily="18" charset="0"/>
                <a:cs typeface="Times New Roman" panose="02020603050405020304" pitchFamily="18" charset="0"/>
              </a:rPr>
              <a:t>] by Backward substitution</a:t>
            </a:r>
          </a:p>
          <a:p>
            <a:pPr eaLnBrk="1" hangingPunct="1">
              <a:spcBef>
                <a:spcPct val="50000"/>
              </a:spcBef>
              <a:buClrTx/>
              <a:buSzTx/>
              <a:buFontTx/>
              <a:buNone/>
            </a:pPr>
            <a:r>
              <a:rPr lang="en-US" alt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69690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0B433-D075-823D-696C-9A257DDB964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23E5A94-8BA6-D196-7B13-C0A88DBD23FB}"/>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4" name="Rectangle 2">
            <a:extLst>
              <a:ext uri="{FF2B5EF4-FFF2-40B4-BE49-F238E27FC236}">
                <a16:creationId xmlns:a16="http://schemas.microsoft.com/office/drawing/2014/main" id="{7BE042B3-EBD7-F70F-8113-D8A77F052FD3}"/>
              </a:ext>
            </a:extLst>
          </p:cNvPr>
          <p:cNvSpPr txBox="1">
            <a:spLocks noChangeArrowheads="1"/>
          </p:cNvSpPr>
          <p:nvPr/>
        </p:nvSpPr>
        <p:spPr>
          <a:xfrm>
            <a:off x="1180730" y="866112"/>
            <a:ext cx="9144000" cy="1143000"/>
          </a:xfrm>
          <a:prstGeom prst="rect">
            <a:avLst/>
          </a:prstGeom>
        </p:spPr>
        <p:txBody>
          <a:bodyPr vert="horz" lIns="91440" tIns="45720" rIns="91440" bIns="45720" rtlCol="0" anchor="b">
            <a:normAutofit/>
          </a:bodyPr>
          <a:lstStyle>
            <a:lvl1pPr algn="ctr" defTabSz="822960" rtl="0" eaLnBrk="1" latinLnBrk="0" hangingPunct="1">
              <a:lnSpc>
                <a:spcPct val="90000"/>
              </a:lnSpc>
              <a:spcBef>
                <a:spcPct val="0"/>
              </a:spcBef>
              <a:buNone/>
              <a:defRPr sz="5400" kern="1200">
                <a:solidFill>
                  <a:schemeClr val="tx1"/>
                </a:solidFill>
                <a:latin typeface="+mj-lt"/>
                <a:ea typeface="+mj-ea"/>
                <a:cs typeface="+mj-cs"/>
              </a:defRPr>
            </a:lvl1pPr>
          </a:lstStyle>
          <a:p>
            <a:r>
              <a:rPr lang="en-US" altLang="en-US"/>
              <a:t>Example: Solve Ax=b</a:t>
            </a:r>
          </a:p>
        </p:txBody>
      </p:sp>
      <p:sp>
        <p:nvSpPr>
          <p:cNvPr id="6" name="Text Box 3">
            <a:extLst>
              <a:ext uri="{FF2B5EF4-FFF2-40B4-BE49-F238E27FC236}">
                <a16:creationId xmlns:a16="http://schemas.microsoft.com/office/drawing/2014/main" id="{DBC82CAE-43BF-1777-67D6-56FE055687B8}"/>
              </a:ext>
            </a:extLst>
          </p:cNvPr>
          <p:cNvSpPr txBox="1">
            <a:spLocks noChangeArrowheads="1"/>
          </p:cNvSpPr>
          <p:nvPr/>
        </p:nvSpPr>
        <p:spPr bwMode="auto">
          <a:xfrm>
            <a:off x="1790330" y="2077374"/>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a:latin typeface="Arial" panose="020B0604020202020204" pitchFamily="34" charset="0"/>
              </a:rPr>
              <a:t>Find the solution of [</a:t>
            </a:r>
            <a:r>
              <a:rPr lang="en-US" altLang="en-US" sz="2400" i="1">
                <a:latin typeface="Arial" panose="020B0604020202020204" pitchFamily="34" charset="0"/>
              </a:rPr>
              <a:t>A</a:t>
            </a:r>
            <a:r>
              <a:rPr lang="en-US" altLang="en-US" sz="2400">
                <a:latin typeface="Arial" panose="020B0604020202020204" pitchFamily="34" charset="0"/>
              </a:rPr>
              <a:t>][x ]=[b]</a:t>
            </a:r>
            <a:endParaRPr lang="en-US" altLang="en-US" sz="2000">
              <a:latin typeface="Arial" panose="020B0604020202020204" pitchFamily="34" charset="0"/>
            </a:endParaRPr>
          </a:p>
        </p:txBody>
      </p:sp>
      <p:sp>
        <p:nvSpPr>
          <p:cNvPr id="7" name="Rectangle 5">
            <a:extLst>
              <a:ext uri="{FF2B5EF4-FFF2-40B4-BE49-F238E27FC236}">
                <a16:creationId xmlns:a16="http://schemas.microsoft.com/office/drawing/2014/main" id="{D63C637A-2A2F-C987-5514-4DE084C4DFED}"/>
              </a:ext>
            </a:extLst>
          </p:cNvPr>
          <p:cNvSpPr>
            <a:spLocks noChangeArrowheads="1"/>
          </p:cNvSpPr>
          <p:nvPr/>
        </p:nvSpPr>
        <p:spPr bwMode="auto">
          <a:xfrm>
            <a:off x="6141668" y="3067974"/>
            <a:ext cx="525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a:latin typeface="Arial" panose="020B0604020202020204" pitchFamily="34" charset="0"/>
              </a:rPr>
              <a:t>[b]</a:t>
            </a:r>
            <a:endParaRPr lang="en-US" altLang="en-US" sz="2400"/>
          </a:p>
        </p:txBody>
      </p:sp>
      <p:graphicFrame>
        <p:nvGraphicFramePr>
          <p:cNvPr id="8" name="Object 4">
            <a:extLst>
              <a:ext uri="{FF2B5EF4-FFF2-40B4-BE49-F238E27FC236}">
                <a16:creationId xmlns:a16="http://schemas.microsoft.com/office/drawing/2014/main" id="{866A8AAF-003B-5117-64D7-7942FE289A5A}"/>
              </a:ext>
            </a:extLst>
          </p:cNvPr>
          <p:cNvGraphicFramePr>
            <a:graphicFrameLocks noChangeAspect="1"/>
          </p:cNvGraphicFramePr>
          <p:nvPr>
            <p:extLst>
              <p:ext uri="{D42A27DB-BD31-4B8C-83A1-F6EECF244321}">
                <p14:modId xmlns:p14="http://schemas.microsoft.com/office/powerpoint/2010/main" val="371440545"/>
              </p:ext>
            </p:extLst>
          </p:nvPr>
        </p:nvGraphicFramePr>
        <p:xfrm>
          <a:off x="2704730" y="2579024"/>
          <a:ext cx="2438400" cy="1463675"/>
        </p:xfrm>
        <a:graphic>
          <a:graphicData uri="http://schemas.openxmlformats.org/presentationml/2006/ole">
            <mc:AlternateContent xmlns:mc="http://schemas.openxmlformats.org/markup-compatibility/2006">
              <mc:Choice xmlns:v="urn:schemas-microsoft-com:vml" Requires="v">
                <p:oleObj name="Equation" r:id="rId2" imgW="1193800" imgH="711200" progId="Equation.3">
                  <p:embed/>
                </p:oleObj>
              </mc:Choice>
              <mc:Fallback>
                <p:oleObj name="Equation" r:id="rId2" imgW="1193800" imgH="711200" progId="Equation.3">
                  <p:embed/>
                  <p:pic>
                    <p:nvPicPr>
                      <p:cNvPr id="56325" name="Object 4">
                        <a:extLst>
                          <a:ext uri="{FF2B5EF4-FFF2-40B4-BE49-F238E27FC236}">
                            <a16:creationId xmlns:a16="http://schemas.microsoft.com/office/drawing/2014/main" id="{5CC1A0DC-3F73-481E-6FE6-930290E3B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4730" y="2579024"/>
                        <a:ext cx="24384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a:extLst>
              <a:ext uri="{FF2B5EF4-FFF2-40B4-BE49-F238E27FC236}">
                <a16:creationId xmlns:a16="http://schemas.microsoft.com/office/drawing/2014/main" id="{8DEF29B0-E2DF-0EC4-EC80-D1DF70552C6D}"/>
              </a:ext>
            </a:extLst>
          </p:cNvPr>
          <p:cNvGraphicFramePr>
            <a:graphicFrameLocks noChangeAspect="1"/>
          </p:cNvGraphicFramePr>
          <p:nvPr>
            <p:extLst>
              <p:ext uri="{D42A27DB-BD31-4B8C-83A1-F6EECF244321}">
                <p14:modId xmlns:p14="http://schemas.microsoft.com/office/powerpoint/2010/main" val="1450872006"/>
              </p:ext>
            </p:extLst>
          </p:nvPr>
        </p:nvGraphicFramePr>
        <p:xfrm>
          <a:off x="3161930" y="4820574"/>
          <a:ext cx="5160963" cy="1343025"/>
        </p:xfrm>
        <a:graphic>
          <a:graphicData uri="http://schemas.openxmlformats.org/presentationml/2006/ole">
            <mc:AlternateContent xmlns:mc="http://schemas.openxmlformats.org/markup-compatibility/2006">
              <mc:Choice xmlns:v="urn:schemas-microsoft-com:vml" Requires="v">
                <p:oleObj name="Equation" r:id="rId4" imgW="2895600" imgH="711200" progId="Equation.3">
                  <p:embed/>
                </p:oleObj>
              </mc:Choice>
              <mc:Fallback>
                <p:oleObj name="Equation" r:id="rId4" imgW="2895600" imgH="711200" progId="Equation.3">
                  <p:embed/>
                  <p:pic>
                    <p:nvPicPr>
                      <p:cNvPr id="56326" name="Object 6">
                        <a:extLst>
                          <a:ext uri="{FF2B5EF4-FFF2-40B4-BE49-F238E27FC236}">
                            <a16:creationId xmlns:a16="http://schemas.microsoft.com/office/drawing/2014/main" id="{EF0217BF-478A-E809-7CEC-1F5502EB42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1930" y="4820574"/>
                        <a:ext cx="5160963"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9">
            <a:extLst>
              <a:ext uri="{FF2B5EF4-FFF2-40B4-BE49-F238E27FC236}">
                <a16:creationId xmlns:a16="http://schemas.microsoft.com/office/drawing/2014/main" id="{3F96964C-7D1D-F07D-EAA2-79C39A836E4F}"/>
              </a:ext>
            </a:extLst>
          </p:cNvPr>
          <p:cNvSpPr txBox="1">
            <a:spLocks noChangeArrowheads="1"/>
          </p:cNvSpPr>
          <p:nvPr/>
        </p:nvSpPr>
        <p:spPr bwMode="auto">
          <a:xfrm>
            <a:off x="1790330" y="4287174"/>
            <a:ext cx="800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Using the decomposition procedure, the [</a:t>
            </a:r>
            <a:r>
              <a:rPr lang="en-US" altLang="en-US" sz="1800" i="1">
                <a:latin typeface="Arial" panose="020B0604020202020204" pitchFamily="34" charset="0"/>
              </a:rPr>
              <a:t>L</a:t>
            </a:r>
            <a:r>
              <a:rPr lang="en-US" altLang="en-US" sz="1800">
                <a:latin typeface="Arial" panose="020B0604020202020204" pitchFamily="34" charset="0"/>
              </a:rPr>
              <a:t>] and [</a:t>
            </a:r>
            <a:r>
              <a:rPr lang="en-US" altLang="en-US" sz="1800" i="1">
                <a:latin typeface="Arial" panose="020B0604020202020204" pitchFamily="34" charset="0"/>
              </a:rPr>
              <a:t>U</a:t>
            </a:r>
            <a:r>
              <a:rPr lang="en-US" altLang="en-US" sz="1800">
                <a:latin typeface="Arial" panose="020B0604020202020204" pitchFamily="34" charset="0"/>
              </a:rPr>
              <a:t>] matrices are found to be</a:t>
            </a:r>
          </a:p>
        </p:txBody>
      </p:sp>
      <p:pic>
        <p:nvPicPr>
          <p:cNvPr id="11" name="Picture 2">
            <a:extLst>
              <a:ext uri="{FF2B5EF4-FFF2-40B4-BE49-F238E27FC236}">
                <a16:creationId xmlns:a16="http://schemas.microsoft.com/office/drawing/2014/main" id="{3B0A228A-8581-2449-6602-6EE4B3EEEC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5543" y="2710787"/>
            <a:ext cx="66675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547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F2A38-EF05-3753-6D16-2C0BA744DDA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8E2D746-78B4-0247-DA24-4A5EC7916E66}"/>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Rectangle 2">
            <a:extLst>
              <a:ext uri="{FF2B5EF4-FFF2-40B4-BE49-F238E27FC236}">
                <a16:creationId xmlns:a16="http://schemas.microsoft.com/office/drawing/2014/main" id="{3FAF7933-5DE6-082D-4437-A92137BF8BD9}"/>
              </a:ext>
            </a:extLst>
          </p:cNvPr>
          <p:cNvSpPr txBox="1">
            <a:spLocks noChangeArrowheads="1"/>
          </p:cNvSpPr>
          <p:nvPr/>
        </p:nvSpPr>
        <p:spPr>
          <a:xfrm>
            <a:off x="1544715" y="682357"/>
            <a:ext cx="9144000" cy="1143000"/>
          </a:xfrm>
          <a:prstGeom prst="rect">
            <a:avLst/>
          </a:prstGeom>
        </p:spPr>
        <p:txBody>
          <a:bodyPr vert="horz" lIns="91440" tIns="45720" rIns="91440" bIns="45720" rtlCol="0" anchor="b">
            <a:normAutofit/>
          </a:bodyPr>
          <a:lstStyle>
            <a:lvl1pPr algn="ctr" defTabSz="822960" rtl="0" eaLnBrk="1" latinLnBrk="0" hangingPunct="1">
              <a:lnSpc>
                <a:spcPct val="90000"/>
              </a:lnSpc>
              <a:spcBef>
                <a:spcPct val="0"/>
              </a:spcBef>
              <a:buNone/>
              <a:defRPr sz="5400" kern="1200">
                <a:solidFill>
                  <a:schemeClr val="tx1"/>
                </a:solidFill>
                <a:latin typeface="+mj-lt"/>
                <a:ea typeface="+mj-ea"/>
                <a:cs typeface="+mj-cs"/>
              </a:defRPr>
            </a:lvl1pPr>
          </a:lstStyle>
          <a:p>
            <a:r>
              <a:rPr lang="en-US" altLang="en-US"/>
              <a:t>Example: Inverse of a Matrix</a:t>
            </a:r>
            <a:endParaRPr lang="en-US" altLang="en-US" dirty="0"/>
          </a:p>
        </p:txBody>
      </p:sp>
      <p:sp>
        <p:nvSpPr>
          <p:cNvPr id="5" name="Text Box 4">
            <a:extLst>
              <a:ext uri="{FF2B5EF4-FFF2-40B4-BE49-F238E27FC236}">
                <a16:creationId xmlns:a16="http://schemas.microsoft.com/office/drawing/2014/main" id="{0B7EAB05-71A6-236F-EA12-E753C4694A17}"/>
              </a:ext>
            </a:extLst>
          </p:cNvPr>
          <p:cNvSpPr txBox="1">
            <a:spLocks noChangeArrowheads="1"/>
          </p:cNvSpPr>
          <p:nvPr/>
        </p:nvSpPr>
        <p:spPr bwMode="auto">
          <a:xfrm>
            <a:off x="2382915" y="1969819"/>
            <a:ext cx="6019800" cy="1200150"/>
          </a:xfrm>
          <a:prstGeom prst="rect">
            <a:avLst/>
          </a:prstGeom>
          <a:noFill/>
          <a:ln w="9525">
            <a:noFill/>
            <a:miter lim="800000"/>
            <a:headEnd/>
            <a:tailEnd/>
          </a:ln>
        </p:spPr>
        <p:txBody>
          <a:bodyPr>
            <a:spAutoFit/>
          </a:bodyPr>
          <a:lstStyle/>
          <a:p>
            <a:pPr eaLnBrk="1" hangingPunct="1">
              <a:spcBef>
                <a:spcPct val="50000"/>
              </a:spcBef>
              <a:defRPr/>
            </a:pPr>
            <a:r>
              <a:rPr lang="en-US" sz="1800" dirty="0">
                <a:latin typeface="Arial" charset="0"/>
              </a:rPr>
              <a:t>Solving for the each column of [</a:t>
            </a:r>
            <a:r>
              <a:rPr lang="en-US" sz="1800" i="1" dirty="0">
                <a:latin typeface="Arial" charset="0"/>
              </a:rPr>
              <a:t>B</a:t>
            </a:r>
            <a:r>
              <a:rPr lang="en-US" sz="1800" dirty="0">
                <a:latin typeface="Arial" charset="0"/>
              </a:rPr>
              <a:t>] requires two steps</a:t>
            </a:r>
          </a:p>
          <a:p>
            <a:pPr marL="342900" indent="-342900" eaLnBrk="1" hangingPunct="1">
              <a:spcBef>
                <a:spcPct val="50000"/>
              </a:spcBef>
              <a:buFontTx/>
              <a:buAutoNum type="arabicParenR"/>
              <a:defRPr/>
            </a:pPr>
            <a:r>
              <a:rPr lang="en-US" sz="1800" dirty="0">
                <a:latin typeface="Arial" charset="0"/>
              </a:rPr>
              <a:t>Solve [</a:t>
            </a:r>
            <a:r>
              <a:rPr lang="en-US" sz="1800" i="1" dirty="0">
                <a:latin typeface="Arial" charset="0"/>
              </a:rPr>
              <a:t>L</a:t>
            </a:r>
            <a:r>
              <a:rPr lang="en-US" sz="1800" dirty="0">
                <a:latin typeface="Arial" charset="0"/>
              </a:rPr>
              <a:t>] [</a:t>
            </a:r>
            <a:r>
              <a:rPr lang="en-US" sz="1800" i="1" dirty="0">
                <a:latin typeface="Arial" charset="0"/>
              </a:rPr>
              <a:t>Z</a:t>
            </a:r>
            <a:r>
              <a:rPr lang="en-US" sz="1800" dirty="0">
                <a:latin typeface="Arial" charset="0"/>
              </a:rPr>
              <a:t>] = [</a:t>
            </a:r>
            <a:r>
              <a:rPr lang="en-US" sz="1800" i="1" dirty="0">
                <a:latin typeface="Arial" charset="0"/>
              </a:rPr>
              <a:t>b</a:t>
            </a:r>
            <a:r>
              <a:rPr lang="en-US" sz="1800" dirty="0">
                <a:latin typeface="Arial" charset="0"/>
              </a:rPr>
              <a:t>] for [</a:t>
            </a:r>
            <a:r>
              <a:rPr lang="en-US" sz="1800" i="1" dirty="0">
                <a:latin typeface="Arial" charset="0"/>
              </a:rPr>
              <a:t>Z</a:t>
            </a:r>
            <a:r>
              <a:rPr lang="en-US" sz="1800" dirty="0">
                <a:latin typeface="Arial" charset="0"/>
              </a:rPr>
              <a:t>] </a:t>
            </a:r>
          </a:p>
          <a:p>
            <a:pPr marL="342900" indent="-342900" eaLnBrk="1" hangingPunct="1">
              <a:spcBef>
                <a:spcPct val="50000"/>
              </a:spcBef>
              <a:buFontTx/>
              <a:buAutoNum type="arabicParenR"/>
              <a:defRPr/>
            </a:pPr>
            <a:r>
              <a:rPr lang="en-US" sz="1800" dirty="0">
                <a:latin typeface="Arial" charset="0"/>
              </a:rPr>
              <a:t>Solve [</a:t>
            </a:r>
            <a:r>
              <a:rPr lang="en-US" sz="1800" i="1" dirty="0">
                <a:latin typeface="Arial" charset="0"/>
              </a:rPr>
              <a:t>U</a:t>
            </a:r>
            <a:r>
              <a:rPr lang="en-US" sz="1800" dirty="0">
                <a:latin typeface="Arial" charset="0"/>
              </a:rPr>
              <a:t>] [</a:t>
            </a:r>
            <a:r>
              <a:rPr lang="en-US" sz="1800" i="1" dirty="0">
                <a:latin typeface="Arial" charset="0"/>
              </a:rPr>
              <a:t>X</a:t>
            </a:r>
            <a:r>
              <a:rPr lang="en-US" sz="1800" dirty="0">
                <a:latin typeface="Arial" charset="0"/>
              </a:rPr>
              <a:t>] = [</a:t>
            </a:r>
            <a:r>
              <a:rPr lang="en-US" sz="1800" i="1" dirty="0">
                <a:latin typeface="Arial" charset="0"/>
              </a:rPr>
              <a:t>Z</a:t>
            </a:r>
            <a:r>
              <a:rPr lang="en-US" sz="1800" dirty="0">
                <a:latin typeface="Arial" charset="0"/>
              </a:rPr>
              <a:t>] for [</a:t>
            </a:r>
            <a:r>
              <a:rPr lang="en-US" sz="1800" i="1" dirty="0">
                <a:latin typeface="Arial" charset="0"/>
              </a:rPr>
              <a:t>X</a:t>
            </a:r>
            <a:r>
              <a:rPr lang="en-US" sz="1800" dirty="0">
                <a:latin typeface="Arial" charset="0"/>
              </a:rPr>
              <a:t>] </a:t>
            </a:r>
          </a:p>
        </p:txBody>
      </p:sp>
      <p:sp>
        <p:nvSpPr>
          <p:cNvPr id="12" name="Text Box 5">
            <a:extLst>
              <a:ext uri="{FF2B5EF4-FFF2-40B4-BE49-F238E27FC236}">
                <a16:creationId xmlns:a16="http://schemas.microsoft.com/office/drawing/2014/main" id="{CBBBBF2F-7657-9B98-049E-EA97DBCB874B}"/>
              </a:ext>
            </a:extLst>
          </p:cNvPr>
          <p:cNvSpPr txBox="1">
            <a:spLocks noChangeArrowheads="1"/>
          </p:cNvSpPr>
          <p:nvPr/>
        </p:nvSpPr>
        <p:spPr bwMode="auto">
          <a:xfrm>
            <a:off x="3068715" y="3668444"/>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Step 1:</a:t>
            </a:r>
          </a:p>
        </p:txBody>
      </p:sp>
      <p:sp>
        <p:nvSpPr>
          <p:cNvPr id="13" name="Text Box 10">
            <a:extLst>
              <a:ext uri="{FF2B5EF4-FFF2-40B4-BE49-F238E27FC236}">
                <a16:creationId xmlns:a16="http://schemas.microsoft.com/office/drawing/2014/main" id="{C0BB8CF4-42EF-12F5-7940-C856D6F1EAEF}"/>
              </a:ext>
            </a:extLst>
          </p:cNvPr>
          <p:cNvSpPr txBox="1">
            <a:spLocks noChangeArrowheads="1"/>
          </p:cNvSpPr>
          <p:nvPr/>
        </p:nvSpPr>
        <p:spPr bwMode="auto">
          <a:xfrm>
            <a:off x="2078115" y="4574907"/>
            <a:ext cx="320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800">
                <a:latin typeface="Arial" panose="020B0604020202020204" pitchFamily="34" charset="0"/>
              </a:rPr>
              <a:t>This generates the equations:</a:t>
            </a:r>
          </a:p>
        </p:txBody>
      </p:sp>
      <p:graphicFrame>
        <p:nvGraphicFramePr>
          <p:cNvPr id="14" name="Object 13">
            <a:extLst>
              <a:ext uri="{FF2B5EF4-FFF2-40B4-BE49-F238E27FC236}">
                <a16:creationId xmlns:a16="http://schemas.microsoft.com/office/drawing/2014/main" id="{D0F150B8-9976-EDF4-3D91-504EE74EDAF7}"/>
              </a:ext>
            </a:extLst>
          </p:cNvPr>
          <p:cNvGraphicFramePr>
            <a:graphicFrameLocks noChangeAspect="1"/>
          </p:cNvGraphicFramePr>
          <p:nvPr>
            <p:extLst>
              <p:ext uri="{D42A27DB-BD31-4B8C-83A1-F6EECF244321}">
                <p14:modId xmlns:p14="http://schemas.microsoft.com/office/powerpoint/2010/main" val="270323005"/>
              </p:ext>
            </p:extLst>
          </p:nvPr>
        </p:nvGraphicFramePr>
        <p:xfrm>
          <a:off x="3830715" y="4713019"/>
          <a:ext cx="3271838" cy="1662113"/>
        </p:xfrm>
        <a:graphic>
          <a:graphicData uri="http://schemas.openxmlformats.org/presentationml/2006/ole">
            <mc:AlternateContent xmlns:mc="http://schemas.openxmlformats.org/markup-compatibility/2006">
              <mc:Choice xmlns:v="urn:schemas-microsoft-com:vml" Requires="v">
                <p:oleObj name="Equation" r:id="rId2" imgW="1371600" imgH="685800" progId="Equation.3">
                  <p:embed/>
                </p:oleObj>
              </mc:Choice>
              <mc:Fallback>
                <p:oleObj name="Equation" r:id="rId2" imgW="1371600" imgH="685800" progId="Equation.3">
                  <p:embed/>
                  <p:pic>
                    <p:nvPicPr>
                      <p:cNvPr id="58374" name="Object 13">
                        <a:extLst>
                          <a:ext uri="{FF2B5EF4-FFF2-40B4-BE49-F238E27FC236}">
                            <a16:creationId xmlns:a16="http://schemas.microsoft.com/office/drawing/2014/main" id="{F0791766-55B9-068D-4AB6-EB13FC63F0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0715" y="4713019"/>
                        <a:ext cx="3271838"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5" name="Picture 2">
            <a:extLst>
              <a:ext uri="{FF2B5EF4-FFF2-40B4-BE49-F238E27FC236}">
                <a16:creationId xmlns:a16="http://schemas.microsoft.com/office/drawing/2014/main" id="{E26F555B-D32C-692B-1BD9-2FBEE61A6D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4115" y="3349357"/>
            <a:ext cx="2895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241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301BD-7C61-B0D6-0D93-2315810A95B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50297B1-C818-C2B1-4A2E-123AE62E4A38}"/>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4" name="Text Box 4">
            <a:extLst>
              <a:ext uri="{FF2B5EF4-FFF2-40B4-BE49-F238E27FC236}">
                <a16:creationId xmlns:a16="http://schemas.microsoft.com/office/drawing/2014/main" id="{B3BBB9B8-2C9A-074B-0821-1858451DE437}"/>
              </a:ext>
            </a:extLst>
          </p:cNvPr>
          <p:cNvSpPr txBox="1">
            <a:spLocks noChangeArrowheads="1"/>
          </p:cNvSpPr>
          <p:nvPr/>
        </p:nvSpPr>
        <p:spPr bwMode="auto">
          <a:xfrm>
            <a:off x="1387136" y="1791070"/>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Solving for [</a:t>
            </a:r>
            <a:r>
              <a:rPr lang="en-US" altLang="en-US" sz="1800" i="1">
                <a:latin typeface="Arial" panose="020B0604020202020204" pitchFamily="34" charset="0"/>
              </a:rPr>
              <a:t>Z</a:t>
            </a:r>
            <a:r>
              <a:rPr lang="en-US" altLang="en-US" sz="1800">
                <a:latin typeface="Arial" panose="020B0604020202020204" pitchFamily="34" charset="0"/>
              </a:rPr>
              <a:t>]</a:t>
            </a:r>
          </a:p>
        </p:txBody>
      </p:sp>
      <p:graphicFrame>
        <p:nvGraphicFramePr>
          <p:cNvPr id="6" name="Object 19">
            <a:extLst>
              <a:ext uri="{FF2B5EF4-FFF2-40B4-BE49-F238E27FC236}">
                <a16:creationId xmlns:a16="http://schemas.microsoft.com/office/drawing/2014/main" id="{335E15E4-3F75-75AC-2878-8A2AF25E86B4}"/>
              </a:ext>
            </a:extLst>
          </p:cNvPr>
          <p:cNvGraphicFramePr>
            <a:graphicFrameLocks noChangeAspect="1"/>
          </p:cNvGraphicFramePr>
          <p:nvPr>
            <p:extLst>
              <p:ext uri="{D42A27DB-BD31-4B8C-83A1-F6EECF244321}">
                <p14:modId xmlns:p14="http://schemas.microsoft.com/office/powerpoint/2010/main" val="4254555281"/>
              </p:ext>
            </p:extLst>
          </p:nvPr>
        </p:nvGraphicFramePr>
        <p:xfrm>
          <a:off x="1768136" y="2324470"/>
          <a:ext cx="3135313" cy="2974975"/>
        </p:xfrm>
        <a:graphic>
          <a:graphicData uri="http://schemas.openxmlformats.org/presentationml/2006/ole">
            <mc:AlternateContent xmlns:mc="http://schemas.openxmlformats.org/markup-compatibility/2006">
              <mc:Choice xmlns:v="urn:schemas-microsoft-com:vml" Requires="v">
                <p:oleObj name="Equation" r:id="rId2" imgW="1689100" imgH="1600200" progId="Equation.3">
                  <p:embed/>
                </p:oleObj>
              </mc:Choice>
              <mc:Fallback>
                <p:oleObj name="Equation" r:id="rId2" imgW="1689100" imgH="1600200" progId="Equation.3">
                  <p:embed/>
                  <p:pic>
                    <p:nvPicPr>
                      <p:cNvPr id="60424" name="Object 19">
                        <a:extLst>
                          <a:ext uri="{FF2B5EF4-FFF2-40B4-BE49-F238E27FC236}">
                            <a16:creationId xmlns:a16="http://schemas.microsoft.com/office/drawing/2014/main" id="{FFDB24C1-569F-8F26-7FA6-184300E85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136" y="2324470"/>
                        <a:ext cx="3135313"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21">
            <a:extLst>
              <a:ext uri="{FF2B5EF4-FFF2-40B4-BE49-F238E27FC236}">
                <a16:creationId xmlns:a16="http://schemas.microsoft.com/office/drawing/2014/main" id="{71D85591-78EE-5B3D-679F-DEF9B5F28E63}"/>
              </a:ext>
            </a:extLst>
          </p:cNvPr>
          <p:cNvGraphicFramePr>
            <a:graphicFrameLocks noChangeAspect="1"/>
          </p:cNvGraphicFramePr>
          <p:nvPr>
            <p:extLst>
              <p:ext uri="{D42A27DB-BD31-4B8C-83A1-F6EECF244321}">
                <p14:modId xmlns:p14="http://schemas.microsoft.com/office/powerpoint/2010/main" val="57158717"/>
              </p:ext>
            </p:extLst>
          </p:nvPr>
        </p:nvGraphicFramePr>
        <p:xfrm>
          <a:off x="5273336" y="2400670"/>
          <a:ext cx="2857500" cy="1592263"/>
        </p:xfrm>
        <a:graphic>
          <a:graphicData uri="http://schemas.openxmlformats.org/presentationml/2006/ole">
            <mc:AlternateContent xmlns:mc="http://schemas.openxmlformats.org/markup-compatibility/2006">
              <mc:Choice xmlns:v="urn:schemas-microsoft-com:vml" Requires="v">
                <p:oleObj name="Equation" r:id="rId4" imgW="1282700" imgH="711200" progId="Equation.3">
                  <p:embed/>
                </p:oleObj>
              </mc:Choice>
              <mc:Fallback>
                <p:oleObj name="Equation" r:id="rId4" imgW="1282700" imgH="711200" progId="Equation.3">
                  <p:embed/>
                  <p:pic>
                    <p:nvPicPr>
                      <p:cNvPr id="60425" name="Object 21">
                        <a:extLst>
                          <a:ext uri="{FF2B5EF4-FFF2-40B4-BE49-F238E27FC236}">
                            <a16:creationId xmlns:a16="http://schemas.microsoft.com/office/drawing/2014/main" id="{04D3523D-E966-CAE2-223E-1194F5F0F7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3336" y="2400670"/>
                        <a:ext cx="2857500"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29094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8DF11-3E3A-EF07-7E1F-E049B644F94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34797A1-CE8C-C9A2-C795-16CA02D72F88}"/>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Rectangle 8">
            <a:extLst>
              <a:ext uri="{FF2B5EF4-FFF2-40B4-BE49-F238E27FC236}">
                <a16:creationId xmlns:a16="http://schemas.microsoft.com/office/drawing/2014/main" id="{AB07FD15-FFE0-9FBA-F3AC-6984306F77DB}"/>
              </a:ext>
            </a:extLst>
          </p:cNvPr>
          <p:cNvSpPr>
            <a:spLocks noChangeArrowheads="1"/>
          </p:cNvSpPr>
          <p:nvPr/>
        </p:nvSpPr>
        <p:spPr bwMode="auto">
          <a:xfrm>
            <a:off x="0" y="2628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algn="ctr" eaLnBrk="1" hangingPunct="1">
              <a:spcBef>
                <a:spcPct val="0"/>
              </a:spcBef>
              <a:buClrTx/>
              <a:buSzTx/>
              <a:buFontTx/>
              <a:buNone/>
            </a:pPr>
            <a:endParaRPr lang="en-US" altLang="en-US" sz="2400"/>
          </a:p>
        </p:txBody>
      </p:sp>
      <p:graphicFrame>
        <p:nvGraphicFramePr>
          <p:cNvPr id="4" name="Object 11">
            <a:extLst>
              <a:ext uri="{FF2B5EF4-FFF2-40B4-BE49-F238E27FC236}">
                <a16:creationId xmlns:a16="http://schemas.microsoft.com/office/drawing/2014/main" id="{ED63167A-8F2B-BB97-EB35-C6AC07CE0E95}"/>
              </a:ext>
            </a:extLst>
          </p:cNvPr>
          <p:cNvGraphicFramePr>
            <a:graphicFrameLocks noChangeAspect="1"/>
          </p:cNvGraphicFramePr>
          <p:nvPr>
            <p:extLst>
              <p:ext uri="{D42A27DB-BD31-4B8C-83A1-F6EECF244321}">
                <p14:modId xmlns:p14="http://schemas.microsoft.com/office/powerpoint/2010/main" val="1464035292"/>
              </p:ext>
            </p:extLst>
          </p:nvPr>
        </p:nvGraphicFramePr>
        <p:xfrm>
          <a:off x="4191000" y="2209800"/>
          <a:ext cx="3886200" cy="1235075"/>
        </p:xfrm>
        <a:graphic>
          <a:graphicData uri="http://schemas.openxmlformats.org/presentationml/2006/ole">
            <mc:AlternateContent xmlns:mc="http://schemas.openxmlformats.org/markup-compatibility/2006">
              <mc:Choice xmlns:v="urn:schemas-microsoft-com:vml" Requires="v">
                <p:oleObj name="Equation" r:id="rId2" imgW="2247900" imgH="711200" progId="Equation.3">
                  <p:embed/>
                </p:oleObj>
              </mc:Choice>
              <mc:Fallback>
                <p:oleObj name="Equation" r:id="rId2" imgW="2247900" imgH="711200" progId="Equation.3">
                  <p:embed/>
                  <p:pic>
                    <p:nvPicPr>
                      <p:cNvPr id="62473" name="Object 11">
                        <a:extLst>
                          <a:ext uri="{FF2B5EF4-FFF2-40B4-BE49-F238E27FC236}">
                            <a16:creationId xmlns:a16="http://schemas.microsoft.com/office/drawing/2014/main" id="{713F020B-BA46-F6CF-34EE-E645C310D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2209800"/>
                        <a:ext cx="38862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4">
            <a:extLst>
              <a:ext uri="{FF2B5EF4-FFF2-40B4-BE49-F238E27FC236}">
                <a16:creationId xmlns:a16="http://schemas.microsoft.com/office/drawing/2014/main" id="{01D310BD-CED8-A140-6704-040290F50520}"/>
              </a:ext>
            </a:extLst>
          </p:cNvPr>
          <p:cNvSpPr txBox="1">
            <a:spLocks noRot="1" noChangeAspect="1" noMove="1" noResize="1" noEditPoints="1" noAdjustHandles="1" noChangeArrowheads="1" noChangeShapeType="1" noTextEdit="1"/>
          </p:cNvSpPr>
          <p:nvPr/>
        </p:nvSpPr>
        <p:spPr bwMode="auto">
          <a:xfrm>
            <a:off x="6324600" y="2213256"/>
            <a:ext cx="609600" cy="1192186"/>
          </a:xfrm>
          <a:prstGeom prst="rect">
            <a:avLst/>
          </a:prstGeom>
          <a:blipFill>
            <a:blip r:embed="rId4"/>
            <a:stretch>
              <a:fillRect r="-9000"/>
            </a:stretch>
          </a:blipFill>
          <a:ln>
            <a:noFill/>
          </a:ln>
        </p:spPr>
        <p:txBody>
          <a:bodyPr/>
          <a:lstStyle/>
          <a:p>
            <a:pPr>
              <a:defRPr/>
            </a:pPr>
            <a:r>
              <a:rPr lang="en-US">
                <a:noFill/>
              </a:rPr>
              <a:t> </a:t>
            </a:r>
          </a:p>
        </p:txBody>
      </p:sp>
      <p:sp>
        <p:nvSpPr>
          <p:cNvPr id="6" name="Text Box 4">
            <a:extLst>
              <a:ext uri="{FF2B5EF4-FFF2-40B4-BE49-F238E27FC236}">
                <a16:creationId xmlns:a16="http://schemas.microsoft.com/office/drawing/2014/main" id="{35906340-AF90-F659-5EBF-AC10884906FE}"/>
              </a:ext>
            </a:extLst>
          </p:cNvPr>
          <p:cNvSpPr txBox="1">
            <a:spLocks noRot="1" noChangeAspect="1" noMove="1" noResize="1" noEditPoints="1" noAdjustHandles="1" noChangeArrowheads="1" noChangeShapeType="1" noTextEdit="1"/>
          </p:cNvSpPr>
          <p:nvPr/>
        </p:nvSpPr>
        <p:spPr bwMode="auto">
          <a:xfrm>
            <a:off x="477837" y="3964697"/>
            <a:ext cx="3961660" cy="1754326"/>
          </a:xfrm>
          <a:prstGeom prst="rect">
            <a:avLst/>
          </a:prstGeom>
          <a:blipFill>
            <a:blip r:embed="rId5"/>
            <a:stretch>
              <a:fillRect l="-2923" t="-2778" b="-8333"/>
            </a:stretch>
          </a:blipFill>
          <a:ln>
            <a:noFill/>
          </a:ln>
        </p:spPr>
        <p:txBody>
          <a:bodyPr/>
          <a:lstStyle/>
          <a:p>
            <a:pPr>
              <a:defRPr/>
            </a:pPr>
            <a:r>
              <a:rPr lang="en-US">
                <a:noFill/>
              </a:rPr>
              <a:t> </a:t>
            </a:r>
          </a:p>
        </p:txBody>
      </p:sp>
    </p:spTree>
    <p:extLst>
      <p:ext uri="{BB962C8B-B14F-4D97-AF65-F5344CB8AC3E}">
        <p14:creationId xmlns:p14="http://schemas.microsoft.com/office/powerpoint/2010/main" val="2592512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3A1AB-61E8-B18F-52EA-9A3A16F8258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AD176F6-BA56-1BDE-9333-8E3819C186E4}"/>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Text Box 4">
            <a:extLst>
              <a:ext uri="{FF2B5EF4-FFF2-40B4-BE49-F238E27FC236}">
                <a16:creationId xmlns:a16="http://schemas.microsoft.com/office/drawing/2014/main" id="{B0E81A38-33BF-0DE0-59EF-49661AC8816D}"/>
              </a:ext>
            </a:extLst>
          </p:cNvPr>
          <p:cNvSpPr txBox="1">
            <a:spLocks noChangeArrowheads="1"/>
          </p:cNvSpPr>
          <p:nvPr/>
        </p:nvSpPr>
        <p:spPr bwMode="auto">
          <a:xfrm>
            <a:off x="578212" y="1905000"/>
            <a:ext cx="457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Using Backward Substitution</a:t>
            </a:r>
          </a:p>
        </p:txBody>
      </p:sp>
      <p:sp>
        <p:nvSpPr>
          <p:cNvPr id="4" name="Text Box 4">
            <a:extLst>
              <a:ext uri="{FF2B5EF4-FFF2-40B4-BE49-F238E27FC236}">
                <a16:creationId xmlns:a16="http://schemas.microsoft.com/office/drawing/2014/main" id="{637972CB-9290-35C7-20BE-8826BEDB3644}"/>
              </a:ext>
            </a:extLst>
          </p:cNvPr>
          <p:cNvSpPr txBox="1">
            <a:spLocks noRot="1" noChangeAspect="1" noMove="1" noResize="1" noEditPoints="1" noAdjustHandles="1" noChangeArrowheads="1" noChangeShapeType="1" noTextEdit="1"/>
          </p:cNvSpPr>
          <p:nvPr/>
        </p:nvSpPr>
        <p:spPr bwMode="auto">
          <a:xfrm>
            <a:off x="838200" y="2769216"/>
            <a:ext cx="4648200" cy="2471061"/>
          </a:xfrm>
          <a:prstGeom prst="rect">
            <a:avLst/>
          </a:prstGeom>
          <a:blipFill>
            <a:blip r:embed="rId2"/>
            <a:stretch>
              <a:fillRect/>
            </a:stretch>
          </a:blipFill>
          <a:ln>
            <a:noFill/>
          </a:ln>
        </p:spPr>
        <p:txBody>
          <a:bodyPr/>
          <a:lstStyle/>
          <a:p>
            <a:pPr>
              <a:defRPr/>
            </a:pPr>
            <a:r>
              <a:rPr lang="en-US">
                <a:noFill/>
              </a:rPr>
              <a:t> </a:t>
            </a:r>
          </a:p>
        </p:txBody>
      </p:sp>
    </p:spTree>
    <p:extLst>
      <p:ext uri="{BB962C8B-B14F-4D97-AF65-F5344CB8AC3E}">
        <p14:creationId xmlns:p14="http://schemas.microsoft.com/office/powerpoint/2010/main" val="15900049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3BAE-3F8F-E7E1-8252-C24EE978A5B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E712578-51E0-FEDB-05F6-8B63FF058AE7}"/>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Rectangle 2">
            <a:extLst>
              <a:ext uri="{FF2B5EF4-FFF2-40B4-BE49-F238E27FC236}">
                <a16:creationId xmlns:a16="http://schemas.microsoft.com/office/drawing/2014/main" id="{7BCABC23-9246-AD43-F558-4CC628F8ED79}"/>
              </a:ext>
            </a:extLst>
          </p:cNvPr>
          <p:cNvSpPr txBox="1">
            <a:spLocks noChangeArrowheads="1"/>
          </p:cNvSpPr>
          <p:nvPr/>
        </p:nvSpPr>
        <p:spPr>
          <a:xfrm>
            <a:off x="1127464" y="1373079"/>
            <a:ext cx="9144000" cy="1295400"/>
          </a:xfrm>
          <a:prstGeom prst="rect">
            <a:avLst/>
          </a:prstGeom>
        </p:spPr>
        <p:txBody>
          <a:bodyPr vert="horz" lIns="91440" tIns="45720" rIns="91440" bIns="45720" rtlCol="0" anchor="b">
            <a:normAutofit/>
          </a:bodyPr>
          <a:lstStyle>
            <a:lvl1pPr algn="ctr" defTabSz="822960" rtl="0" eaLnBrk="1" latinLnBrk="0" hangingPunct="1">
              <a:lnSpc>
                <a:spcPct val="90000"/>
              </a:lnSpc>
              <a:spcBef>
                <a:spcPct val="0"/>
              </a:spcBef>
              <a:buNone/>
              <a:defRPr sz="5400" kern="1200">
                <a:solidFill>
                  <a:schemeClr val="tx1"/>
                </a:solidFill>
                <a:latin typeface="+mj-lt"/>
                <a:ea typeface="+mj-ea"/>
                <a:cs typeface="+mj-cs"/>
              </a:defRPr>
            </a:lvl1pPr>
          </a:lstStyle>
          <a:p>
            <a:pPr>
              <a:spcBef>
                <a:spcPct val="50000"/>
              </a:spcBef>
            </a:pPr>
            <a:r>
              <a:rPr lang="en-US" altLang="en-US" sz="4000">
                <a:latin typeface="Arial" panose="020B0604020202020204" pitchFamily="34" charset="0"/>
              </a:rPr>
              <a:t>Finding the inverse of a square matrix</a:t>
            </a:r>
          </a:p>
        </p:txBody>
      </p:sp>
      <p:sp>
        <p:nvSpPr>
          <p:cNvPr id="4" name="Text Box 19">
            <a:extLst>
              <a:ext uri="{FF2B5EF4-FFF2-40B4-BE49-F238E27FC236}">
                <a16:creationId xmlns:a16="http://schemas.microsoft.com/office/drawing/2014/main" id="{4C3C21F6-566E-89DA-22BB-05A769C1F16A}"/>
              </a:ext>
            </a:extLst>
          </p:cNvPr>
          <p:cNvSpPr txBox="1">
            <a:spLocks noChangeArrowheads="1"/>
          </p:cNvSpPr>
          <p:nvPr/>
        </p:nvSpPr>
        <p:spPr bwMode="auto">
          <a:xfrm>
            <a:off x="1889464" y="3430479"/>
            <a:ext cx="7645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400">
                <a:latin typeface="Arial" panose="020B0604020202020204" pitchFamily="34" charset="0"/>
              </a:rPr>
              <a:t>The inverse [B] of a square matrix [</a:t>
            </a:r>
            <a:r>
              <a:rPr lang="en-US" altLang="en-US" sz="2400" i="1">
                <a:latin typeface="Arial" panose="020B0604020202020204" pitchFamily="34" charset="0"/>
              </a:rPr>
              <a:t>A</a:t>
            </a:r>
            <a:r>
              <a:rPr lang="en-US" altLang="en-US" sz="2400">
                <a:latin typeface="Arial" panose="020B0604020202020204" pitchFamily="34" charset="0"/>
              </a:rPr>
              <a:t>] is defined as</a:t>
            </a:r>
          </a:p>
          <a:p>
            <a:pPr eaLnBrk="1" hangingPunct="1">
              <a:spcBef>
                <a:spcPct val="50000"/>
              </a:spcBef>
              <a:buClrTx/>
              <a:buSzTx/>
              <a:buFontTx/>
              <a:buNone/>
            </a:pPr>
            <a:endParaRPr lang="en-US" altLang="en-US" sz="1800">
              <a:latin typeface="Arial" panose="020B0604020202020204" pitchFamily="34" charset="0"/>
            </a:endParaRPr>
          </a:p>
          <a:p>
            <a:pPr algn="ctr" eaLnBrk="1" hangingPunct="1">
              <a:spcBef>
                <a:spcPct val="50000"/>
              </a:spcBef>
              <a:buClrTx/>
              <a:buSzTx/>
              <a:buFontTx/>
              <a:buNone/>
            </a:pPr>
            <a:r>
              <a:rPr lang="en-US" altLang="en-US" sz="4000">
                <a:latin typeface="Times New Roman" panose="02020603050405020304" pitchFamily="18" charset="0"/>
                <a:cs typeface="Times New Roman" panose="02020603050405020304" pitchFamily="18" charset="0"/>
              </a:rPr>
              <a:t>[</a:t>
            </a:r>
            <a:r>
              <a:rPr lang="en-US" altLang="en-US" sz="4000" i="1">
                <a:latin typeface="Times New Roman" panose="02020603050405020304" pitchFamily="18" charset="0"/>
                <a:cs typeface="Times New Roman" panose="02020603050405020304" pitchFamily="18" charset="0"/>
              </a:rPr>
              <a:t>A</a:t>
            </a:r>
            <a:r>
              <a:rPr lang="en-US" altLang="en-US" sz="4000">
                <a:latin typeface="Times New Roman" panose="02020603050405020304" pitchFamily="18" charset="0"/>
                <a:cs typeface="Times New Roman" panose="02020603050405020304" pitchFamily="18" charset="0"/>
              </a:rPr>
              <a:t>][</a:t>
            </a:r>
            <a:r>
              <a:rPr lang="en-US" altLang="en-US" sz="4000" i="1">
                <a:latin typeface="Times New Roman" panose="02020603050405020304" pitchFamily="18" charset="0"/>
                <a:cs typeface="Times New Roman" panose="02020603050405020304" pitchFamily="18" charset="0"/>
              </a:rPr>
              <a:t>B</a:t>
            </a:r>
            <a:r>
              <a:rPr lang="en-US" altLang="en-US" sz="4000">
                <a:latin typeface="Times New Roman" panose="02020603050405020304" pitchFamily="18" charset="0"/>
                <a:cs typeface="Times New Roman" panose="02020603050405020304" pitchFamily="18" charset="0"/>
              </a:rPr>
              <a:t>] = [</a:t>
            </a:r>
            <a:r>
              <a:rPr lang="en-US" altLang="en-US" sz="4000" i="1">
                <a:latin typeface="Times New Roman" panose="02020603050405020304" pitchFamily="18" charset="0"/>
                <a:cs typeface="Times New Roman" panose="02020603050405020304" pitchFamily="18" charset="0"/>
              </a:rPr>
              <a:t>I</a:t>
            </a:r>
            <a:r>
              <a:rPr lang="en-US" altLang="en-US" sz="4000">
                <a:latin typeface="Times New Roman" panose="02020603050405020304" pitchFamily="18" charset="0"/>
                <a:cs typeface="Times New Roman" panose="02020603050405020304" pitchFamily="18" charset="0"/>
              </a:rPr>
              <a:t>] = [</a:t>
            </a:r>
            <a:r>
              <a:rPr lang="en-US" altLang="en-US" sz="4000" i="1">
                <a:latin typeface="Times New Roman" panose="02020603050405020304" pitchFamily="18" charset="0"/>
                <a:cs typeface="Times New Roman" panose="02020603050405020304" pitchFamily="18" charset="0"/>
              </a:rPr>
              <a:t>B</a:t>
            </a:r>
            <a:r>
              <a:rPr lang="en-US" altLang="en-US" sz="4000">
                <a:latin typeface="Times New Roman" panose="02020603050405020304" pitchFamily="18" charset="0"/>
                <a:cs typeface="Times New Roman" panose="02020603050405020304" pitchFamily="18" charset="0"/>
              </a:rPr>
              <a:t>][</a:t>
            </a:r>
            <a:r>
              <a:rPr lang="en-US" altLang="en-US" sz="4000" i="1">
                <a:latin typeface="Times New Roman" panose="02020603050405020304" pitchFamily="18" charset="0"/>
                <a:cs typeface="Times New Roman" panose="02020603050405020304" pitchFamily="18" charset="0"/>
              </a:rPr>
              <a:t>A</a:t>
            </a:r>
            <a:r>
              <a:rPr lang="en-US" altLang="en-US" sz="40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486792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A13B8-132B-C93F-7061-E149F220A28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7A5EC0D-88BD-0F01-49D5-C65FC81AC56E}"/>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Rectangle 2">
            <a:extLst>
              <a:ext uri="{FF2B5EF4-FFF2-40B4-BE49-F238E27FC236}">
                <a16:creationId xmlns:a16="http://schemas.microsoft.com/office/drawing/2014/main" id="{230EDE1E-9558-9FF8-9A9C-9BAF3359E4D7}"/>
              </a:ext>
            </a:extLst>
          </p:cNvPr>
          <p:cNvSpPr txBox="1">
            <a:spLocks noChangeArrowheads="1"/>
          </p:cNvSpPr>
          <p:nvPr/>
        </p:nvSpPr>
        <p:spPr>
          <a:xfrm>
            <a:off x="1411550" y="946012"/>
            <a:ext cx="9144000" cy="1287462"/>
          </a:xfrm>
          <a:prstGeom prst="rect">
            <a:avLst/>
          </a:prstGeom>
        </p:spPr>
        <p:txBody>
          <a:bodyPr vert="horz" lIns="91440" tIns="45720" rIns="91440" bIns="45720" rtlCol="0" anchor="b">
            <a:normAutofit/>
          </a:bodyPr>
          <a:lstStyle>
            <a:lvl1pPr algn="ctr" defTabSz="822960" rtl="0" eaLnBrk="1" latinLnBrk="0" hangingPunct="1">
              <a:lnSpc>
                <a:spcPct val="90000"/>
              </a:lnSpc>
              <a:spcBef>
                <a:spcPct val="0"/>
              </a:spcBef>
              <a:buNone/>
              <a:defRPr sz="5400" kern="1200">
                <a:solidFill>
                  <a:schemeClr val="tx1"/>
                </a:solidFill>
                <a:latin typeface="+mj-lt"/>
                <a:ea typeface="+mj-ea"/>
                <a:cs typeface="+mj-cs"/>
              </a:defRPr>
            </a:lvl1pPr>
          </a:lstStyle>
          <a:p>
            <a:pPr>
              <a:spcBef>
                <a:spcPct val="50000"/>
              </a:spcBef>
            </a:pPr>
            <a:r>
              <a:rPr lang="en-US" altLang="en-US" sz="4000">
                <a:latin typeface="Arial" panose="020B0604020202020204" pitchFamily="34" charset="0"/>
              </a:rPr>
              <a:t>Finding the inverse of a square matrix</a:t>
            </a:r>
          </a:p>
        </p:txBody>
      </p:sp>
      <p:sp>
        <p:nvSpPr>
          <p:cNvPr id="4" name="Text Box 4">
            <a:extLst>
              <a:ext uri="{FF2B5EF4-FFF2-40B4-BE49-F238E27FC236}">
                <a16:creationId xmlns:a16="http://schemas.microsoft.com/office/drawing/2014/main" id="{1895252B-F20E-4748-534B-9224C9C6EEDE}"/>
              </a:ext>
            </a:extLst>
          </p:cNvPr>
          <p:cNvSpPr txBox="1">
            <a:spLocks noChangeArrowheads="1"/>
          </p:cNvSpPr>
          <p:nvPr/>
        </p:nvSpPr>
        <p:spPr bwMode="auto">
          <a:xfrm>
            <a:off x="2478350" y="2385874"/>
            <a:ext cx="7315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2200">
                <a:latin typeface="Arial" panose="020B0604020202020204" pitchFamily="34" charset="0"/>
              </a:rPr>
              <a:t>How can LU Decomposition be used to find the inverse?</a:t>
            </a:r>
          </a:p>
          <a:p>
            <a:pPr eaLnBrk="1" hangingPunct="1">
              <a:spcBef>
                <a:spcPct val="50000"/>
              </a:spcBef>
              <a:buClrTx/>
              <a:buSzTx/>
              <a:buFontTx/>
              <a:buNone/>
            </a:pPr>
            <a:r>
              <a:rPr lang="en-US" altLang="en-US" sz="1800">
                <a:latin typeface="Arial" panose="020B0604020202020204" pitchFamily="34" charset="0"/>
              </a:rPr>
              <a:t>Assume the first column of [</a:t>
            </a:r>
            <a:r>
              <a:rPr lang="en-US" altLang="en-US" sz="1800" i="1">
                <a:latin typeface="Arial" panose="020B0604020202020204" pitchFamily="34" charset="0"/>
              </a:rPr>
              <a:t>B</a:t>
            </a:r>
            <a:r>
              <a:rPr lang="en-US" altLang="en-US" sz="1800">
                <a:latin typeface="Arial" panose="020B0604020202020204" pitchFamily="34" charset="0"/>
              </a:rPr>
              <a:t>] to be [</a:t>
            </a:r>
            <a:r>
              <a:rPr lang="en-US" altLang="en-US" sz="1800" i="1">
                <a:latin typeface="Arial" panose="020B0604020202020204" pitchFamily="34" charset="0"/>
              </a:rPr>
              <a:t>b</a:t>
            </a:r>
            <a:r>
              <a:rPr lang="en-US" altLang="en-US" sz="1800" i="1" baseline="-25000">
                <a:latin typeface="Arial" panose="020B0604020202020204" pitchFamily="34" charset="0"/>
              </a:rPr>
              <a:t>11</a:t>
            </a:r>
            <a:r>
              <a:rPr lang="en-US" altLang="en-US" sz="1800" i="1">
                <a:latin typeface="Arial" panose="020B0604020202020204" pitchFamily="34" charset="0"/>
              </a:rPr>
              <a:t>  b</a:t>
            </a:r>
            <a:r>
              <a:rPr lang="en-US" altLang="en-US" sz="1800" i="1" baseline="-25000">
                <a:latin typeface="Arial" panose="020B0604020202020204" pitchFamily="34" charset="0"/>
              </a:rPr>
              <a:t>12</a:t>
            </a:r>
            <a:r>
              <a:rPr lang="en-US" altLang="en-US" sz="1800" i="1">
                <a:latin typeface="Arial" panose="020B0604020202020204" pitchFamily="34" charset="0"/>
              </a:rPr>
              <a:t>  … b</a:t>
            </a:r>
            <a:r>
              <a:rPr lang="en-US" altLang="en-US" sz="1800" i="1" baseline="-25000">
                <a:latin typeface="Arial" panose="020B0604020202020204" pitchFamily="34" charset="0"/>
              </a:rPr>
              <a:t>n1</a:t>
            </a:r>
            <a:r>
              <a:rPr lang="en-US" altLang="en-US" sz="1800">
                <a:latin typeface="Arial" panose="020B0604020202020204" pitchFamily="34" charset="0"/>
              </a:rPr>
              <a:t>]</a:t>
            </a:r>
            <a:r>
              <a:rPr lang="en-US" altLang="en-US" sz="1800" i="1" baseline="30000">
                <a:latin typeface="Arial" panose="020B0604020202020204" pitchFamily="34" charset="0"/>
              </a:rPr>
              <a:t>T</a:t>
            </a:r>
          </a:p>
          <a:p>
            <a:pPr eaLnBrk="1" hangingPunct="1">
              <a:spcBef>
                <a:spcPct val="50000"/>
              </a:spcBef>
              <a:buClrTx/>
              <a:buSzTx/>
              <a:buFontTx/>
              <a:buNone/>
            </a:pPr>
            <a:r>
              <a:rPr lang="en-US" altLang="en-US" sz="1800">
                <a:latin typeface="Arial" panose="020B0604020202020204" pitchFamily="34" charset="0"/>
              </a:rPr>
              <a:t>Using this and the definition of matrix multiplication</a:t>
            </a:r>
          </a:p>
          <a:p>
            <a:pPr eaLnBrk="1" hangingPunct="1">
              <a:spcBef>
                <a:spcPct val="0"/>
              </a:spcBef>
              <a:buClrTx/>
              <a:buSzTx/>
              <a:buFontTx/>
              <a:buNone/>
            </a:pPr>
            <a:endParaRPr lang="en-US" altLang="en-US" sz="1800">
              <a:latin typeface="Arial" panose="020B0604020202020204" pitchFamily="34" charset="0"/>
            </a:endParaRPr>
          </a:p>
          <a:p>
            <a:pPr eaLnBrk="1" hangingPunct="1">
              <a:spcBef>
                <a:spcPct val="0"/>
              </a:spcBef>
              <a:buClrTx/>
              <a:buSzTx/>
              <a:buFontTx/>
              <a:buNone/>
            </a:pPr>
            <a:r>
              <a:rPr lang="en-US" altLang="en-US" sz="1800">
                <a:latin typeface="Arial" panose="020B0604020202020204" pitchFamily="34" charset="0"/>
              </a:rPr>
              <a:t>     First column of [</a:t>
            </a:r>
            <a:r>
              <a:rPr lang="en-US" altLang="en-US" sz="1800" i="1">
                <a:latin typeface="Arial" panose="020B0604020202020204" pitchFamily="34" charset="0"/>
              </a:rPr>
              <a:t>B</a:t>
            </a:r>
            <a:r>
              <a:rPr lang="en-US" altLang="en-US" sz="1800">
                <a:latin typeface="Arial" panose="020B0604020202020204" pitchFamily="34" charset="0"/>
              </a:rPr>
              <a:t>]      	 	      Second column of [</a:t>
            </a:r>
            <a:r>
              <a:rPr lang="en-US" altLang="en-US" sz="1800" i="1">
                <a:latin typeface="Arial" panose="020B0604020202020204" pitchFamily="34" charset="0"/>
              </a:rPr>
              <a:t>B</a:t>
            </a:r>
            <a:r>
              <a:rPr lang="en-US" altLang="en-US" sz="1800">
                <a:latin typeface="Arial" panose="020B0604020202020204" pitchFamily="34" charset="0"/>
              </a:rPr>
              <a:t>]</a:t>
            </a:r>
          </a:p>
        </p:txBody>
      </p:sp>
      <p:graphicFrame>
        <p:nvGraphicFramePr>
          <p:cNvPr id="5" name="Object 9">
            <a:extLst>
              <a:ext uri="{FF2B5EF4-FFF2-40B4-BE49-F238E27FC236}">
                <a16:creationId xmlns:a16="http://schemas.microsoft.com/office/drawing/2014/main" id="{457D5480-8C56-7F66-D901-60EE6B5D5C75}"/>
              </a:ext>
            </a:extLst>
          </p:cNvPr>
          <p:cNvGraphicFramePr>
            <a:graphicFrameLocks noChangeAspect="1"/>
          </p:cNvGraphicFramePr>
          <p:nvPr>
            <p:extLst>
              <p:ext uri="{D42A27DB-BD31-4B8C-83A1-F6EECF244321}">
                <p14:modId xmlns:p14="http://schemas.microsoft.com/office/powerpoint/2010/main" val="2896220432"/>
              </p:ext>
            </p:extLst>
          </p:nvPr>
        </p:nvGraphicFramePr>
        <p:xfrm>
          <a:off x="3087950" y="4214674"/>
          <a:ext cx="1325563" cy="1371600"/>
        </p:xfrm>
        <a:graphic>
          <a:graphicData uri="http://schemas.openxmlformats.org/presentationml/2006/ole">
            <mc:AlternateContent xmlns:mc="http://schemas.openxmlformats.org/markup-compatibility/2006">
              <mc:Choice xmlns:v="urn:schemas-microsoft-com:vml" Requires="v">
                <p:oleObj name="Equation" r:id="rId2" imgW="914400" imgH="939800" progId="Equation.3">
                  <p:embed/>
                </p:oleObj>
              </mc:Choice>
              <mc:Fallback>
                <p:oleObj name="Equation" r:id="rId2" imgW="914400" imgH="939800" progId="Equation.3">
                  <p:embed/>
                  <p:pic>
                    <p:nvPicPr>
                      <p:cNvPr id="88070" name="Object 9">
                        <a:extLst>
                          <a:ext uri="{FF2B5EF4-FFF2-40B4-BE49-F238E27FC236}">
                            <a16:creationId xmlns:a16="http://schemas.microsoft.com/office/drawing/2014/main" id="{26C93781-C6DB-3C38-BC0D-7951B38649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7950" y="4214674"/>
                        <a:ext cx="132556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1">
            <a:extLst>
              <a:ext uri="{FF2B5EF4-FFF2-40B4-BE49-F238E27FC236}">
                <a16:creationId xmlns:a16="http://schemas.microsoft.com/office/drawing/2014/main" id="{A918166B-A58E-C784-8BDF-DFD17B9884B3}"/>
              </a:ext>
            </a:extLst>
          </p:cNvPr>
          <p:cNvGraphicFramePr>
            <a:graphicFrameLocks noChangeAspect="1"/>
          </p:cNvGraphicFramePr>
          <p:nvPr>
            <p:extLst>
              <p:ext uri="{D42A27DB-BD31-4B8C-83A1-F6EECF244321}">
                <p14:modId xmlns:p14="http://schemas.microsoft.com/office/powerpoint/2010/main" val="1631061395"/>
              </p:ext>
            </p:extLst>
          </p:nvPr>
        </p:nvGraphicFramePr>
        <p:xfrm>
          <a:off x="6907475" y="4214674"/>
          <a:ext cx="1371600" cy="1371600"/>
        </p:xfrm>
        <a:graphic>
          <a:graphicData uri="http://schemas.openxmlformats.org/presentationml/2006/ole">
            <mc:AlternateContent xmlns:mc="http://schemas.openxmlformats.org/markup-compatibility/2006">
              <mc:Choice xmlns:v="urn:schemas-microsoft-com:vml" Requires="v">
                <p:oleObj name="Equation" r:id="rId4" imgW="939800" imgH="939800" progId="Equation.3">
                  <p:embed/>
                </p:oleObj>
              </mc:Choice>
              <mc:Fallback>
                <p:oleObj name="Equation" r:id="rId4" imgW="939800" imgH="939800" progId="Equation.3">
                  <p:embed/>
                  <p:pic>
                    <p:nvPicPr>
                      <p:cNvPr id="88071" name="Object 11">
                        <a:extLst>
                          <a:ext uri="{FF2B5EF4-FFF2-40B4-BE49-F238E27FC236}">
                            <a16:creationId xmlns:a16="http://schemas.microsoft.com/office/drawing/2014/main" id="{6898B685-C68B-226C-D113-74CF7521CC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7475" y="4214674"/>
                        <a:ext cx="1371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12">
            <a:extLst>
              <a:ext uri="{FF2B5EF4-FFF2-40B4-BE49-F238E27FC236}">
                <a16:creationId xmlns:a16="http://schemas.microsoft.com/office/drawing/2014/main" id="{8F246418-DBC9-76BD-329D-34C23A049983}"/>
              </a:ext>
            </a:extLst>
          </p:cNvPr>
          <p:cNvSpPr txBox="1">
            <a:spLocks noChangeArrowheads="1"/>
          </p:cNvSpPr>
          <p:nvPr/>
        </p:nvSpPr>
        <p:spPr bwMode="auto">
          <a:xfrm>
            <a:off x="2325950" y="5738674"/>
            <a:ext cx="701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The remaining columns in [</a:t>
            </a:r>
            <a:r>
              <a:rPr lang="en-US" altLang="en-US" sz="1800" i="1">
                <a:latin typeface="Arial" panose="020B0604020202020204" pitchFamily="34" charset="0"/>
              </a:rPr>
              <a:t>B</a:t>
            </a:r>
            <a:r>
              <a:rPr lang="en-US" altLang="en-US" sz="1800">
                <a:latin typeface="Arial" panose="020B0604020202020204" pitchFamily="34" charset="0"/>
              </a:rPr>
              <a:t>] can be found in the same manner</a:t>
            </a:r>
          </a:p>
        </p:txBody>
      </p:sp>
    </p:spTree>
    <p:extLst>
      <p:ext uri="{BB962C8B-B14F-4D97-AF65-F5344CB8AC3E}">
        <p14:creationId xmlns:p14="http://schemas.microsoft.com/office/powerpoint/2010/main" val="9607316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0AFEA-982C-DF44-1AF3-B2FC9F4B2FD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FA17C16-B8C8-AF1E-F8C9-44AF24B4902B}"/>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Rectangle 2">
            <a:extLst>
              <a:ext uri="{FF2B5EF4-FFF2-40B4-BE49-F238E27FC236}">
                <a16:creationId xmlns:a16="http://schemas.microsoft.com/office/drawing/2014/main" id="{244B8D04-3195-BD68-3C37-84D0388BBB0C}"/>
              </a:ext>
            </a:extLst>
          </p:cNvPr>
          <p:cNvSpPr txBox="1">
            <a:spLocks noChangeArrowheads="1"/>
          </p:cNvSpPr>
          <p:nvPr/>
        </p:nvSpPr>
        <p:spPr>
          <a:xfrm>
            <a:off x="0" y="617538"/>
            <a:ext cx="9144000" cy="1143000"/>
          </a:xfrm>
          <a:prstGeom prst="rect">
            <a:avLst/>
          </a:prstGeom>
        </p:spPr>
        <p:txBody>
          <a:bodyPr vert="horz" lIns="91440" tIns="45720" rIns="91440" bIns="45720" rtlCol="0" anchor="b">
            <a:normAutofit/>
          </a:bodyPr>
          <a:lstStyle>
            <a:lvl1pPr algn="ctr" defTabSz="822960" rtl="0" eaLnBrk="1" latinLnBrk="0" hangingPunct="1">
              <a:lnSpc>
                <a:spcPct val="90000"/>
              </a:lnSpc>
              <a:spcBef>
                <a:spcPct val="0"/>
              </a:spcBef>
              <a:buNone/>
              <a:defRPr sz="5400" kern="1200">
                <a:solidFill>
                  <a:schemeClr val="tx1"/>
                </a:solidFill>
                <a:latin typeface="+mj-lt"/>
                <a:ea typeface="+mj-ea"/>
                <a:cs typeface="+mj-cs"/>
              </a:defRPr>
            </a:lvl1pPr>
          </a:lstStyle>
          <a:p>
            <a:r>
              <a:rPr lang="en-US" altLang="en-US"/>
              <a:t>Example: Inverse of a Matrix</a:t>
            </a:r>
          </a:p>
        </p:txBody>
      </p:sp>
      <p:sp>
        <p:nvSpPr>
          <p:cNvPr id="4" name="Text Box 3">
            <a:extLst>
              <a:ext uri="{FF2B5EF4-FFF2-40B4-BE49-F238E27FC236}">
                <a16:creationId xmlns:a16="http://schemas.microsoft.com/office/drawing/2014/main" id="{53AD09C0-B2B6-C64C-F57D-CFB1A488CE0A}"/>
              </a:ext>
            </a:extLst>
          </p:cNvPr>
          <p:cNvSpPr txBox="1">
            <a:spLocks noChangeArrowheads="1"/>
          </p:cNvSpPr>
          <p:nvPr/>
        </p:nvSpPr>
        <p:spPr bwMode="auto">
          <a:xfrm>
            <a:off x="609600" y="18288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a:latin typeface="Arial" panose="020B0604020202020204" pitchFamily="34" charset="0"/>
              </a:rPr>
              <a:t>Find the inverse of a square matrix [</a:t>
            </a:r>
            <a:r>
              <a:rPr lang="en-US" altLang="en-US" sz="2400" i="1">
                <a:latin typeface="Arial" panose="020B0604020202020204" pitchFamily="34" charset="0"/>
              </a:rPr>
              <a:t>A</a:t>
            </a:r>
            <a:r>
              <a:rPr lang="en-US" altLang="en-US" sz="2400">
                <a:latin typeface="Arial" panose="020B0604020202020204" pitchFamily="34" charset="0"/>
              </a:rPr>
              <a:t>]</a:t>
            </a:r>
            <a:endParaRPr lang="en-US" altLang="en-US" sz="2000">
              <a:latin typeface="Arial" panose="020B0604020202020204" pitchFamily="34" charset="0"/>
            </a:endParaRPr>
          </a:p>
        </p:txBody>
      </p:sp>
      <p:graphicFrame>
        <p:nvGraphicFramePr>
          <p:cNvPr id="5" name="Object 4">
            <a:extLst>
              <a:ext uri="{FF2B5EF4-FFF2-40B4-BE49-F238E27FC236}">
                <a16:creationId xmlns:a16="http://schemas.microsoft.com/office/drawing/2014/main" id="{BDEC88A3-9C07-B73E-EECA-252F36B42604}"/>
              </a:ext>
            </a:extLst>
          </p:cNvPr>
          <p:cNvGraphicFramePr>
            <a:graphicFrameLocks noChangeAspect="1"/>
          </p:cNvGraphicFramePr>
          <p:nvPr/>
        </p:nvGraphicFramePr>
        <p:xfrm>
          <a:off x="3048000" y="2362200"/>
          <a:ext cx="2438400" cy="1463675"/>
        </p:xfrm>
        <a:graphic>
          <a:graphicData uri="http://schemas.openxmlformats.org/presentationml/2006/ole">
            <mc:AlternateContent xmlns:mc="http://schemas.openxmlformats.org/markup-compatibility/2006">
              <mc:Choice xmlns:v="urn:schemas-microsoft-com:vml" Requires="v">
                <p:oleObj name="Equation" r:id="rId2" imgW="1193800" imgH="711200" progId="Equation.3">
                  <p:embed/>
                </p:oleObj>
              </mc:Choice>
              <mc:Fallback>
                <p:oleObj name="Equation" r:id="rId2" imgW="1193800" imgH="711200" progId="Equation.3">
                  <p:embed/>
                  <p:pic>
                    <p:nvPicPr>
                      <p:cNvPr id="90117" name="Object 4">
                        <a:extLst>
                          <a:ext uri="{FF2B5EF4-FFF2-40B4-BE49-F238E27FC236}">
                            <a16:creationId xmlns:a16="http://schemas.microsoft.com/office/drawing/2014/main" id="{D0AA1A9F-3B69-365D-2D39-4A39969C9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362200"/>
                        <a:ext cx="24384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6">
            <a:extLst>
              <a:ext uri="{FF2B5EF4-FFF2-40B4-BE49-F238E27FC236}">
                <a16:creationId xmlns:a16="http://schemas.microsoft.com/office/drawing/2014/main" id="{852E3B2A-B10E-DBBE-C90B-F694767F6474}"/>
              </a:ext>
            </a:extLst>
          </p:cNvPr>
          <p:cNvGraphicFramePr>
            <a:graphicFrameLocks noChangeAspect="1"/>
          </p:cNvGraphicFramePr>
          <p:nvPr/>
        </p:nvGraphicFramePr>
        <p:xfrm>
          <a:off x="1981200" y="4572000"/>
          <a:ext cx="5160963" cy="1343025"/>
        </p:xfrm>
        <a:graphic>
          <a:graphicData uri="http://schemas.openxmlformats.org/presentationml/2006/ole">
            <mc:AlternateContent xmlns:mc="http://schemas.openxmlformats.org/markup-compatibility/2006">
              <mc:Choice xmlns:v="urn:schemas-microsoft-com:vml" Requires="v">
                <p:oleObj name="Equation" r:id="rId4" imgW="2895600" imgH="711200" progId="Equation.3">
                  <p:embed/>
                </p:oleObj>
              </mc:Choice>
              <mc:Fallback>
                <p:oleObj name="Equation" r:id="rId4" imgW="2895600" imgH="711200" progId="Equation.3">
                  <p:embed/>
                  <p:pic>
                    <p:nvPicPr>
                      <p:cNvPr id="90118" name="Object 6">
                        <a:extLst>
                          <a:ext uri="{FF2B5EF4-FFF2-40B4-BE49-F238E27FC236}">
                            <a16:creationId xmlns:a16="http://schemas.microsoft.com/office/drawing/2014/main" id="{B414E080-9CED-8FE1-49F8-C85B786EC3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4572000"/>
                        <a:ext cx="5160963"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9">
            <a:extLst>
              <a:ext uri="{FF2B5EF4-FFF2-40B4-BE49-F238E27FC236}">
                <a16:creationId xmlns:a16="http://schemas.microsoft.com/office/drawing/2014/main" id="{EB462311-2D9F-B69E-D54D-8DCCC043E601}"/>
              </a:ext>
            </a:extLst>
          </p:cNvPr>
          <p:cNvSpPr txBox="1">
            <a:spLocks noChangeArrowheads="1"/>
          </p:cNvSpPr>
          <p:nvPr/>
        </p:nvSpPr>
        <p:spPr bwMode="auto">
          <a:xfrm>
            <a:off x="609600" y="4038600"/>
            <a:ext cx="800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Using the decomposition procedure, the [</a:t>
            </a:r>
            <a:r>
              <a:rPr lang="en-US" altLang="en-US" sz="1800" i="1">
                <a:latin typeface="Arial" panose="020B0604020202020204" pitchFamily="34" charset="0"/>
              </a:rPr>
              <a:t>L</a:t>
            </a:r>
            <a:r>
              <a:rPr lang="en-US" altLang="en-US" sz="1800">
                <a:latin typeface="Arial" panose="020B0604020202020204" pitchFamily="34" charset="0"/>
              </a:rPr>
              <a:t>] and [</a:t>
            </a:r>
            <a:r>
              <a:rPr lang="en-US" altLang="en-US" sz="1800" i="1">
                <a:latin typeface="Arial" panose="020B0604020202020204" pitchFamily="34" charset="0"/>
              </a:rPr>
              <a:t>U</a:t>
            </a:r>
            <a:r>
              <a:rPr lang="en-US" altLang="en-US" sz="1800">
                <a:latin typeface="Arial" panose="020B0604020202020204" pitchFamily="34" charset="0"/>
              </a:rPr>
              <a:t>] matrices are found to be</a:t>
            </a:r>
          </a:p>
        </p:txBody>
      </p:sp>
    </p:spTree>
    <p:extLst>
      <p:ext uri="{BB962C8B-B14F-4D97-AF65-F5344CB8AC3E}">
        <p14:creationId xmlns:p14="http://schemas.microsoft.com/office/powerpoint/2010/main" val="3177976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141CB-68C8-D3BF-6871-1D6698F28E3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A50C61B-9E8F-65F3-3552-6FC27E0C65B5}"/>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Text Box 4">
            <a:extLst>
              <a:ext uri="{FF2B5EF4-FFF2-40B4-BE49-F238E27FC236}">
                <a16:creationId xmlns:a16="http://schemas.microsoft.com/office/drawing/2014/main" id="{9D8176DF-08EE-05CC-2815-C205F6D50AFC}"/>
              </a:ext>
            </a:extLst>
          </p:cNvPr>
          <p:cNvSpPr txBox="1">
            <a:spLocks noChangeArrowheads="1"/>
          </p:cNvSpPr>
          <p:nvPr/>
        </p:nvSpPr>
        <p:spPr bwMode="auto">
          <a:xfrm>
            <a:off x="1980043" y="2185756"/>
            <a:ext cx="8001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a:p>
            <a:pPr eaLnBrk="1" hangingPunct="1">
              <a:spcBef>
                <a:spcPct val="0"/>
              </a:spcBef>
              <a:buClrTx/>
              <a:buSzTx/>
              <a:buFontTx/>
              <a:buNone/>
            </a:pPr>
            <a:r>
              <a:rPr lang="en-US" altLang="en-US" sz="1800">
                <a:latin typeface="Arial" panose="020B0604020202020204" pitchFamily="34" charset="0"/>
              </a:rPr>
              <a:t>First Column                   Second Column	                 Third Column</a:t>
            </a:r>
          </a:p>
        </p:txBody>
      </p:sp>
      <p:graphicFrame>
        <p:nvGraphicFramePr>
          <p:cNvPr id="4" name="Object 15">
            <a:extLst>
              <a:ext uri="{FF2B5EF4-FFF2-40B4-BE49-F238E27FC236}">
                <a16:creationId xmlns:a16="http://schemas.microsoft.com/office/drawing/2014/main" id="{E04AB611-0704-F04C-21E2-4100456F35A3}"/>
              </a:ext>
            </a:extLst>
          </p:cNvPr>
          <p:cNvGraphicFramePr>
            <a:graphicFrameLocks noChangeAspect="1"/>
          </p:cNvGraphicFramePr>
          <p:nvPr>
            <p:extLst>
              <p:ext uri="{D42A27DB-BD31-4B8C-83A1-F6EECF244321}">
                <p14:modId xmlns:p14="http://schemas.microsoft.com/office/powerpoint/2010/main" val="1520262784"/>
              </p:ext>
            </p:extLst>
          </p:nvPr>
        </p:nvGraphicFramePr>
        <p:xfrm>
          <a:off x="4345418" y="2992206"/>
          <a:ext cx="2286000" cy="1225550"/>
        </p:xfrm>
        <a:graphic>
          <a:graphicData uri="http://schemas.openxmlformats.org/presentationml/2006/ole">
            <mc:AlternateContent xmlns:mc="http://schemas.openxmlformats.org/markup-compatibility/2006">
              <mc:Choice xmlns:v="urn:schemas-microsoft-com:vml" Requires="v">
                <p:oleObj name="Equation" r:id="rId2" imgW="1536700" imgH="711200" progId="Equation.3">
                  <p:embed/>
                </p:oleObj>
              </mc:Choice>
              <mc:Fallback>
                <p:oleObj name="Equation" r:id="rId2" imgW="1536700" imgH="711200" progId="Equation.3">
                  <p:embed/>
                  <p:pic>
                    <p:nvPicPr>
                      <p:cNvPr id="92169" name="Object 15">
                        <a:extLst>
                          <a:ext uri="{FF2B5EF4-FFF2-40B4-BE49-F238E27FC236}">
                            <a16:creationId xmlns:a16="http://schemas.microsoft.com/office/drawing/2014/main" id="{13140596-BDFE-B2CA-79FB-5125A9AD4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5418" y="2992206"/>
                        <a:ext cx="228600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9">
            <a:extLst>
              <a:ext uri="{FF2B5EF4-FFF2-40B4-BE49-F238E27FC236}">
                <a16:creationId xmlns:a16="http://schemas.microsoft.com/office/drawing/2014/main" id="{C56A7A2D-F94E-C8CB-6213-BE14E15822C9}"/>
              </a:ext>
            </a:extLst>
          </p:cNvPr>
          <p:cNvGraphicFramePr>
            <a:graphicFrameLocks noChangeAspect="1"/>
          </p:cNvGraphicFramePr>
          <p:nvPr>
            <p:extLst>
              <p:ext uri="{D42A27DB-BD31-4B8C-83A1-F6EECF244321}">
                <p14:modId xmlns:p14="http://schemas.microsoft.com/office/powerpoint/2010/main" val="3997883578"/>
              </p:ext>
            </p:extLst>
          </p:nvPr>
        </p:nvGraphicFramePr>
        <p:xfrm>
          <a:off x="7461681" y="3158893"/>
          <a:ext cx="2473325" cy="1130300"/>
        </p:xfrm>
        <a:graphic>
          <a:graphicData uri="http://schemas.openxmlformats.org/presentationml/2006/ole">
            <mc:AlternateContent xmlns:mc="http://schemas.openxmlformats.org/markup-compatibility/2006">
              <mc:Choice xmlns:v="urn:schemas-microsoft-com:vml" Requires="v">
                <p:oleObj name="Equation" r:id="rId4" imgW="1562100" imgH="711200" progId="Equation.3">
                  <p:embed/>
                </p:oleObj>
              </mc:Choice>
              <mc:Fallback>
                <p:oleObj name="Equation" r:id="rId4" imgW="1562100" imgH="711200" progId="Equation.3">
                  <p:embed/>
                  <p:pic>
                    <p:nvPicPr>
                      <p:cNvPr id="92171" name="Object 19">
                        <a:extLst>
                          <a:ext uri="{FF2B5EF4-FFF2-40B4-BE49-F238E27FC236}">
                            <a16:creationId xmlns:a16="http://schemas.microsoft.com/office/drawing/2014/main" id="{82B2E396-4601-51FF-17C4-918FC3EEED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1681" y="3158893"/>
                        <a:ext cx="247332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2">
            <a:extLst>
              <a:ext uri="{FF2B5EF4-FFF2-40B4-BE49-F238E27FC236}">
                <a16:creationId xmlns:a16="http://schemas.microsoft.com/office/drawing/2014/main" id="{60578E53-47F4-6995-4CDC-FD37A30597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7943" y="2931881"/>
            <a:ext cx="222885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4990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6C6C2-5A68-6244-0763-A886CC762F3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D2DB718-3EC2-08CB-2A5A-024C6AE8C385}"/>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Text Box 4">
            <a:extLst>
              <a:ext uri="{FF2B5EF4-FFF2-40B4-BE49-F238E27FC236}">
                <a16:creationId xmlns:a16="http://schemas.microsoft.com/office/drawing/2014/main" id="{C30BF6DF-46EA-1B0B-D645-3647137C5FDC}"/>
              </a:ext>
            </a:extLst>
          </p:cNvPr>
          <p:cNvSpPr txBox="1">
            <a:spLocks noChangeArrowheads="1"/>
          </p:cNvSpPr>
          <p:nvPr/>
        </p:nvSpPr>
        <p:spPr bwMode="auto">
          <a:xfrm>
            <a:off x="2476500" y="1541016"/>
            <a:ext cx="6019800" cy="1200150"/>
          </a:xfrm>
          <a:prstGeom prst="rect">
            <a:avLst/>
          </a:prstGeom>
          <a:noFill/>
          <a:ln w="9525">
            <a:noFill/>
            <a:miter lim="800000"/>
            <a:headEnd/>
            <a:tailEnd/>
          </a:ln>
        </p:spPr>
        <p:txBody>
          <a:bodyPr>
            <a:spAutoFit/>
          </a:bodyPr>
          <a:lstStyle/>
          <a:p>
            <a:pPr eaLnBrk="1" hangingPunct="1">
              <a:spcBef>
                <a:spcPct val="50000"/>
              </a:spcBef>
              <a:defRPr/>
            </a:pPr>
            <a:r>
              <a:rPr lang="en-US" sz="1800" dirty="0">
                <a:latin typeface="Arial" charset="0"/>
              </a:rPr>
              <a:t>Solving for the each column of [</a:t>
            </a:r>
            <a:r>
              <a:rPr lang="en-US" sz="1800" i="1" dirty="0">
                <a:latin typeface="Arial" charset="0"/>
              </a:rPr>
              <a:t>B</a:t>
            </a:r>
            <a:r>
              <a:rPr lang="en-US" sz="1800" dirty="0">
                <a:latin typeface="Arial" charset="0"/>
              </a:rPr>
              <a:t>] requires two steps</a:t>
            </a:r>
          </a:p>
          <a:p>
            <a:pPr marL="342900" indent="-342900" eaLnBrk="1" hangingPunct="1">
              <a:spcBef>
                <a:spcPct val="50000"/>
              </a:spcBef>
              <a:buFontTx/>
              <a:buAutoNum type="arabicParenR"/>
              <a:defRPr/>
            </a:pPr>
            <a:r>
              <a:rPr lang="en-US" sz="1800" dirty="0">
                <a:latin typeface="Arial" charset="0"/>
              </a:rPr>
              <a:t>Solve [</a:t>
            </a:r>
            <a:r>
              <a:rPr lang="en-US" sz="1800" i="1" dirty="0">
                <a:latin typeface="Arial" charset="0"/>
              </a:rPr>
              <a:t>L</a:t>
            </a:r>
            <a:r>
              <a:rPr lang="en-US" sz="1800" dirty="0">
                <a:latin typeface="Arial" charset="0"/>
              </a:rPr>
              <a:t>] [</a:t>
            </a:r>
            <a:r>
              <a:rPr lang="en-US" sz="1800" i="1" dirty="0">
                <a:latin typeface="Arial" charset="0"/>
              </a:rPr>
              <a:t>Z</a:t>
            </a:r>
            <a:r>
              <a:rPr lang="en-US" sz="1800" dirty="0">
                <a:latin typeface="Arial" charset="0"/>
              </a:rPr>
              <a:t>] = [</a:t>
            </a:r>
            <a:r>
              <a:rPr lang="en-US" sz="1800" i="1" dirty="0">
                <a:latin typeface="Arial" charset="0"/>
              </a:rPr>
              <a:t>b</a:t>
            </a:r>
            <a:r>
              <a:rPr lang="en-US" sz="1800" dirty="0">
                <a:latin typeface="Arial" charset="0"/>
              </a:rPr>
              <a:t>] for [</a:t>
            </a:r>
            <a:r>
              <a:rPr lang="en-US" sz="1800" i="1" dirty="0">
                <a:latin typeface="Arial" charset="0"/>
              </a:rPr>
              <a:t>Z</a:t>
            </a:r>
            <a:r>
              <a:rPr lang="en-US" sz="1800" dirty="0">
                <a:latin typeface="Arial" charset="0"/>
              </a:rPr>
              <a:t>] </a:t>
            </a:r>
          </a:p>
          <a:p>
            <a:pPr marL="342900" indent="-342900" eaLnBrk="1" hangingPunct="1">
              <a:spcBef>
                <a:spcPct val="50000"/>
              </a:spcBef>
              <a:buFontTx/>
              <a:buAutoNum type="arabicParenR"/>
              <a:defRPr/>
            </a:pPr>
            <a:r>
              <a:rPr lang="en-US" sz="1800" dirty="0">
                <a:latin typeface="Arial" charset="0"/>
              </a:rPr>
              <a:t>Solve [</a:t>
            </a:r>
            <a:r>
              <a:rPr lang="en-US" sz="1800" i="1" dirty="0">
                <a:latin typeface="Arial" charset="0"/>
              </a:rPr>
              <a:t>U</a:t>
            </a:r>
            <a:r>
              <a:rPr lang="en-US" sz="1800" dirty="0">
                <a:latin typeface="Arial" charset="0"/>
              </a:rPr>
              <a:t>] [</a:t>
            </a:r>
            <a:r>
              <a:rPr lang="en-US" sz="1800" i="1" dirty="0">
                <a:latin typeface="Arial" charset="0"/>
              </a:rPr>
              <a:t>X</a:t>
            </a:r>
            <a:r>
              <a:rPr lang="en-US" sz="1800" dirty="0">
                <a:latin typeface="Arial" charset="0"/>
              </a:rPr>
              <a:t>] = [</a:t>
            </a:r>
            <a:r>
              <a:rPr lang="en-US" sz="1800" i="1" dirty="0">
                <a:latin typeface="Arial" charset="0"/>
              </a:rPr>
              <a:t>Z</a:t>
            </a:r>
            <a:r>
              <a:rPr lang="en-US" sz="1800" dirty="0">
                <a:latin typeface="Arial" charset="0"/>
              </a:rPr>
              <a:t>] for [</a:t>
            </a:r>
            <a:r>
              <a:rPr lang="en-US" sz="1800" i="1" dirty="0">
                <a:latin typeface="Arial" charset="0"/>
              </a:rPr>
              <a:t>X</a:t>
            </a:r>
            <a:r>
              <a:rPr lang="en-US" sz="1800" dirty="0">
                <a:latin typeface="Arial" charset="0"/>
              </a:rPr>
              <a:t>] </a:t>
            </a:r>
          </a:p>
        </p:txBody>
      </p:sp>
      <p:sp>
        <p:nvSpPr>
          <p:cNvPr id="4" name="Text Box 5">
            <a:extLst>
              <a:ext uri="{FF2B5EF4-FFF2-40B4-BE49-F238E27FC236}">
                <a16:creationId xmlns:a16="http://schemas.microsoft.com/office/drawing/2014/main" id="{C8619EAB-0F10-2499-19A9-34D084E7FC6A}"/>
              </a:ext>
            </a:extLst>
          </p:cNvPr>
          <p:cNvSpPr txBox="1">
            <a:spLocks noChangeArrowheads="1"/>
          </p:cNvSpPr>
          <p:nvPr/>
        </p:nvSpPr>
        <p:spPr bwMode="auto">
          <a:xfrm>
            <a:off x="3162300" y="323964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Step 1:</a:t>
            </a:r>
          </a:p>
        </p:txBody>
      </p:sp>
      <p:graphicFrame>
        <p:nvGraphicFramePr>
          <p:cNvPr id="5" name="Object 6">
            <a:extLst>
              <a:ext uri="{FF2B5EF4-FFF2-40B4-BE49-F238E27FC236}">
                <a16:creationId xmlns:a16="http://schemas.microsoft.com/office/drawing/2014/main" id="{4FF72A11-9E64-1024-99E4-FB1A4FD53BFD}"/>
              </a:ext>
            </a:extLst>
          </p:cNvPr>
          <p:cNvGraphicFramePr>
            <a:graphicFrameLocks noChangeAspect="1"/>
          </p:cNvGraphicFramePr>
          <p:nvPr>
            <p:extLst>
              <p:ext uri="{D42A27DB-BD31-4B8C-83A1-F6EECF244321}">
                <p14:modId xmlns:p14="http://schemas.microsoft.com/office/powerpoint/2010/main" val="1227483287"/>
              </p:ext>
            </p:extLst>
          </p:nvPr>
        </p:nvGraphicFramePr>
        <p:xfrm>
          <a:off x="4076700" y="2782441"/>
          <a:ext cx="4513263" cy="1349375"/>
        </p:xfrm>
        <a:graphic>
          <a:graphicData uri="http://schemas.openxmlformats.org/presentationml/2006/ole">
            <mc:AlternateContent xmlns:mc="http://schemas.openxmlformats.org/markup-compatibility/2006">
              <mc:Choice xmlns:v="urn:schemas-microsoft-com:vml" Requires="v">
                <p:oleObj name="Equation" r:id="rId2" imgW="2425700" imgH="711200" progId="Equation.3">
                  <p:embed/>
                </p:oleObj>
              </mc:Choice>
              <mc:Fallback>
                <p:oleObj name="Equation" r:id="rId2" imgW="2425700" imgH="711200" progId="Equation.3">
                  <p:embed/>
                  <p:pic>
                    <p:nvPicPr>
                      <p:cNvPr id="94213" name="Object 6">
                        <a:extLst>
                          <a:ext uri="{FF2B5EF4-FFF2-40B4-BE49-F238E27FC236}">
                            <a16:creationId xmlns:a16="http://schemas.microsoft.com/office/drawing/2014/main" id="{51DD2CA0-CD8E-2155-D5DE-40FF61741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6700" y="2782441"/>
                        <a:ext cx="4513263"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10">
            <a:extLst>
              <a:ext uri="{FF2B5EF4-FFF2-40B4-BE49-F238E27FC236}">
                <a16:creationId xmlns:a16="http://schemas.microsoft.com/office/drawing/2014/main" id="{3F52D794-B320-9023-F656-F46C2F9EA0B2}"/>
              </a:ext>
            </a:extLst>
          </p:cNvPr>
          <p:cNvSpPr txBox="1">
            <a:spLocks noChangeArrowheads="1"/>
          </p:cNvSpPr>
          <p:nvPr/>
        </p:nvSpPr>
        <p:spPr bwMode="auto">
          <a:xfrm>
            <a:off x="2171700" y="4146104"/>
            <a:ext cx="320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800">
                <a:latin typeface="Arial" panose="020B0604020202020204" pitchFamily="34" charset="0"/>
              </a:rPr>
              <a:t>This generates the equations:</a:t>
            </a:r>
          </a:p>
        </p:txBody>
      </p:sp>
      <p:graphicFrame>
        <p:nvGraphicFramePr>
          <p:cNvPr id="7" name="Object 13">
            <a:extLst>
              <a:ext uri="{FF2B5EF4-FFF2-40B4-BE49-F238E27FC236}">
                <a16:creationId xmlns:a16="http://schemas.microsoft.com/office/drawing/2014/main" id="{FCE79719-4018-1ED4-B979-33C849091568}"/>
              </a:ext>
            </a:extLst>
          </p:cNvPr>
          <p:cNvGraphicFramePr>
            <a:graphicFrameLocks noChangeAspect="1"/>
          </p:cNvGraphicFramePr>
          <p:nvPr>
            <p:extLst>
              <p:ext uri="{D42A27DB-BD31-4B8C-83A1-F6EECF244321}">
                <p14:modId xmlns:p14="http://schemas.microsoft.com/office/powerpoint/2010/main" val="1285024630"/>
              </p:ext>
            </p:extLst>
          </p:nvPr>
        </p:nvGraphicFramePr>
        <p:xfrm>
          <a:off x="3924300" y="4284216"/>
          <a:ext cx="3271838" cy="1662113"/>
        </p:xfrm>
        <a:graphic>
          <a:graphicData uri="http://schemas.openxmlformats.org/presentationml/2006/ole">
            <mc:AlternateContent xmlns:mc="http://schemas.openxmlformats.org/markup-compatibility/2006">
              <mc:Choice xmlns:v="urn:schemas-microsoft-com:vml" Requires="v">
                <p:oleObj name="Equation" r:id="rId4" imgW="1371600" imgH="685800" progId="Equation.3">
                  <p:embed/>
                </p:oleObj>
              </mc:Choice>
              <mc:Fallback>
                <p:oleObj name="Equation" r:id="rId4" imgW="1371600" imgH="685800" progId="Equation.3">
                  <p:embed/>
                  <p:pic>
                    <p:nvPicPr>
                      <p:cNvPr id="94215" name="Object 13">
                        <a:extLst>
                          <a:ext uri="{FF2B5EF4-FFF2-40B4-BE49-F238E27FC236}">
                            <a16:creationId xmlns:a16="http://schemas.microsoft.com/office/drawing/2014/main" id="{590C79F1-E0FB-173F-BA35-7718B38DF0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4284216"/>
                        <a:ext cx="3271838"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605847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9C817-480D-B264-AF4F-3DB8968818F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D09606C-014A-4CED-DD6B-A8EB63F85779}"/>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Text Box 4">
            <a:extLst>
              <a:ext uri="{FF2B5EF4-FFF2-40B4-BE49-F238E27FC236}">
                <a16:creationId xmlns:a16="http://schemas.microsoft.com/office/drawing/2014/main" id="{6D6CEE0A-9398-DD64-BBC7-4029E943748C}"/>
              </a:ext>
            </a:extLst>
          </p:cNvPr>
          <p:cNvSpPr txBox="1">
            <a:spLocks noChangeArrowheads="1"/>
          </p:cNvSpPr>
          <p:nvPr/>
        </p:nvSpPr>
        <p:spPr bwMode="auto">
          <a:xfrm>
            <a:off x="1822141" y="1791070"/>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Solving for [</a:t>
            </a:r>
            <a:r>
              <a:rPr lang="en-US" altLang="en-US" sz="1800" i="1">
                <a:latin typeface="Arial" panose="020B0604020202020204" pitchFamily="34" charset="0"/>
              </a:rPr>
              <a:t>Z</a:t>
            </a:r>
            <a:r>
              <a:rPr lang="en-US" altLang="en-US" sz="1800">
                <a:latin typeface="Arial" panose="020B0604020202020204" pitchFamily="34" charset="0"/>
              </a:rPr>
              <a:t>]</a:t>
            </a:r>
          </a:p>
        </p:txBody>
      </p:sp>
      <p:graphicFrame>
        <p:nvGraphicFramePr>
          <p:cNvPr id="4" name="Object 19">
            <a:extLst>
              <a:ext uri="{FF2B5EF4-FFF2-40B4-BE49-F238E27FC236}">
                <a16:creationId xmlns:a16="http://schemas.microsoft.com/office/drawing/2014/main" id="{B5B6396E-0666-7177-F919-C6E67EF82ACA}"/>
              </a:ext>
            </a:extLst>
          </p:cNvPr>
          <p:cNvGraphicFramePr>
            <a:graphicFrameLocks noChangeAspect="1"/>
          </p:cNvGraphicFramePr>
          <p:nvPr>
            <p:extLst>
              <p:ext uri="{D42A27DB-BD31-4B8C-83A1-F6EECF244321}">
                <p14:modId xmlns:p14="http://schemas.microsoft.com/office/powerpoint/2010/main" val="124924957"/>
              </p:ext>
            </p:extLst>
          </p:nvPr>
        </p:nvGraphicFramePr>
        <p:xfrm>
          <a:off x="2203141" y="2324470"/>
          <a:ext cx="3135313" cy="2974975"/>
        </p:xfrm>
        <a:graphic>
          <a:graphicData uri="http://schemas.openxmlformats.org/presentationml/2006/ole">
            <mc:AlternateContent xmlns:mc="http://schemas.openxmlformats.org/markup-compatibility/2006">
              <mc:Choice xmlns:v="urn:schemas-microsoft-com:vml" Requires="v">
                <p:oleObj name="Equation" r:id="rId2" imgW="1689100" imgH="1600200" progId="Equation.3">
                  <p:embed/>
                </p:oleObj>
              </mc:Choice>
              <mc:Fallback>
                <p:oleObj name="Equation" r:id="rId2" imgW="1689100" imgH="1600200" progId="Equation.3">
                  <p:embed/>
                  <p:pic>
                    <p:nvPicPr>
                      <p:cNvPr id="96264" name="Object 19">
                        <a:extLst>
                          <a:ext uri="{FF2B5EF4-FFF2-40B4-BE49-F238E27FC236}">
                            <a16:creationId xmlns:a16="http://schemas.microsoft.com/office/drawing/2014/main" id="{A51E8C52-C568-68C1-14DF-90A448859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3141" y="2324470"/>
                        <a:ext cx="3135313"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1">
            <a:extLst>
              <a:ext uri="{FF2B5EF4-FFF2-40B4-BE49-F238E27FC236}">
                <a16:creationId xmlns:a16="http://schemas.microsoft.com/office/drawing/2014/main" id="{89B79ED4-5ABC-87C1-6322-E81FC2F6C732}"/>
              </a:ext>
            </a:extLst>
          </p:cNvPr>
          <p:cNvGraphicFramePr>
            <a:graphicFrameLocks noChangeAspect="1"/>
          </p:cNvGraphicFramePr>
          <p:nvPr>
            <p:extLst>
              <p:ext uri="{D42A27DB-BD31-4B8C-83A1-F6EECF244321}">
                <p14:modId xmlns:p14="http://schemas.microsoft.com/office/powerpoint/2010/main" val="2687765237"/>
              </p:ext>
            </p:extLst>
          </p:nvPr>
        </p:nvGraphicFramePr>
        <p:xfrm>
          <a:off x="5708341" y="2400670"/>
          <a:ext cx="2857500" cy="1592263"/>
        </p:xfrm>
        <a:graphic>
          <a:graphicData uri="http://schemas.openxmlformats.org/presentationml/2006/ole">
            <mc:AlternateContent xmlns:mc="http://schemas.openxmlformats.org/markup-compatibility/2006">
              <mc:Choice xmlns:v="urn:schemas-microsoft-com:vml" Requires="v">
                <p:oleObj name="Equation" r:id="rId4" imgW="1282700" imgH="711200" progId="Equation.3">
                  <p:embed/>
                </p:oleObj>
              </mc:Choice>
              <mc:Fallback>
                <p:oleObj name="Equation" r:id="rId4" imgW="1282700" imgH="711200" progId="Equation.3">
                  <p:embed/>
                  <p:pic>
                    <p:nvPicPr>
                      <p:cNvPr id="96265" name="Object 21">
                        <a:extLst>
                          <a:ext uri="{FF2B5EF4-FFF2-40B4-BE49-F238E27FC236}">
                            <a16:creationId xmlns:a16="http://schemas.microsoft.com/office/drawing/2014/main" id="{960E0AC5-984C-DB34-3F83-489CA71A5A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8341" y="2400670"/>
                        <a:ext cx="2857500"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436373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29150-1092-B0E5-85A3-4AB176E33BF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C577758-AF1B-0D5C-84F0-F6EB7DA08BA7}"/>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Text Box 4">
            <a:extLst>
              <a:ext uri="{FF2B5EF4-FFF2-40B4-BE49-F238E27FC236}">
                <a16:creationId xmlns:a16="http://schemas.microsoft.com/office/drawing/2014/main" id="{9934C96D-0F44-DB51-20C1-DF10AB36B447}"/>
              </a:ext>
            </a:extLst>
          </p:cNvPr>
          <p:cNvSpPr txBox="1">
            <a:spLocks noChangeArrowheads="1"/>
          </p:cNvSpPr>
          <p:nvPr/>
        </p:nvSpPr>
        <p:spPr bwMode="auto">
          <a:xfrm>
            <a:off x="2337047" y="2574925"/>
            <a:ext cx="3276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dirty="0">
                <a:latin typeface="Arial" panose="020B0604020202020204" pitchFamily="34" charset="0"/>
              </a:rPr>
              <a:t>Solving [</a:t>
            </a:r>
            <a:r>
              <a:rPr lang="en-US" altLang="en-US" sz="1800" i="1" dirty="0">
                <a:latin typeface="Arial" panose="020B0604020202020204" pitchFamily="34" charset="0"/>
              </a:rPr>
              <a:t>U</a:t>
            </a:r>
            <a:r>
              <a:rPr lang="en-US" altLang="en-US" sz="1800" dirty="0">
                <a:latin typeface="Arial" panose="020B0604020202020204" pitchFamily="34" charset="0"/>
              </a:rPr>
              <a:t>][</a:t>
            </a:r>
            <a:r>
              <a:rPr lang="en-US" altLang="en-US" sz="1800" i="1" dirty="0">
                <a:latin typeface="Arial" panose="020B0604020202020204" pitchFamily="34" charset="0"/>
              </a:rPr>
              <a:t>X</a:t>
            </a:r>
            <a:r>
              <a:rPr lang="en-US" altLang="en-US" sz="1800" dirty="0">
                <a:latin typeface="Arial" panose="020B0604020202020204" pitchFamily="34" charset="0"/>
              </a:rPr>
              <a:t>] = [</a:t>
            </a:r>
            <a:r>
              <a:rPr lang="en-US" altLang="en-US" sz="1800" i="1" dirty="0">
                <a:latin typeface="Arial" panose="020B0604020202020204" pitchFamily="34" charset="0"/>
              </a:rPr>
              <a:t>Z</a:t>
            </a:r>
            <a:r>
              <a:rPr lang="en-US" altLang="en-US" sz="1800" dirty="0">
                <a:latin typeface="Arial" panose="020B0604020202020204" pitchFamily="34" charset="0"/>
              </a:rPr>
              <a:t>] for [</a:t>
            </a:r>
            <a:r>
              <a:rPr lang="en-US" altLang="en-US" sz="1800" i="1" dirty="0">
                <a:latin typeface="Arial" panose="020B0604020202020204" pitchFamily="34" charset="0"/>
              </a:rPr>
              <a:t>X</a:t>
            </a:r>
            <a:r>
              <a:rPr lang="en-US" altLang="en-US" sz="1800" dirty="0">
                <a:latin typeface="Arial" panose="020B0604020202020204" pitchFamily="34" charset="0"/>
              </a:rPr>
              <a:t>]			 </a:t>
            </a:r>
          </a:p>
        </p:txBody>
      </p:sp>
      <p:graphicFrame>
        <p:nvGraphicFramePr>
          <p:cNvPr id="4" name="Object 11">
            <a:extLst>
              <a:ext uri="{FF2B5EF4-FFF2-40B4-BE49-F238E27FC236}">
                <a16:creationId xmlns:a16="http://schemas.microsoft.com/office/drawing/2014/main" id="{12253752-BF60-EFC4-1BE2-E585F0D66835}"/>
              </a:ext>
            </a:extLst>
          </p:cNvPr>
          <p:cNvGraphicFramePr>
            <a:graphicFrameLocks noChangeAspect="1"/>
          </p:cNvGraphicFramePr>
          <p:nvPr>
            <p:extLst>
              <p:ext uri="{D42A27DB-BD31-4B8C-83A1-F6EECF244321}">
                <p14:modId xmlns:p14="http://schemas.microsoft.com/office/powerpoint/2010/main" val="248753909"/>
              </p:ext>
            </p:extLst>
          </p:nvPr>
        </p:nvGraphicFramePr>
        <p:xfrm>
          <a:off x="5842247" y="2193925"/>
          <a:ext cx="3886200" cy="1235075"/>
        </p:xfrm>
        <a:graphic>
          <a:graphicData uri="http://schemas.openxmlformats.org/presentationml/2006/ole">
            <mc:AlternateContent xmlns:mc="http://schemas.openxmlformats.org/markup-compatibility/2006">
              <mc:Choice xmlns:v="urn:schemas-microsoft-com:vml" Requires="v">
                <p:oleObj name="Equation" r:id="rId2" imgW="2247900" imgH="711200" progId="Equation.3">
                  <p:embed/>
                </p:oleObj>
              </mc:Choice>
              <mc:Fallback>
                <p:oleObj name="Equation" r:id="rId2" imgW="2247900" imgH="711200" progId="Equation.3">
                  <p:embed/>
                  <p:pic>
                    <p:nvPicPr>
                      <p:cNvPr id="98313" name="Object 11">
                        <a:extLst>
                          <a:ext uri="{FF2B5EF4-FFF2-40B4-BE49-F238E27FC236}">
                            <a16:creationId xmlns:a16="http://schemas.microsoft.com/office/drawing/2014/main" id="{31CB5A8A-A3C2-DCC1-699F-213C8E8F7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247" y="2193925"/>
                        <a:ext cx="38862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5">
            <a:extLst>
              <a:ext uri="{FF2B5EF4-FFF2-40B4-BE49-F238E27FC236}">
                <a16:creationId xmlns:a16="http://schemas.microsoft.com/office/drawing/2014/main" id="{5645D158-0044-E1F5-0574-9AB307554877}"/>
              </a:ext>
            </a:extLst>
          </p:cNvPr>
          <p:cNvGraphicFramePr>
            <a:graphicFrameLocks noChangeAspect="1"/>
          </p:cNvGraphicFramePr>
          <p:nvPr>
            <p:extLst>
              <p:ext uri="{D42A27DB-BD31-4B8C-83A1-F6EECF244321}">
                <p14:modId xmlns:p14="http://schemas.microsoft.com/office/powerpoint/2010/main" val="2961343897"/>
              </p:ext>
            </p:extLst>
          </p:nvPr>
        </p:nvGraphicFramePr>
        <p:xfrm>
          <a:off x="2260847" y="3565525"/>
          <a:ext cx="3805238" cy="1666875"/>
        </p:xfrm>
        <a:graphic>
          <a:graphicData uri="http://schemas.openxmlformats.org/presentationml/2006/ole">
            <mc:AlternateContent xmlns:mc="http://schemas.openxmlformats.org/markup-compatibility/2006">
              <mc:Choice xmlns:v="urn:schemas-microsoft-com:vml" Requires="v">
                <p:oleObj name="Equation" r:id="rId4" imgW="1562100" imgH="685800" progId="Equation.3">
                  <p:embed/>
                </p:oleObj>
              </mc:Choice>
              <mc:Fallback>
                <p:oleObj name="Equation" r:id="rId4" imgW="1562100" imgH="685800" progId="Equation.3">
                  <p:embed/>
                  <p:pic>
                    <p:nvPicPr>
                      <p:cNvPr id="98314" name="Object 15">
                        <a:extLst>
                          <a:ext uri="{FF2B5EF4-FFF2-40B4-BE49-F238E27FC236}">
                            <a16:creationId xmlns:a16="http://schemas.microsoft.com/office/drawing/2014/main" id="{B616DBFA-1D16-1631-D4DB-D884EAA94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0847" y="3565525"/>
                        <a:ext cx="3805238"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171303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62BBA-1A1C-583A-17F9-EB21DDC3BA3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5E5C029-4603-1D00-AEA0-8F2E7E113194}"/>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Text Box 4">
            <a:extLst>
              <a:ext uri="{FF2B5EF4-FFF2-40B4-BE49-F238E27FC236}">
                <a16:creationId xmlns:a16="http://schemas.microsoft.com/office/drawing/2014/main" id="{5F1570BF-8554-5D51-7EE4-FDE62FAA0126}"/>
              </a:ext>
            </a:extLst>
          </p:cNvPr>
          <p:cNvSpPr txBox="1">
            <a:spLocks noChangeArrowheads="1"/>
          </p:cNvSpPr>
          <p:nvPr/>
        </p:nvSpPr>
        <p:spPr bwMode="auto">
          <a:xfrm>
            <a:off x="1639410" y="1700814"/>
            <a:ext cx="457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Using Backward Substitution</a:t>
            </a:r>
          </a:p>
        </p:txBody>
      </p:sp>
      <p:graphicFrame>
        <p:nvGraphicFramePr>
          <p:cNvPr id="4" name="Object 15">
            <a:extLst>
              <a:ext uri="{FF2B5EF4-FFF2-40B4-BE49-F238E27FC236}">
                <a16:creationId xmlns:a16="http://schemas.microsoft.com/office/drawing/2014/main" id="{10DF8E12-CC14-F712-1B36-2610642AD563}"/>
              </a:ext>
            </a:extLst>
          </p:cNvPr>
          <p:cNvGraphicFramePr>
            <a:graphicFrameLocks noChangeAspect="1"/>
          </p:cNvGraphicFramePr>
          <p:nvPr>
            <p:extLst>
              <p:ext uri="{D42A27DB-BD31-4B8C-83A1-F6EECF244321}">
                <p14:modId xmlns:p14="http://schemas.microsoft.com/office/powerpoint/2010/main" val="1896027377"/>
              </p:ext>
            </p:extLst>
          </p:nvPr>
        </p:nvGraphicFramePr>
        <p:xfrm>
          <a:off x="1839435" y="2088164"/>
          <a:ext cx="4121150" cy="3487738"/>
        </p:xfrm>
        <a:graphic>
          <a:graphicData uri="http://schemas.openxmlformats.org/presentationml/2006/ole">
            <mc:AlternateContent xmlns:mc="http://schemas.openxmlformats.org/markup-compatibility/2006">
              <mc:Choice xmlns:v="urn:schemas-microsoft-com:vml" Requires="v">
                <p:oleObj name="Equation" r:id="rId2" imgW="2400300" imgH="2044700" progId="Equation.3">
                  <p:embed/>
                </p:oleObj>
              </mc:Choice>
              <mc:Fallback>
                <p:oleObj name="Equation" r:id="rId2" imgW="2400300" imgH="2044700" progId="Equation.3">
                  <p:embed/>
                  <p:pic>
                    <p:nvPicPr>
                      <p:cNvPr id="100361" name="Object 15">
                        <a:extLst>
                          <a:ext uri="{FF2B5EF4-FFF2-40B4-BE49-F238E27FC236}">
                            <a16:creationId xmlns:a16="http://schemas.microsoft.com/office/drawing/2014/main" id="{10C34936-0739-A15A-5965-E1AE9F05B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435" y="2088164"/>
                        <a:ext cx="4121150" cy="348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17">
            <a:extLst>
              <a:ext uri="{FF2B5EF4-FFF2-40B4-BE49-F238E27FC236}">
                <a16:creationId xmlns:a16="http://schemas.microsoft.com/office/drawing/2014/main" id="{B4049BC7-3EDF-BA73-5E91-581F051F2C62}"/>
              </a:ext>
            </a:extLst>
          </p:cNvPr>
          <p:cNvSpPr txBox="1">
            <a:spLocks noChangeArrowheads="1"/>
          </p:cNvSpPr>
          <p:nvPr/>
        </p:nvSpPr>
        <p:spPr bwMode="auto">
          <a:xfrm>
            <a:off x="6668610" y="2310414"/>
            <a:ext cx="2667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latin typeface="Arial" panose="020B0604020202020204" pitchFamily="34" charset="0"/>
              </a:rPr>
              <a:t>So the first column of the inverse of [</a:t>
            </a:r>
            <a:r>
              <a:rPr lang="en-US" altLang="en-US" sz="1800" i="1">
                <a:latin typeface="Arial" panose="020B0604020202020204" pitchFamily="34" charset="0"/>
              </a:rPr>
              <a:t>A</a:t>
            </a:r>
            <a:r>
              <a:rPr lang="en-US" altLang="en-US" sz="1800">
                <a:latin typeface="Arial" panose="020B0604020202020204" pitchFamily="34" charset="0"/>
              </a:rPr>
              <a:t>] is:</a:t>
            </a:r>
          </a:p>
        </p:txBody>
      </p:sp>
      <p:graphicFrame>
        <p:nvGraphicFramePr>
          <p:cNvPr id="6" name="Object 18">
            <a:extLst>
              <a:ext uri="{FF2B5EF4-FFF2-40B4-BE49-F238E27FC236}">
                <a16:creationId xmlns:a16="http://schemas.microsoft.com/office/drawing/2014/main" id="{331A120D-4BA1-44A4-E0EF-0B46ADA507E4}"/>
              </a:ext>
            </a:extLst>
          </p:cNvPr>
          <p:cNvGraphicFramePr>
            <a:graphicFrameLocks noChangeAspect="1"/>
          </p:cNvGraphicFramePr>
          <p:nvPr>
            <p:extLst>
              <p:ext uri="{D42A27DB-BD31-4B8C-83A1-F6EECF244321}">
                <p14:modId xmlns:p14="http://schemas.microsoft.com/office/powerpoint/2010/main" val="3413767314"/>
              </p:ext>
            </p:extLst>
          </p:nvPr>
        </p:nvGraphicFramePr>
        <p:xfrm>
          <a:off x="6744810" y="3072414"/>
          <a:ext cx="2667000" cy="1612900"/>
        </p:xfrm>
        <a:graphic>
          <a:graphicData uri="http://schemas.openxmlformats.org/presentationml/2006/ole">
            <mc:AlternateContent xmlns:mc="http://schemas.openxmlformats.org/markup-compatibility/2006">
              <mc:Choice xmlns:v="urn:schemas-microsoft-com:vml" Requires="v">
                <p:oleObj name="Equation" r:id="rId4" imgW="1180588" imgH="710891" progId="Equation.3">
                  <p:embed/>
                </p:oleObj>
              </mc:Choice>
              <mc:Fallback>
                <p:oleObj name="Equation" r:id="rId4" imgW="1180588" imgH="710891" progId="Equation.3">
                  <p:embed/>
                  <p:pic>
                    <p:nvPicPr>
                      <p:cNvPr id="100363" name="Object 18">
                        <a:extLst>
                          <a:ext uri="{FF2B5EF4-FFF2-40B4-BE49-F238E27FC236}">
                            <a16:creationId xmlns:a16="http://schemas.microsoft.com/office/drawing/2014/main" id="{6881514E-6579-5880-67D0-7B482A4D4B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4810" y="3072414"/>
                        <a:ext cx="26670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717992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F5578-A4D7-6B2B-ADDC-B63042E3DAE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05D1DD2-73C9-EE27-44DB-EEC621550BA8}"/>
              </a:ext>
            </a:extLst>
          </p:cNvPr>
          <p:cNvSpPr/>
          <p:nvPr/>
        </p:nvSpPr>
        <p:spPr>
          <a:xfrm>
            <a:off x="1" y="-9975"/>
            <a:ext cx="10972801" cy="692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3200" b="1" dirty="0"/>
              <a:t>LU F</a:t>
            </a:r>
            <a:r>
              <a:rPr lang="en-US" altLang="zh-CN" sz="3200" b="1" dirty="0"/>
              <a:t>actorization</a:t>
            </a:r>
            <a:endParaRPr lang="en-US" sz="3200" b="1" dirty="0"/>
          </a:p>
        </p:txBody>
      </p:sp>
      <p:sp>
        <p:nvSpPr>
          <p:cNvPr id="3" name="Text Box 4">
            <a:extLst>
              <a:ext uri="{FF2B5EF4-FFF2-40B4-BE49-F238E27FC236}">
                <a16:creationId xmlns:a16="http://schemas.microsoft.com/office/drawing/2014/main" id="{E19A19FA-EAE6-3C6A-D3D7-16C066E25566}"/>
              </a:ext>
            </a:extLst>
          </p:cNvPr>
          <p:cNvSpPr txBox="1">
            <a:spLocks noChangeArrowheads="1"/>
          </p:cNvSpPr>
          <p:nvPr/>
        </p:nvSpPr>
        <p:spPr bwMode="auto">
          <a:xfrm>
            <a:off x="2242352" y="1750381"/>
            <a:ext cx="7543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SzPct val="55000"/>
              <a:buChar char="•"/>
              <a:defRPr sz="2800">
                <a:solidFill>
                  <a:schemeClr val="tx1"/>
                </a:solidFill>
                <a:latin typeface="Tahoma" panose="020B0604030504040204" pitchFamily="34" charset="0"/>
              </a:defRPr>
            </a:lvl2pPr>
            <a:lvl3pPr marL="1143000" indent="-228600">
              <a:spcBef>
                <a:spcPct val="20000"/>
              </a:spcBef>
              <a:buClr>
                <a:schemeClr val="tx1"/>
              </a:buClr>
              <a:buSzPct val="50000"/>
              <a:buChar char="•"/>
              <a:defRPr sz="2400">
                <a:solidFill>
                  <a:schemeClr val="tx1"/>
                </a:solidFill>
                <a:latin typeface="Tahoma" panose="020B0604030504040204" pitchFamily="34" charset="0"/>
              </a:defRPr>
            </a:lvl3pPr>
            <a:lvl4pPr marL="1600200" indent="-228600">
              <a:spcBef>
                <a:spcPct val="20000"/>
              </a:spcBef>
              <a:buClr>
                <a:schemeClr val="tx1"/>
              </a:buClr>
              <a:buSzPct val="55000"/>
              <a:buChar char="•"/>
              <a:defRPr sz="2000">
                <a:solidFill>
                  <a:schemeClr val="tx1"/>
                </a:solidFill>
                <a:latin typeface="Tahoma" panose="020B0604030504040204" pitchFamily="34" charset="0"/>
              </a:defRPr>
            </a:lvl4pPr>
            <a:lvl5pPr marL="2057400" indent="-228600">
              <a:spcBef>
                <a:spcPct val="20000"/>
              </a:spcBef>
              <a:buClr>
                <a:schemeClr val="tx1"/>
              </a:buClr>
              <a:buSzPct val="5000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5000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800">
                <a:latin typeface="Arial" panose="020B0604020202020204" pitchFamily="34" charset="0"/>
              </a:rPr>
              <a:t>Repeating for the second and third columns of the inverse</a:t>
            </a:r>
          </a:p>
          <a:p>
            <a:pPr eaLnBrk="1" hangingPunct="1">
              <a:spcBef>
                <a:spcPct val="0"/>
              </a:spcBef>
              <a:buClrTx/>
              <a:buSzTx/>
              <a:buFontTx/>
              <a:buNone/>
            </a:pPr>
            <a:endParaRPr lang="en-US" altLang="en-US" sz="1800">
              <a:latin typeface="Arial" panose="020B0604020202020204" pitchFamily="34" charset="0"/>
            </a:endParaRPr>
          </a:p>
          <a:p>
            <a:pPr eaLnBrk="1" hangingPunct="1">
              <a:spcBef>
                <a:spcPct val="0"/>
              </a:spcBef>
              <a:buClrTx/>
              <a:buSzTx/>
              <a:buFontTx/>
              <a:buNone/>
            </a:pPr>
            <a:r>
              <a:rPr lang="en-US" altLang="en-US" sz="1800">
                <a:latin typeface="Arial" panose="020B0604020202020204" pitchFamily="34" charset="0"/>
              </a:rPr>
              <a:t>       Second Column			Third Column</a:t>
            </a:r>
          </a:p>
        </p:txBody>
      </p:sp>
      <p:graphicFrame>
        <p:nvGraphicFramePr>
          <p:cNvPr id="4" name="Object 15">
            <a:extLst>
              <a:ext uri="{FF2B5EF4-FFF2-40B4-BE49-F238E27FC236}">
                <a16:creationId xmlns:a16="http://schemas.microsoft.com/office/drawing/2014/main" id="{F812EE31-8F22-F97E-D6A0-94917BD0154E}"/>
              </a:ext>
            </a:extLst>
          </p:cNvPr>
          <p:cNvGraphicFramePr>
            <a:graphicFrameLocks noChangeAspect="1"/>
          </p:cNvGraphicFramePr>
          <p:nvPr>
            <p:extLst>
              <p:ext uri="{D42A27DB-BD31-4B8C-83A1-F6EECF244321}">
                <p14:modId xmlns:p14="http://schemas.microsoft.com/office/powerpoint/2010/main" val="1613544344"/>
              </p:ext>
            </p:extLst>
          </p:nvPr>
        </p:nvGraphicFramePr>
        <p:xfrm>
          <a:off x="2547152" y="2736219"/>
          <a:ext cx="2286000" cy="1065212"/>
        </p:xfrm>
        <a:graphic>
          <a:graphicData uri="http://schemas.openxmlformats.org/presentationml/2006/ole">
            <mc:AlternateContent xmlns:mc="http://schemas.openxmlformats.org/markup-compatibility/2006">
              <mc:Choice xmlns:v="urn:schemas-microsoft-com:vml" Requires="v">
                <p:oleObj name="Equation" r:id="rId2" imgW="1536700" imgH="711200" progId="Equation.3">
                  <p:embed/>
                </p:oleObj>
              </mc:Choice>
              <mc:Fallback>
                <p:oleObj name="Equation" r:id="rId2" imgW="1536700" imgH="711200" progId="Equation.3">
                  <p:embed/>
                  <p:pic>
                    <p:nvPicPr>
                      <p:cNvPr id="102409" name="Object 15">
                        <a:extLst>
                          <a:ext uri="{FF2B5EF4-FFF2-40B4-BE49-F238E27FC236}">
                            <a16:creationId xmlns:a16="http://schemas.microsoft.com/office/drawing/2014/main" id="{F30F1618-536C-6CE6-D35A-CB5C4B4F31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7152" y="2736219"/>
                        <a:ext cx="2286000"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4">
            <a:extLst>
              <a:ext uri="{FF2B5EF4-FFF2-40B4-BE49-F238E27FC236}">
                <a16:creationId xmlns:a16="http://schemas.microsoft.com/office/drawing/2014/main" id="{4EE4DB3D-7406-E297-7203-FDDEC1923EFE}"/>
              </a:ext>
            </a:extLst>
          </p:cNvPr>
          <p:cNvGraphicFramePr>
            <a:graphicFrameLocks noChangeAspect="1"/>
          </p:cNvGraphicFramePr>
          <p:nvPr>
            <p:extLst>
              <p:ext uri="{D42A27DB-BD31-4B8C-83A1-F6EECF244321}">
                <p14:modId xmlns:p14="http://schemas.microsoft.com/office/powerpoint/2010/main" val="4128382763"/>
              </p:ext>
            </p:extLst>
          </p:nvPr>
        </p:nvGraphicFramePr>
        <p:xfrm>
          <a:off x="2775752" y="3955419"/>
          <a:ext cx="1828800" cy="1039812"/>
        </p:xfrm>
        <a:graphic>
          <a:graphicData uri="http://schemas.openxmlformats.org/presentationml/2006/ole">
            <mc:AlternateContent xmlns:mc="http://schemas.openxmlformats.org/markup-compatibility/2006">
              <mc:Choice xmlns:v="urn:schemas-microsoft-com:vml" Requires="v">
                <p:oleObj name="Equation" r:id="rId4" imgW="1257300" imgH="711200" progId="Equation.3">
                  <p:embed/>
                </p:oleObj>
              </mc:Choice>
              <mc:Fallback>
                <p:oleObj name="Equation" r:id="rId4" imgW="1257300" imgH="711200" progId="Equation.3">
                  <p:embed/>
                  <p:pic>
                    <p:nvPicPr>
                      <p:cNvPr id="102410" name="Object 14">
                        <a:extLst>
                          <a:ext uri="{FF2B5EF4-FFF2-40B4-BE49-F238E27FC236}">
                            <a16:creationId xmlns:a16="http://schemas.microsoft.com/office/drawing/2014/main" id="{4BE46525-1C92-9E1F-8D9E-B403BF2352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5752" y="3955419"/>
                        <a:ext cx="18288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9">
            <a:extLst>
              <a:ext uri="{FF2B5EF4-FFF2-40B4-BE49-F238E27FC236}">
                <a16:creationId xmlns:a16="http://schemas.microsoft.com/office/drawing/2014/main" id="{7A06B628-F8B8-28CE-2270-F3FC58CC8BAF}"/>
              </a:ext>
            </a:extLst>
          </p:cNvPr>
          <p:cNvGraphicFramePr>
            <a:graphicFrameLocks noChangeAspect="1"/>
          </p:cNvGraphicFramePr>
          <p:nvPr>
            <p:extLst>
              <p:ext uri="{D42A27DB-BD31-4B8C-83A1-F6EECF244321}">
                <p14:modId xmlns:p14="http://schemas.microsoft.com/office/powerpoint/2010/main" val="2287931346"/>
              </p:ext>
            </p:extLst>
          </p:nvPr>
        </p:nvGraphicFramePr>
        <p:xfrm>
          <a:off x="6452402" y="2747331"/>
          <a:ext cx="2473325" cy="1130300"/>
        </p:xfrm>
        <a:graphic>
          <a:graphicData uri="http://schemas.openxmlformats.org/presentationml/2006/ole">
            <mc:AlternateContent xmlns:mc="http://schemas.openxmlformats.org/markup-compatibility/2006">
              <mc:Choice xmlns:v="urn:schemas-microsoft-com:vml" Requires="v">
                <p:oleObj name="Equation" r:id="rId6" imgW="1562100" imgH="711200" progId="Equation.3">
                  <p:embed/>
                </p:oleObj>
              </mc:Choice>
              <mc:Fallback>
                <p:oleObj name="Equation" r:id="rId6" imgW="1562100" imgH="711200" progId="Equation.3">
                  <p:embed/>
                  <p:pic>
                    <p:nvPicPr>
                      <p:cNvPr id="102412" name="Object 19">
                        <a:extLst>
                          <a:ext uri="{FF2B5EF4-FFF2-40B4-BE49-F238E27FC236}">
                            <a16:creationId xmlns:a16="http://schemas.microsoft.com/office/drawing/2014/main" id="{141E181C-2A81-307E-3683-05398F6D92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2402" y="2747331"/>
                        <a:ext cx="247332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8">
            <a:extLst>
              <a:ext uri="{FF2B5EF4-FFF2-40B4-BE49-F238E27FC236}">
                <a16:creationId xmlns:a16="http://schemas.microsoft.com/office/drawing/2014/main" id="{6CBC5812-0476-F0B3-5C54-C12BDAD46069}"/>
              </a:ext>
            </a:extLst>
          </p:cNvPr>
          <p:cNvGraphicFramePr>
            <a:graphicFrameLocks noChangeAspect="1"/>
          </p:cNvGraphicFramePr>
          <p:nvPr>
            <p:extLst>
              <p:ext uri="{D42A27DB-BD31-4B8C-83A1-F6EECF244321}">
                <p14:modId xmlns:p14="http://schemas.microsoft.com/office/powerpoint/2010/main" val="428548059"/>
              </p:ext>
            </p:extLst>
          </p:nvPr>
        </p:nvGraphicFramePr>
        <p:xfrm>
          <a:off x="6903252" y="3966531"/>
          <a:ext cx="1752600" cy="1060450"/>
        </p:xfrm>
        <a:graphic>
          <a:graphicData uri="http://schemas.openxmlformats.org/presentationml/2006/ole">
            <mc:AlternateContent xmlns:mc="http://schemas.openxmlformats.org/markup-compatibility/2006">
              <mc:Choice xmlns:v="urn:schemas-microsoft-com:vml" Requires="v">
                <p:oleObj name="Equation" r:id="rId8" imgW="1180588" imgH="710891" progId="Equation.3">
                  <p:embed/>
                </p:oleObj>
              </mc:Choice>
              <mc:Fallback>
                <p:oleObj name="Equation" r:id="rId8" imgW="1180588" imgH="710891" progId="Equation.3">
                  <p:embed/>
                  <p:pic>
                    <p:nvPicPr>
                      <p:cNvPr id="102413" name="Object 18">
                        <a:extLst>
                          <a:ext uri="{FF2B5EF4-FFF2-40B4-BE49-F238E27FC236}">
                            <a16:creationId xmlns:a16="http://schemas.microsoft.com/office/drawing/2014/main" id="{3404EB7D-5120-5B40-5D77-E9D66DD74F5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03252" y="3966531"/>
                        <a:ext cx="175260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563710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主题​​">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685</TotalTime>
  <Words>1403</Words>
  <Application>Microsoft Office PowerPoint</Application>
  <PresentationFormat>Custom</PresentationFormat>
  <Paragraphs>195</Paragraphs>
  <Slides>53</Slides>
  <Notes>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53</vt:i4>
      </vt:variant>
    </vt:vector>
  </HeadingPairs>
  <TitlesOfParts>
    <vt:vector size="63" baseType="lpstr">
      <vt:lpstr>CMSS10</vt:lpstr>
      <vt:lpstr>宋体</vt:lpstr>
      <vt:lpstr>Aptos</vt:lpstr>
      <vt:lpstr>Aptos Display</vt:lpstr>
      <vt:lpstr>Arial</vt:lpstr>
      <vt:lpstr>Cambria Math</vt:lpstr>
      <vt:lpstr>Times New Roman</vt:lpstr>
      <vt:lpstr>Office 主题​​</vt:lpstr>
      <vt:lpstr>Equation</vt:lpstr>
      <vt:lpstr>Microsoft Equation 3.0</vt:lpstr>
      <vt:lpstr>PowerPoint Presentation</vt:lpstr>
      <vt:lpstr>PowerPoint Presentation</vt:lpstr>
      <vt:lpstr>PowerPoint Presentation</vt:lpstr>
      <vt:lpstr>PowerPoint Presentation</vt:lpstr>
      <vt:lpstr>Loss of significance</vt:lpstr>
      <vt:lpstr>Outline</vt:lpstr>
      <vt:lpstr>Loss of significance</vt:lpstr>
      <vt:lpstr>Loss of significance</vt:lpstr>
      <vt:lpstr>Loss of significance</vt:lpstr>
      <vt:lpstr>Loss of significance</vt:lpstr>
      <vt:lpstr>Loss of significance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Chuqi</dc:creator>
  <cp:lastModifiedBy>Chen, Chuqi</cp:lastModifiedBy>
  <cp:revision>6</cp:revision>
  <dcterms:created xsi:type="dcterms:W3CDTF">2026-01-28T04:55:09Z</dcterms:created>
  <dcterms:modified xsi:type="dcterms:W3CDTF">2026-02-03T20:21:16Z</dcterms:modified>
</cp:coreProperties>
</file>