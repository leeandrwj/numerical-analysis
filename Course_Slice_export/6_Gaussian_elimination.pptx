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9" r:id="rId2"/>
    <p:sldId id="336" r:id="rId3"/>
    <p:sldId id="262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9" r:id="rId16"/>
    <p:sldId id="350" r:id="rId17"/>
    <p:sldId id="352" r:id="rId18"/>
    <p:sldId id="351" r:id="rId19"/>
    <p:sldId id="353" r:id="rId20"/>
    <p:sldId id="355" r:id="rId21"/>
    <p:sldId id="354" r:id="rId22"/>
    <p:sldId id="358" r:id="rId23"/>
    <p:sldId id="359" r:id="rId24"/>
    <p:sldId id="357" r:id="rId25"/>
    <p:sldId id="356" r:id="rId26"/>
    <p:sldId id="360" r:id="rId27"/>
    <p:sldId id="361" r:id="rId28"/>
    <p:sldId id="362" r:id="rId29"/>
    <p:sldId id="363" r:id="rId30"/>
    <p:sldId id="365" r:id="rId31"/>
    <p:sldId id="364" r:id="rId32"/>
    <p:sldId id="366" r:id="rId33"/>
    <p:sldId id="367" r:id="rId34"/>
    <p:sldId id="368" r:id="rId35"/>
    <p:sldId id="369" r:id="rId36"/>
    <p:sldId id="370" r:id="rId37"/>
    <p:sldId id="373" r:id="rId38"/>
    <p:sldId id="348" r:id="rId39"/>
    <p:sldId id="372" r:id="rId40"/>
    <p:sldId id="374" r:id="rId41"/>
    <p:sldId id="371" r:id="rId42"/>
    <p:sldId id="376" r:id="rId43"/>
    <p:sldId id="375" r:id="rId44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12" y="76"/>
      </p:cViewPr>
      <p:guideLst>
        <p:guide orient="horz" pos="2160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E0AF-CF27-4EBF-95FD-353059CD133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30F0E-DC3D-4285-B4EF-5163287D2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77138-3BC2-4722-8FB5-C522C73BB8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0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5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5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0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3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12B01-1403-42A1-9DED-A8A821F83A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7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A6B394-0A1E-964E-C6AF-CFE9D3A0C996}"/>
              </a:ext>
            </a:extLst>
          </p:cNvPr>
          <p:cNvSpPr/>
          <p:nvPr/>
        </p:nvSpPr>
        <p:spPr>
          <a:xfrm>
            <a:off x="141149" y="1925961"/>
            <a:ext cx="10690502" cy="1447976"/>
          </a:xfrm>
          <a:prstGeom prst="rect">
            <a:avLst/>
          </a:prstGeom>
          <a:solidFill>
            <a:srgbClr val="002060"/>
          </a:solidFill>
          <a:ln cap="rnd"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ym typeface="+mn-ea"/>
              </a:rPr>
              <a:t>MATH417 L6</a:t>
            </a:r>
            <a:endParaRPr lang="zh-CN" altLang="en-US" sz="4400" b="1" dirty="0">
              <a:ln w="10160" cap="rnd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09EFE95-7FCC-662D-168E-BFE3A96CF9ED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86740" y="3741415"/>
            <a:ext cx="9799320" cy="21145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Chuqi CHEN</a:t>
            </a:r>
          </a:p>
          <a:p>
            <a:endParaRPr lang="en-US" altLang="zh-CN" sz="2000" dirty="0"/>
          </a:p>
          <a:p>
            <a:r>
              <a:rPr lang="en-US" altLang="zh-CN" dirty="0"/>
              <a:t>January 28, 2026</a:t>
            </a:r>
          </a:p>
        </p:txBody>
      </p:sp>
      <p:pic>
        <p:nvPicPr>
          <p:cNvPr id="8" name="Picture 6" descr="University of Michigan Logo and symbol, meaning, history, PNG, brand">
            <a:extLst>
              <a:ext uri="{FF2B5EF4-FFF2-40B4-BE49-F238E27FC236}">
                <a16:creationId xmlns:a16="http://schemas.microsoft.com/office/drawing/2014/main" id="{AA367B7F-C39E-3B5E-C389-F6151769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045" y="5754936"/>
            <a:ext cx="1969757" cy="11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5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5056-A161-6BA2-7F27-1501E2CA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A6098A-00E7-BAAE-F5CB-4B258DB9815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74ADBE-BEBD-BAC6-57D5-7B7DCA00C406}"/>
              </a:ext>
            </a:extLst>
          </p:cNvPr>
          <p:cNvSpPr txBox="1"/>
          <p:nvPr/>
        </p:nvSpPr>
        <p:spPr>
          <a:xfrm>
            <a:off x="846896" y="5813374"/>
            <a:ext cx="4381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Homework 1: due date: 02/06  </a:t>
            </a:r>
          </a:p>
        </p:txBody>
      </p:sp>
      <p:pic>
        <p:nvPicPr>
          <p:cNvPr id="7" name="图片 6" descr="图片包含 箱线图&#10;&#10;AI 生成的内容可能不正确。">
            <a:extLst>
              <a:ext uri="{FF2B5EF4-FFF2-40B4-BE49-F238E27FC236}">
                <a16:creationId xmlns:a16="http://schemas.microsoft.com/office/drawing/2014/main" id="{2C8EAAB8-7B74-D83D-8C48-AF8914AB0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481"/>
            <a:ext cx="10972800" cy="28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4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B1E-3FFC-E81D-8020-2A0B8221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9F15EF-E95F-ADA4-9303-FEC2B13E1B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2833A-87D6-C150-D642-6A6860C4CDE4}"/>
              </a:ext>
            </a:extLst>
          </p:cNvPr>
          <p:cNvSpPr txBox="1"/>
          <p:nvPr/>
        </p:nvSpPr>
        <p:spPr>
          <a:xfrm>
            <a:off x="1471966" y="1626629"/>
            <a:ext cx="9289875" cy="207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Review on Linear Algebra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Gaussian Elimination</a:t>
            </a:r>
          </a:p>
        </p:txBody>
      </p:sp>
    </p:spTree>
    <p:extLst>
      <p:ext uri="{BB962C8B-B14F-4D97-AF65-F5344CB8AC3E}">
        <p14:creationId xmlns:p14="http://schemas.microsoft.com/office/powerpoint/2010/main" val="407150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6179-2A51-C77D-B2CC-4A6F6635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55F42A-54FA-491D-7128-16E7F4E5171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46813F-26ED-DD59-8313-97C5EE1A9345}"/>
              </a:ext>
            </a:extLst>
          </p:cNvPr>
          <p:cNvSpPr txBox="1"/>
          <p:nvPr/>
        </p:nvSpPr>
        <p:spPr>
          <a:xfrm>
            <a:off x="476075" y="1226374"/>
            <a:ext cx="9495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High dimension case, the drawback for Newton method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FFC4D7-DDC6-3666-B4CA-400C2118C8EA}"/>
              </a:ext>
            </a:extLst>
          </p:cNvPr>
          <p:cNvSpPr txBox="1"/>
          <p:nvPr/>
        </p:nvSpPr>
        <p:spPr>
          <a:xfrm>
            <a:off x="834619" y="1749594"/>
            <a:ext cx="9516516" cy="16998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Computation of Jacobian is expensive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Computation of the </a:t>
            </a:r>
            <a:r>
              <a:rPr lang="en-US" sz="2800" b="1" dirty="0">
                <a:solidFill>
                  <a:srgbClr val="FF0000"/>
                </a:solidFill>
              </a:rPr>
              <a:t>inverse</a:t>
            </a:r>
            <a:r>
              <a:rPr lang="en-US" sz="2800" b="1" dirty="0"/>
              <a:t> of the Jacobian is expensive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E15CC48-C589-6DC1-A3CD-4DE1B25FFA9D}"/>
                  </a:ext>
                </a:extLst>
              </p:cNvPr>
              <p:cNvSpPr txBox="1"/>
              <p:nvPr/>
            </p:nvSpPr>
            <p:spPr>
              <a:xfrm>
                <a:off x="2561739" y="3668610"/>
                <a:ext cx="5569248" cy="1304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E15CC48-C589-6DC1-A3CD-4DE1B25FF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739" y="3668610"/>
                <a:ext cx="5569248" cy="13046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箭头: 下 8">
            <a:extLst>
              <a:ext uri="{FF2B5EF4-FFF2-40B4-BE49-F238E27FC236}">
                <a16:creationId xmlns:a16="http://schemas.microsoft.com/office/drawing/2014/main" id="{FF0FC823-1407-BBF4-73DE-EAF4A1E08167}"/>
              </a:ext>
            </a:extLst>
          </p:cNvPr>
          <p:cNvSpPr/>
          <p:nvPr/>
        </p:nvSpPr>
        <p:spPr>
          <a:xfrm>
            <a:off x="5486400" y="5087500"/>
            <a:ext cx="140037" cy="4541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692C91-5B91-63C7-A874-9A657025CE67}"/>
              </a:ext>
            </a:extLst>
          </p:cNvPr>
          <p:cNvSpPr txBox="1"/>
          <p:nvPr/>
        </p:nvSpPr>
        <p:spPr>
          <a:xfrm>
            <a:off x="4898368" y="5655868"/>
            <a:ext cx="5569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800" b="1" dirty="0"/>
              <a:t>Ax = b</a:t>
            </a:r>
          </a:p>
        </p:txBody>
      </p:sp>
    </p:spTree>
    <p:extLst>
      <p:ext uri="{BB962C8B-B14F-4D97-AF65-F5344CB8AC3E}">
        <p14:creationId xmlns:p14="http://schemas.microsoft.com/office/powerpoint/2010/main" val="419525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6D41-7633-04D9-7DB7-505B2EE7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827011-8664-F851-D9B1-0593D4FD3E2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F40EBA-7A9E-DC6B-E773-457F606A0F7F}"/>
              </a:ext>
            </a:extLst>
          </p:cNvPr>
          <p:cNvSpPr txBox="1"/>
          <p:nvPr/>
        </p:nvSpPr>
        <p:spPr>
          <a:xfrm>
            <a:off x="859168" y="815196"/>
            <a:ext cx="2992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2574437A-E455-1EC2-3B2E-25C97C687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758018"/>
              </p:ext>
            </p:extLst>
          </p:nvPr>
        </p:nvGraphicFramePr>
        <p:xfrm>
          <a:off x="2614324" y="3110696"/>
          <a:ext cx="5121541" cy="364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canned Photo" r:id="rId2" imgW="10295238" imgH="7323810" progId="MSPhotoEdScan.3">
                  <p:embed/>
                </p:oleObj>
              </mc:Choice>
              <mc:Fallback>
                <p:oleObj name="Scanned Photo" r:id="rId2" imgW="10295238" imgH="7323810" progId="MSPhotoEdScan.3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F96D4110-C01F-08EC-A80D-3B6F8FD07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324" y="3110696"/>
                        <a:ext cx="5121541" cy="3643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1964E2C3-1C32-9E89-38CC-5F59D1F68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7769" y="3106484"/>
            <a:ext cx="4873884" cy="318845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C4DA20-D8FB-C66D-7004-811D3A3CB3A4}"/>
              </a:ext>
            </a:extLst>
          </p:cNvPr>
          <p:cNvSpPr txBox="1"/>
          <p:nvPr/>
        </p:nvSpPr>
        <p:spPr>
          <a:xfrm>
            <a:off x="2321756" y="1387879"/>
            <a:ext cx="352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have data with noise: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8D7ED1-69EE-6CEA-D569-9B6B10877A88}"/>
                  </a:ext>
                </a:extLst>
              </p:cNvPr>
              <p:cNvSpPr txBox="1"/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8D7ED1-69EE-6CEA-D569-9B6B10877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blipFill>
                <a:blip r:embed="rId4"/>
                <a:stretch>
                  <a:fillRect r="-193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670C6F-1708-82BE-E947-8164889F4C89}"/>
                  </a:ext>
                </a:extLst>
              </p:cNvPr>
              <p:cNvSpPr txBox="1"/>
              <p:nvPr/>
            </p:nvSpPr>
            <p:spPr>
              <a:xfrm>
                <a:off x="2355475" y="2030348"/>
                <a:ext cx="71232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want to find out the relationship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670C6F-1708-82BE-E947-8164889F4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75" y="2030348"/>
                <a:ext cx="7123297" cy="461665"/>
              </a:xfrm>
              <a:prstGeom prst="rect">
                <a:avLst/>
              </a:prstGeom>
              <a:blipFill>
                <a:blip r:embed="rId5"/>
                <a:stretch>
                  <a:fillRect l="-128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1BAA40D0-476A-2AC7-A98B-918C078D8A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367555"/>
              </p:ext>
            </p:extLst>
          </p:nvPr>
        </p:nvGraphicFramePr>
        <p:xfrm>
          <a:off x="7804150" y="4154488"/>
          <a:ext cx="25146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28600" progId="Equation.3">
                  <p:embed/>
                </p:oleObj>
              </mc:Choice>
              <mc:Fallback>
                <p:oleObj name="Equation" r:id="rId6" imgW="850680" imgH="228600" progId="Equation.3">
                  <p:embed/>
                  <p:pic>
                    <p:nvPicPr>
                      <p:cNvPr id="13317" name="Object 5">
                        <a:extLst>
                          <a:ext uri="{FF2B5EF4-FFF2-40B4-BE49-F238E27FC236}">
                            <a16:creationId xmlns:a16="http://schemas.microsoft.com/office/drawing/2014/main" id="{AD160C1E-51FB-ABE8-A69B-332D63AD5B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4150" y="4154488"/>
                        <a:ext cx="2514600" cy="676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0062038-28FD-2C23-CFF1-2428C35151C2}"/>
                  </a:ext>
                </a:extLst>
              </p:cNvPr>
              <p:cNvSpPr txBox="1"/>
              <p:nvPr/>
            </p:nvSpPr>
            <p:spPr>
              <a:xfrm>
                <a:off x="7735865" y="5101185"/>
                <a:ext cx="27921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?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0062038-28FD-2C23-CFF1-2428C3515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865" y="5101185"/>
                <a:ext cx="2792111" cy="461665"/>
              </a:xfrm>
              <a:prstGeom prst="rect">
                <a:avLst/>
              </a:prstGeom>
              <a:blipFill>
                <a:blip r:embed="rId8"/>
                <a:stretch>
                  <a:fillRect l="-3275" t="-10526" r="-283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501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1C74-AADC-3E11-44B8-4B92A270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B0523C-63A2-A3F1-8638-D89D5D6AE0E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0A5828-6171-8F30-4B46-242645D06920}"/>
              </a:ext>
            </a:extLst>
          </p:cNvPr>
          <p:cNvSpPr txBox="1"/>
          <p:nvPr/>
        </p:nvSpPr>
        <p:spPr>
          <a:xfrm>
            <a:off x="859168" y="815196"/>
            <a:ext cx="2992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42CC2F-1097-A8D7-A5B2-0CFDAACAFE1E}"/>
              </a:ext>
            </a:extLst>
          </p:cNvPr>
          <p:cNvSpPr txBox="1"/>
          <p:nvPr/>
        </p:nvSpPr>
        <p:spPr>
          <a:xfrm>
            <a:off x="2321756" y="1387879"/>
            <a:ext cx="352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have data with noise: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96E9D16-A9BB-32DC-4F30-0E6C189240A2}"/>
                  </a:ext>
                </a:extLst>
              </p:cNvPr>
              <p:cNvSpPr txBox="1"/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96E9D16-A9BB-32DC-4F30-0E6C18924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blipFill>
                <a:blip r:embed="rId2"/>
                <a:stretch>
                  <a:fillRect r="-193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5100D19-8D8E-E409-BE10-53886202BABE}"/>
                  </a:ext>
                </a:extLst>
              </p:cNvPr>
              <p:cNvSpPr txBox="1"/>
              <p:nvPr/>
            </p:nvSpPr>
            <p:spPr>
              <a:xfrm>
                <a:off x="594181" y="2016998"/>
                <a:ext cx="94501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want to find out the relationship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5100D19-8D8E-E409-BE10-53886202B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81" y="2016998"/>
                <a:ext cx="9450151" cy="461665"/>
              </a:xfrm>
              <a:prstGeom prst="rect">
                <a:avLst/>
              </a:prstGeom>
              <a:blipFill>
                <a:blip r:embed="rId3"/>
                <a:stretch>
                  <a:fillRect l="-96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3354B0-F74E-7DA6-0136-04B49E3C8645}"/>
                  </a:ext>
                </a:extLst>
              </p:cNvPr>
              <p:cNvSpPr txBox="1"/>
              <p:nvPr/>
            </p:nvSpPr>
            <p:spPr>
              <a:xfrm>
                <a:off x="4086566" y="2505849"/>
                <a:ext cx="2638928" cy="1941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3354B0-F74E-7DA6-0136-04B49E3C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566" y="2505849"/>
                <a:ext cx="2638928" cy="194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8A9ABB67-5EBB-17F2-B499-C6093ABB20FF}"/>
              </a:ext>
            </a:extLst>
          </p:cNvPr>
          <p:cNvSpPr txBox="1"/>
          <p:nvPr/>
        </p:nvSpPr>
        <p:spPr>
          <a:xfrm>
            <a:off x="2689839" y="4417346"/>
            <a:ext cx="5346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write down the matrix ? Ax =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62A90EA-B0E5-4AFD-7799-AC94A8628299}"/>
                  </a:ext>
                </a:extLst>
              </p:cNvPr>
              <p:cNvSpPr txBox="1"/>
              <p:nvPr/>
            </p:nvSpPr>
            <p:spPr>
              <a:xfrm>
                <a:off x="3911197" y="5046465"/>
                <a:ext cx="3319370" cy="1642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1    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1    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1    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62A90EA-B0E5-4AFD-7799-AC94A8628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197" y="5046465"/>
                <a:ext cx="3319370" cy="1642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FEE47C51-78BA-59B8-5D13-8FDE874BE04C}"/>
              </a:ext>
            </a:extLst>
          </p:cNvPr>
          <p:cNvSpPr txBox="1"/>
          <p:nvPr/>
        </p:nvSpPr>
        <p:spPr>
          <a:xfrm>
            <a:off x="7916618" y="5541632"/>
            <a:ext cx="2336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Has a solution?</a:t>
            </a:r>
          </a:p>
        </p:txBody>
      </p:sp>
    </p:spTree>
    <p:extLst>
      <p:ext uri="{BB962C8B-B14F-4D97-AF65-F5344CB8AC3E}">
        <p14:creationId xmlns:p14="http://schemas.microsoft.com/office/powerpoint/2010/main" val="369452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0FEA-76DE-9EFD-35EE-CB8F43DD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A6914B-3C21-43E3-2B83-3A55EE69E19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61599D-6759-45C0-F832-8C4EE186CEFD}"/>
              </a:ext>
            </a:extLst>
          </p:cNvPr>
          <p:cNvSpPr txBox="1"/>
          <p:nvPr/>
        </p:nvSpPr>
        <p:spPr>
          <a:xfrm>
            <a:off x="816210" y="931797"/>
            <a:ext cx="658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problem: Least squares regression</a:t>
            </a:r>
          </a:p>
        </p:txBody>
      </p:sp>
      <p:pic>
        <p:nvPicPr>
          <p:cNvPr id="17" name="图片 1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25147DD-3248-D6B3-3A50-80926663B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41" y="1642902"/>
            <a:ext cx="8901718" cy="24389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5BD31CD-F965-D5A9-799D-5C661000434A}"/>
              </a:ext>
            </a:extLst>
          </p:cNvPr>
          <p:cNvSpPr txBox="1"/>
          <p:nvPr/>
        </p:nvSpPr>
        <p:spPr>
          <a:xfrm>
            <a:off x="4467944" y="4331268"/>
            <a:ext cx="1919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do?</a:t>
            </a:r>
          </a:p>
        </p:txBody>
      </p:sp>
    </p:spTree>
    <p:extLst>
      <p:ext uri="{BB962C8B-B14F-4D97-AF65-F5344CB8AC3E}">
        <p14:creationId xmlns:p14="http://schemas.microsoft.com/office/powerpoint/2010/main" val="362471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A1C8-534E-10E2-E1E7-39493375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09A012-FFB2-EF66-53A4-2646C26C1C2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C0BF4A-C1D6-9E21-4CA5-09B970BD90EB}"/>
              </a:ext>
            </a:extLst>
          </p:cNvPr>
          <p:cNvSpPr txBox="1"/>
          <p:nvPr/>
        </p:nvSpPr>
        <p:spPr>
          <a:xfrm>
            <a:off x="816210" y="931797"/>
            <a:ext cx="658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problem: Least squares regression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F4E1E95-18E7-670D-7994-6E8886DF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65" y="1642902"/>
            <a:ext cx="9053070" cy="2451727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AD839992-43AF-563D-0C32-EFFF71724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55" y="3832411"/>
            <a:ext cx="9041140" cy="288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94E5-AF9D-29D3-29EA-14E5C234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CF981A-7F62-66E2-93C5-54AD7289F1E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4A4D2B-3597-526C-A101-7BE226AF9EDE}"/>
              </a:ext>
            </a:extLst>
          </p:cNvPr>
          <p:cNvSpPr txBox="1"/>
          <p:nvPr/>
        </p:nvSpPr>
        <p:spPr>
          <a:xfrm>
            <a:off x="816210" y="931797"/>
            <a:ext cx="658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problem: Least squares regression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087F22C0-6F1B-8FFE-0A2C-7B0ECE6A3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2" y="2013439"/>
            <a:ext cx="7832898" cy="391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0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7DA65-91B0-A7BA-C83C-1C218DA19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5CA13A-ED1A-40FB-657F-6C434F025C8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7A49F-8BD1-B5C1-D0AF-0F4E45334B6C}"/>
              </a:ext>
            </a:extLst>
          </p:cNvPr>
          <p:cNvSpPr txBox="1"/>
          <p:nvPr/>
        </p:nvSpPr>
        <p:spPr>
          <a:xfrm>
            <a:off x="836380" y="1079715"/>
            <a:ext cx="773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Regression problem: Least squares regression</a:t>
            </a: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41E1DF40-A5DF-F6F9-DB7D-9309BA266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19" y="2369632"/>
            <a:ext cx="9828981" cy="222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7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35648-D36E-34E2-C369-659FF760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C4C48F-5F00-B968-E477-532286D2295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Remind</a:t>
            </a:r>
            <a:endParaRPr lang="zh-CN" altLang="en-US" sz="3200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AE79A1EC-28DC-1FF5-3B18-E1A962F2D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6" b="72811"/>
          <a:stretch>
            <a:fillRect/>
          </a:stretch>
        </p:blipFill>
        <p:spPr>
          <a:xfrm>
            <a:off x="882466" y="1606924"/>
            <a:ext cx="9403999" cy="9816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F145A2-81C2-4C26-38C3-C96303AAB467}"/>
              </a:ext>
            </a:extLst>
          </p:cNvPr>
          <p:cNvSpPr txBox="1"/>
          <p:nvPr/>
        </p:nvSpPr>
        <p:spPr>
          <a:xfrm>
            <a:off x="882466" y="973798"/>
            <a:ext cx="7163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When is a linear system uniquely solvable?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0CA48FC-9B52-67E9-6A2E-6873E58EF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37" b="8834"/>
          <a:stretch>
            <a:fillRect/>
          </a:stretch>
        </p:blipFill>
        <p:spPr>
          <a:xfrm>
            <a:off x="882466" y="3513126"/>
            <a:ext cx="9403999" cy="30166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542FF7-96A3-AF92-D5B3-9206A8DF7680}"/>
              </a:ext>
            </a:extLst>
          </p:cNvPr>
          <p:cNvSpPr txBox="1"/>
          <p:nvPr/>
        </p:nvSpPr>
        <p:spPr>
          <a:xfrm>
            <a:off x="3469341" y="2408138"/>
            <a:ext cx="4831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m:</a:t>
            </a:r>
            <a:r>
              <a:rPr lang="zh-CN" altLang="en-US" sz="2400" dirty="0"/>
              <a:t> </a:t>
            </a:r>
            <a:r>
              <a:rPr lang="en-US" altLang="zh-CN" sz="2400" dirty="0"/>
              <a:t>number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points;</a:t>
            </a:r>
          </a:p>
          <a:p>
            <a:r>
              <a:rPr lang="en-US" sz="2400" dirty="0"/>
              <a:t>n: number of unknown parameters;</a:t>
            </a:r>
          </a:p>
        </p:txBody>
      </p:sp>
    </p:spTree>
    <p:extLst>
      <p:ext uri="{BB962C8B-B14F-4D97-AF65-F5344CB8AC3E}">
        <p14:creationId xmlns:p14="http://schemas.microsoft.com/office/powerpoint/2010/main" val="262083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0872-E7A4-8EA5-372F-24C1102D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F7FAF1-F631-BC1C-75D9-0796A0AB5FD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Remind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297702-0FBF-BEE8-9A14-C832F8872C67}"/>
              </a:ext>
            </a:extLst>
          </p:cNvPr>
          <p:cNvSpPr txBox="1"/>
          <p:nvPr/>
        </p:nvSpPr>
        <p:spPr>
          <a:xfrm>
            <a:off x="882466" y="973798"/>
            <a:ext cx="3590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When is A invertible?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16F814BF-B032-9E18-21A9-53BBEB4FA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49" y="1660807"/>
            <a:ext cx="9571502" cy="472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0AC3-23E7-9EB2-A0E3-2094C6AC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14A66A-06BB-09AC-9253-AD9D6276DDEF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0E2BD2-6C94-B630-04E5-4AB841E6FC93}"/>
              </a:ext>
            </a:extLst>
          </p:cNvPr>
          <p:cNvSpPr txBox="1"/>
          <p:nvPr/>
        </p:nvSpPr>
        <p:spPr>
          <a:xfrm>
            <a:off x="429584" y="1086234"/>
            <a:ext cx="584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 Back substitution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444C3CB-49C4-B443-FF7D-A937CB9B9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095368"/>
              </p:ext>
            </p:extLst>
          </p:nvPr>
        </p:nvGraphicFramePr>
        <p:xfrm>
          <a:off x="2933358" y="1841074"/>
          <a:ext cx="4392613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088" imgH="672808" progId="Equation.3">
                  <p:embed/>
                </p:oleObj>
              </mc:Choice>
              <mc:Fallback>
                <p:oleObj name="Equation" r:id="rId2" imgW="1409088" imgH="672808" progId="Equation.3">
                  <p:embed/>
                  <p:pic>
                    <p:nvPicPr>
                      <p:cNvPr id="119812" name="Object 4">
                        <a:extLst>
                          <a:ext uri="{FF2B5EF4-FFF2-40B4-BE49-F238E27FC236}">
                            <a16:creationId xmlns:a16="http://schemas.microsoft.com/office/drawing/2014/main" id="{A11BA946-6210-EE6A-D094-4B63290E8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358" y="1841074"/>
                        <a:ext cx="4392613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D25DBF6-03F5-98B1-21FA-3AC55A7F4514}"/>
                  </a:ext>
                </a:extLst>
              </p:cNvPr>
              <p:cNvSpPr txBox="1"/>
              <p:nvPr/>
            </p:nvSpPr>
            <p:spPr>
              <a:xfrm>
                <a:off x="2533010" y="4363078"/>
                <a:ext cx="5569248" cy="1720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4  −4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    2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D25DBF6-03F5-98B1-21FA-3AC55A7F4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10" y="4363078"/>
                <a:ext cx="5569248" cy="17201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1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8346-01BE-147C-5EBB-1C60F79E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857CFE-3BE5-0C8E-6485-11CAA17E944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65A842-FE59-A283-8F7F-F98ED36D365B}"/>
              </a:ext>
            </a:extLst>
          </p:cNvPr>
          <p:cNvSpPr txBox="1"/>
          <p:nvPr/>
        </p:nvSpPr>
        <p:spPr>
          <a:xfrm>
            <a:off x="429584" y="1086234"/>
            <a:ext cx="584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 Back substitution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5CBCE496-4459-A539-46DF-E6BAE4172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09" y="1738947"/>
            <a:ext cx="8576838" cy="45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25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E193-F9E0-6010-BA97-F4C9E03D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44A0B0-8FBC-142F-234A-4CBDDC31373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9D8EF7-0CD9-E6F6-48DE-2777F57B2044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215F617-684D-6557-9A3D-79E688EBE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14" y="1547899"/>
            <a:ext cx="9704292" cy="45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5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3FE25-BD70-9DEB-B247-B61BDF50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B6ECB7-D90B-2DB4-18C0-9F3CD2DC862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E04339-2FA4-267D-C12F-D0946AC88D1C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EB6FE7F-FBD1-6619-1B1C-8BD63B84C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536317"/>
              </p:ext>
            </p:extLst>
          </p:nvPr>
        </p:nvGraphicFramePr>
        <p:xfrm>
          <a:off x="3056964" y="1889311"/>
          <a:ext cx="518160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673100" progId="Equation.3">
                  <p:embed/>
                </p:oleObj>
              </mc:Choice>
              <mc:Fallback>
                <p:oleObj name="Equation" r:id="rId2" imgW="1663700" imgH="673100" progId="Equation.3">
                  <p:embed/>
                  <p:pic>
                    <p:nvPicPr>
                      <p:cNvPr id="14339" name="Object 4">
                        <a:extLst>
                          <a:ext uri="{FF2B5EF4-FFF2-40B4-BE49-F238E27FC236}">
                            <a16:creationId xmlns:a16="http://schemas.microsoft.com/office/drawing/2014/main" id="{1AC177D6-C049-8C9C-99DE-2293CA1D0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6964" y="1889311"/>
                        <a:ext cx="518160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6709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DCAE-6BA1-9F72-53B9-C7232329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AE0ED9-37DD-E7C7-F460-AC3243A9586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538DBA-CFB0-2C31-00ED-233899659AEE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6D1730-65FC-82F2-F734-D663D3FF5100}"/>
              </a:ext>
            </a:extLst>
          </p:cNvPr>
          <p:cNvSpPr txBox="1">
            <a:spLocks noChangeArrowheads="1"/>
          </p:cNvSpPr>
          <p:nvPr/>
        </p:nvSpPr>
        <p:spPr>
          <a:xfrm>
            <a:off x="188258" y="4690129"/>
            <a:ext cx="10878672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Using the first equation to eliminate </a:t>
            </a:r>
            <a:r>
              <a:rPr lang="en-US" altLang="en-US" sz="2800" i="1" dirty="0"/>
              <a:t>x</a:t>
            </a:r>
            <a:r>
              <a:rPr lang="en-US" altLang="en-US" sz="2800" dirty="0"/>
              <a:t> from the next two equations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2572C2AA-5909-9EA8-2B2F-70D4DE47C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828800"/>
          <a:ext cx="518160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673100" progId="Equation.3">
                  <p:embed/>
                </p:oleObj>
              </mc:Choice>
              <mc:Fallback>
                <p:oleObj name="Equation" r:id="rId2" imgW="1663700" imgH="673100" progId="Equation.3">
                  <p:embed/>
                  <p:pic>
                    <p:nvPicPr>
                      <p:cNvPr id="15364" name="Object 4">
                        <a:extLst>
                          <a:ext uri="{FF2B5EF4-FFF2-40B4-BE49-F238E27FC236}">
                            <a16:creationId xmlns:a16="http://schemas.microsoft.com/office/drawing/2014/main" id="{68D1C33C-4E55-408E-C312-DDC37877D8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828800"/>
                        <a:ext cx="518160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9C47468-0483-08D6-0450-89294F4FD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590800"/>
            <a:ext cx="1066800" cy="1600200"/>
          </a:xfrm>
          <a:prstGeom prst="rect">
            <a:avLst/>
          </a:prstGeom>
          <a:noFill/>
          <a:ln w="38100">
            <a:solidFill>
              <a:srgbClr val="CC33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F97AC33D-F34E-896D-665F-ADA1B8EDE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76400"/>
            <a:ext cx="685800" cy="914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89472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03E9-D0CB-4917-711A-0094069F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6DA128-6572-3ABA-B4E1-510E39D0DD3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5DB63B-C5E0-558B-D4E5-F2E2D321F0DF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F7D1D1-3497-808E-891E-F48938AE7EF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896030"/>
            <a:ext cx="10917568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Using the second equation to eliminate </a:t>
            </a:r>
            <a:r>
              <a:rPr lang="en-US" altLang="en-US" sz="2800" i="1" dirty="0"/>
              <a:t>y</a:t>
            </a:r>
            <a:r>
              <a:rPr lang="en-US" altLang="en-US" sz="2800" dirty="0"/>
              <a:t> from the third equation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6D308F9B-FF31-0F09-DF8E-5EEB034A7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326859"/>
              </p:ext>
            </p:extLst>
          </p:nvPr>
        </p:nvGraphicFramePr>
        <p:xfrm>
          <a:off x="3171825" y="2055865"/>
          <a:ext cx="462915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73100" progId="Equation.3">
                  <p:embed/>
                </p:oleObj>
              </mc:Choice>
              <mc:Fallback>
                <p:oleObj name="Equation" r:id="rId2" imgW="1485900" imgH="673100" progId="Equation.3">
                  <p:embed/>
                  <p:pic>
                    <p:nvPicPr>
                      <p:cNvPr id="116740" name="Object 4">
                        <a:extLst>
                          <a:ext uri="{FF2B5EF4-FFF2-40B4-BE49-F238E27FC236}">
                            <a16:creationId xmlns:a16="http://schemas.microsoft.com/office/drawing/2014/main" id="{8A69891E-B9DA-F73E-61E0-611BDF698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2055865"/>
                        <a:ext cx="462915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5">
            <a:extLst>
              <a:ext uri="{FF2B5EF4-FFF2-40B4-BE49-F238E27FC236}">
                <a16:creationId xmlns:a16="http://schemas.microsoft.com/office/drawing/2014/main" id="{22112FBF-778C-8A78-84E6-C8CA716CF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903465"/>
            <a:ext cx="685800" cy="914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2E4BC91-B405-460B-69B7-6E0C3616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817865"/>
            <a:ext cx="1066800" cy="1600200"/>
          </a:xfrm>
          <a:prstGeom prst="rect">
            <a:avLst/>
          </a:prstGeom>
          <a:noFill/>
          <a:ln w="38100">
            <a:solidFill>
              <a:srgbClr val="CC33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F0F08084-D978-369F-962B-1E4ECAE77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1665"/>
            <a:ext cx="685800" cy="914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BCC0F46-1DF3-E31A-DD30-66573D4D6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656065"/>
            <a:ext cx="609600" cy="685800"/>
          </a:xfrm>
          <a:prstGeom prst="rect">
            <a:avLst/>
          </a:prstGeom>
          <a:noFill/>
          <a:ln w="38100">
            <a:solidFill>
              <a:srgbClr val="CC33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86122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4853-9A6B-2E24-BCD1-CC2B512A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45506E-1433-8DD0-75DD-A170E01E5BE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FF3DF-2987-44A0-C58C-75423D03487E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F69AF3-2C82-C9EB-E541-AD9E557146D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896030"/>
            <a:ext cx="10917568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Using the second equation to eliminate </a:t>
            </a:r>
            <a:r>
              <a:rPr lang="en-US" altLang="en-US" sz="2800" i="1" dirty="0"/>
              <a:t>y</a:t>
            </a:r>
            <a:r>
              <a:rPr lang="en-US" altLang="en-US" sz="2800" dirty="0"/>
              <a:t> from the third equation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73A058A7-E544-D8B2-41F3-EC93A16AB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1825" y="2055865"/>
          <a:ext cx="462915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73100" progId="Equation.3">
                  <p:embed/>
                </p:oleObj>
              </mc:Choice>
              <mc:Fallback>
                <p:oleObj name="Equation" r:id="rId2" imgW="1485900" imgH="673100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6D308F9B-FF31-0F09-DF8E-5EEB034A70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2055865"/>
                        <a:ext cx="462915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5">
            <a:extLst>
              <a:ext uri="{FF2B5EF4-FFF2-40B4-BE49-F238E27FC236}">
                <a16:creationId xmlns:a16="http://schemas.microsoft.com/office/drawing/2014/main" id="{99E2AA25-07DF-767F-5E0F-C8A9110C7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903465"/>
            <a:ext cx="685800" cy="914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437F8EA-54AE-941B-C273-F34A1CF4D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817865"/>
            <a:ext cx="1066800" cy="1600200"/>
          </a:xfrm>
          <a:prstGeom prst="rect">
            <a:avLst/>
          </a:prstGeom>
          <a:noFill/>
          <a:ln w="38100">
            <a:solidFill>
              <a:srgbClr val="CC33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1C92B1C6-3D9C-48B0-5C5C-722A27911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1665"/>
            <a:ext cx="685800" cy="914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0D16E25-6601-43D4-D851-50D8E1D24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656065"/>
            <a:ext cx="609600" cy="685800"/>
          </a:xfrm>
          <a:prstGeom prst="rect">
            <a:avLst/>
          </a:prstGeom>
          <a:noFill/>
          <a:ln w="38100">
            <a:solidFill>
              <a:srgbClr val="CC33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93852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F69A-E0DA-6EA6-E10E-F57017AF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C2457A-774E-2481-E51D-24532CB82EF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5DA28F-ACE1-9A84-A98A-16A77F8494D6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2C1B757-E0B8-A8EB-2278-1E602F5DAA7B}"/>
              </a:ext>
            </a:extLst>
          </p:cNvPr>
          <p:cNvSpPr txBox="1">
            <a:spLocks noChangeArrowheads="1"/>
          </p:cNvSpPr>
          <p:nvPr/>
        </p:nvSpPr>
        <p:spPr>
          <a:xfrm>
            <a:off x="1443038" y="2016125"/>
            <a:ext cx="6572250" cy="344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From the previous work, we have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FBABFF35-8F85-A5CF-93B6-977D37438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527573"/>
              </p:ext>
            </p:extLst>
          </p:nvPr>
        </p:nvGraphicFramePr>
        <p:xfrm>
          <a:off x="2696662" y="2736243"/>
          <a:ext cx="4629150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73100" progId="Equation.3">
                  <p:embed/>
                </p:oleObj>
              </mc:Choice>
              <mc:Fallback>
                <p:oleObj name="Equation" r:id="rId2" imgW="1485900" imgH="673100" progId="Equation.3">
                  <p:embed/>
                  <p:pic>
                    <p:nvPicPr>
                      <p:cNvPr id="118788" name="Object 4">
                        <a:extLst>
                          <a:ext uri="{FF2B5EF4-FFF2-40B4-BE49-F238E27FC236}">
                            <a16:creationId xmlns:a16="http://schemas.microsoft.com/office/drawing/2014/main" id="{69D5E1F4-127A-9DD6-25B8-1682FCC6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662" y="2736243"/>
                        <a:ext cx="4629150" cy="209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204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CC8A5-B59C-731B-5CA9-EC97DC32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895D86-447D-72E8-5F69-B5024ED001EF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7E67D2-EA55-25C6-7A68-885F53B59653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6B84D7C-E27D-072D-5442-8EC6C3EC3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821588"/>
              </p:ext>
            </p:extLst>
          </p:nvPr>
        </p:nvGraphicFramePr>
        <p:xfrm>
          <a:off x="2853579" y="2141782"/>
          <a:ext cx="4392613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088" imgH="672808" progId="Equation.3">
                  <p:embed/>
                </p:oleObj>
              </mc:Choice>
              <mc:Fallback>
                <p:oleObj name="Equation" r:id="rId2" imgW="1409088" imgH="672808" progId="Equation.3">
                  <p:embed/>
                  <p:pic>
                    <p:nvPicPr>
                      <p:cNvPr id="119812" name="Object 4">
                        <a:extLst>
                          <a:ext uri="{FF2B5EF4-FFF2-40B4-BE49-F238E27FC236}">
                            <a16:creationId xmlns:a16="http://schemas.microsoft.com/office/drawing/2014/main" id="{A11BA946-6210-EE6A-D094-4B63290E8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579" y="2141782"/>
                        <a:ext cx="4392613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95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82B1-26D6-1C16-0121-691E9275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990DFC-021F-B410-CFE2-B5640E37E75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227645-5213-8ECD-864D-C673AB929626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1EA58AC-DED9-886E-C48A-BDCFB8D78F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668607"/>
              </p:ext>
            </p:extLst>
          </p:nvPr>
        </p:nvGraphicFramePr>
        <p:xfrm>
          <a:off x="3290093" y="1877896"/>
          <a:ext cx="4392613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088" imgH="672808" progId="Equation.3">
                  <p:embed/>
                </p:oleObj>
              </mc:Choice>
              <mc:Fallback>
                <p:oleObj name="Equation" r:id="rId2" imgW="1409088" imgH="672808" progId="Equation.3">
                  <p:embed/>
                  <p:pic>
                    <p:nvPicPr>
                      <p:cNvPr id="120836" name="Object 4">
                        <a:extLst>
                          <a:ext uri="{FF2B5EF4-FFF2-40B4-BE49-F238E27FC236}">
                            <a16:creationId xmlns:a16="http://schemas.microsoft.com/office/drawing/2014/main" id="{9D700032-39B8-B9CB-ECC7-14D08A7353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093" y="1877896"/>
                        <a:ext cx="4392613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07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83FE-BFA6-A59F-7DBD-3B7CFE6C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E125DF-EDF4-46B8-4067-0793946BCC5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DAB751-F1C7-EF20-0C46-F3F9F8D56E5E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9684740-693A-8C87-EAA9-981A2E70F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080961"/>
              </p:ext>
            </p:extLst>
          </p:nvPr>
        </p:nvGraphicFramePr>
        <p:xfrm>
          <a:off x="3486555" y="1951776"/>
          <a:ext cx="4156075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673100" progId="Equation.3">
                  <p:embed/>
                </p:oleObj>
              </mc:Choice>
              <mc:Fallback>
                <p:oleObj name="Equation" r:id="rId2" imgW="1333500" imgH="673100" progId="Equation.3">
                  <p:embed/>
                  <p:pic>
                    <p:nvPicPr>
                      <p:cNvPr id="121860" name="Object 4">
                        <a:extLst>
                          <a:ext uri="{FF2B5EF4-FFF2-40B4-BE49-F238E27FC236}">
                            <a16:creationId xmlns:a16="http://schemas.microsoft.com/office/drawing/2014/main" id="{9B6563D0-A05C-2858-7FA1-C955E457B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555" y="1951776"/>
                        <a:ext cx="4156075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520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8F50E-0F4A-F921-ECFD-78BB732D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B9039A-DEA7-7140-82D6-20BD6E98DA9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618079-6F8C-337A-85FA-A7F99A4801BF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01A3CB4-6690-00E2-F87C-1E33F4EF28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03509"/>
              </p:ext>
            </p:extLst>
          </p:nvPr>
        </p:nvGraphicFramePr>
        <p:xfrm>
          <a:off x="3678871" y="2068140"/>
          <a:ext cx="4037012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400" imgH="673100" progId="Equation.3">
                  <p:embed/>
                </p:oleObj>
              </mc:Choice>
              <mc:Fallback>
                <p:oleObj name="Equation" r:id="rId2" imgW="1295400" imgH="673100" progId="Equation.3">
                  <p:embed/>
                  <p:pic>
                    <p:nvPicPr>
                      <p:cNvPr id="122884" name="Object 4">
                        <a:extLst>
                          <a:ext uri="{FF2B5EF4-FFF2-40B4-BE49-F238E27FC236}">
                            <a16:creationId xmlns:a16="http://schemas.microsoft.com/office/drawing/2014/main" id="{D4C1DE22-DD8C-7AAB-76E2-76DE53FC0F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871" y="2068140"/>
                        <a:ext cx="4037012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557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62C3-C221-17B9-BC7B-7B1AA12C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EF2511-628E-52B2-E1E9-CD796B76E09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B7BD48-CB38-0A00-4DA7-CEFEC9038A89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638B7B8-631E-FCA7-6BE0-61B193BE967E}"/>
              </a:ext>
            </a:extLst>
          </p:cNvPr>
          <p:cNvSpPr txBox="1">
            <a:spLocks noChangeArrowheads="1"/>
          </p:cNvSpPr>
          <p:nvPr/>
        </p:nvSpPr>
        <p:spPr>
          <a:xfrm>
            <a:off x="380489" y="2145000"/>
            <a:ext cx="11310330" cy="344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000" dirty="0"/>
              <a:t>Consists of 2 steps</a:t>
            </a:r>
          </a:p>
          <a:p>
            <a:pPr algn="l"/>
            <a:endParaRPr lang="en-US" altLang="en-US" sz="3000" dirty="0"/>
          </a:p>
          <a:p>
            <a:pPr marL="990600" lvl="1" indent="-533400" algn="l">
              <a:buFont typeface="Wingdings" panose="05000000000000000000" pitchFamily="2" charset="2"/>
              <a:buAutoNum type="arabicPeriod"/>
            </a:pPr>
            <a:r>
              <a:rPr lang="en-US" altLang="en-US" sz="3000" dirty="0"/>
              <a:t>Forward Elimination of Unknowns </a:t>
            </a:r>
            <a:r>
              <a:rPr lang="en-US" altLang="en-US" sz="3000" dirty="0">
                <a:sym typeface="Wingdings" panose="05000000000000000000" pitchFamily="2" charset="2"/>
              </a:rPr>
              <a:t> an upper triangular matrix</a:t>
            </a:r>
            <a:r>
              <a:rPr lang="en-US" altLang="en-US" sz="3000" dirty="0"/>
              <a:t>.</a:t>
            </a:r>
          </a:p>
          <a:p>
            <a:pPr marL="990600" lvl="1" indent="-533400" algn="l">
              <a:buFont typeface="Wingdings" panose="05000000000000000000" pitchFamily="2" charset="2"/>
              <a:buAutoNum type="arabicPeriod"/>
            </a:pPr>
            <a:endParaRPr lang="en-US" altLang="en-US" sz="3000" dirty="0"/>
          </a:p>
          <a:p>
            <a:pPr marL="990600" lvl="1" indent="-533400" algn="l">
              <a:buFont typeface="Wingdings" panose="05000000000000000000" pitchFamily="2" charset="2"/>
              <a:buAutoNum type="arabicPeriod"/>
            </a:pPr>
            <a:r>
              <a:rPr lang="en-US" altLang="en-US" sz="3000" dirty="0"/>
              <a:t>Back Substitution </a:t>
            </a:r>
            <a:r>
              <a:rPr lang="en-US" altLang="en-US" sz="3000" dirty="0">
                <a:sym typeface="Wingdings" panose="05000000000000000000" pitchFamily="2" charset="2"/>
              </a:rPr>
              <a:t> solve the system</a:t>
            </a:r>
            <a:endParaRPr lang="en-US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4693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4EA5-F9CB-480B-969C-49444DFE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E27603-063A-9C09-297D-51B1D2FF0E4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3BA5E7-E18E-BFB0-83E1-E4190F005E25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937FB2-FF47-E647-9860-E17099F799E5}"/>
              </a:ext>
            </a:extLst>
          </p:cNvPr>
          <p:cNvSpPr txBox="1">
            <a:spLocks noChangeArrowheads="1"/>
          </p:cNvSpPr>
          <p:nvPr/>
        </p:nvSpPr>
        <p:spPr>
          <a:xfrm>
            <a:off x="380489" y="2145000"/>
            <a:ext cx="11310330" cy="344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000" dirty="0"/>
              <a:t>Consists of 2 steps</a:t>
            </a:r>
          </a:p>
          <a:p>
            <a:pPr algn="l"/>
            <a:endParaRPr lang="en-US" altLang="en-US" sz="3000" dirty="0"/>
          </a:p>
          <a:p>
            <a:pPr marL="990600" lvl="1" indent="-533400" algn="l">
              <a:buFont typeface="Wingdings" panose="05000000000000000000" pitchFamily="2" charset="2"/>
              <a:buAutoNum type="arabicPeriod"/>
            </a:pPr>
            <a:r>
              <a:rPr lang="en-US" altLang="en-US" sz="3000" dirty="0"/>
              <a:t>Forward Elimination of Unknowns </a:t>
            </a:r>
            <a:r>
              <a:rPr lang="en-US" altLang="en-US" sz="3000" dirty="0">
                <a:sym typeface="Wingdings" panose="05000000000000000000" pitchFamily="2" charset="2"/>
              </a:rPr>
              <a:t> an upper triangular matrix</a:t>
            </a:r>
            <a:r>
              <a:rPr lang="en-US" altLang="en-US" sz="3000" dirty="0"/>
              <a:t>.</a:t>
            </a:r>
          </a:p>
          <a:p>
            <a:pPr marL="990600" lvl="1" indent="-533400" algn="l">
              <a:buFont typeface="Wingdings" panose="05000000000000000000" pitchFamily="2" charset="2"/>
              <a:buAutoNum type="arabicPeriod"/>
            </a:pPr>
            <a:endParaRPr lang="en-US" altLang="en-US" sz="3000" dirty="0"/>
          </a:p>
          <a:p>
            <a:pPr marL="990600" lvl="1" indent="-533400" algn="l">
              <a:buFont typeface="Wingdings" panose="05000000000000000000" pitchFamily="2" charset="2"/>
              <a:buAutoNum type="arabicPeriod"/>
            </a:pPr>
            <a:r>
              <a:rPr lang="en-US" altLang="en-US" sz="3000" dirty="0"/>
              <a:t>Back Substitution </a:t>
            </a:r>
            <a:r>
              <a:rPr lang="en-US" altLang="en-US" sz="3000" dirty="0">
                <a:sym typeface="Wingdings" panose="05000000000000000000" pitchFamily="2" charset="2"/>
              </a:rPr>
              <a:t> solve the system</a:t>
            </a:r>
            <a:endParaRPr lang="en-US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78404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69A3-6B93-BCB1-FE70-309CDA07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D9EF52-6BC8-904B-CEBC-D9A97396463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2A1FA1-BB15-ECDD-A367-AFFFB792AFC7}"/>
              </a:ext>
            </a:extLst>
          </p:cNvPr>
          <p:cNvSpPr txBox="1"/>
          <p:nvPr/>
        </p:nvSpPr>
        <p:spPr>
          <a:xfrm>
            <a:off x="429584" y="1086234"/>
            <a:ext cx="3249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54182C-2109-7766-CAD8-7B7384747842}"/>
              </a:ext>
            </a:extLst>
          </p:cNvPr>
          <p:cNvSpPr txBox="1"/>
          <p:nvPr/>
        </p:nvSpPr>
        <p:spPr>
          <a:xfrm>
            <a:off x="61369" y="2249593"/>
            <a:ext cx="1071504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Let’s consider a general linear system Ax=b, where the size of A is </a:t>
            </a:r>
            <a:r>
              <a:rPr lang="en-US" sz="2800" dirty="0" err="1"/>
              <a:t>nxn</a:t>
            </a:r>
            <a:r>
              <a:rPr lang="en-US" sz="2800" dirty="0"/>
              <a:t> and x and b are nx1 vectors.</a:t>
            </a:r>
          </a:p>
          <a:p>
            <a:endParaRPr lang="en-US" sz="2800" dirty="0"/>
          </a:p>
          <a:p>
            <a:r>
              <a:rPr lang="en-US" sz="2800" b="1" dirty="0"/>
              <a:t>Definition 1: </a:t>
            </a:r>
          </a:p>
          <a:p>
            <a:r>
              <a:rPr lang="en-US" sz="2800" dirty="0"/>
              <a:t>an augmented matrix is a matrix obtained by appending the columns of A and is defined as </a:t>
            </a:r>
          </a:p>
          <a:p>
            <a:pPr algn="ctr"/>
            <a:r>
              <a:rPr lang="en-US" sz="2800" dirty="0"/>
              <a:t>Augmented matrix = [A | b]</a:t>
            </a:r>
          </a:p>
        </p:txBody>
      </p:sp>
    </p:spTree>
    <p:extLst>
      <p:ext uri="{BB962C8B-B14F-4D97-AF65-F5344CB8AC3E}">
        <p14:creationId xmlns:p14="http://schemas.microsoft.com/office/powerpoint/2010/main" val="2720822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C96C-04BE-5186-63C6-A88AE39F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11FC82-7684-3C05-B950-98791CD9428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0BD8C7-A305-B8AF-129D-EFB3D77698DB}"/>
              </a:ext>
            </a:extLst>
          </p:cNvPr>
          <p:cNvSpPr txBox="1">
            <a:spLocks/>
          </p:cNvSpPr>
          <p:nvPr/>
        </p:nvSpPr>
        <p:spPr>
          <a:xfrm>
            <a:off x="-1182522" y="1291968"/>
            <a:ext cx="7756194" cy="1690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Consider a system of equations</a:t>
            </a:r>
          </a:p>
          <a:p>
            <a:pPr>
              <a:defRPr/>
            </a:pPr>
            <a:br>
              <a:rPr lang="en-US" dirty="0"/>
            </a:br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FCB8C7E-F9BC-593F-5E43-88050C832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304" y="1765579"/>
            <a:ext cx="4226192" cy="187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E4530106-FF1B-203E-3EC3-74392E6FD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506" y="4606169"/>
            <a:ext cx="3476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A8A1D7E9-28F5-17AA-96AB-A6181B134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731" y="4683956"/>
            <a:ext cx="485775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00">
                <a:solidFill>
                  <a:srgbClr val="FF0000"/>
                </a:solidFill>
              </a:rPr>
              <a:t>R</a:t>
            </a:r>
            <a:r>
              <a:rPr lang="en-US" altLang="en-US" sz="2500" baseline="-25000">
                <a:solidFill>
                  <a:srgbClr val="FF0000"/>
                </a:solidFill>
              </a:rPr>
              <a:t>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00">
                <a:solidFill>
                  <a:srgbClr val="FF0000"/>
                </a:solidFill>
              </a:rPr>
              <a:t>R</a:t>
            </a:r>
            <a:r>
              <a:rPr lang="en-US" altLang="en-US" sz="2500" baseline="-25000">
                <a:solidFill>
                  <a:srgbClr val="FF0000"/>
                </a:solidFill>
              </a:rPr>
              <a:t>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00">
                <a:solidFill>
                  <a:srgbClr val="FF0000"/>
                </a:solidFill>
              </a:rPr>
              <a:t>R</a:t>
            </a:r>
            <a:r>
              <a:rPr lang="en-US" altLang="en-US" sz="2500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F45C90-23DE-AC13-A61C-0102068A5FA0}"/>
              </a:ext>
            </a:extLst>
          </p:cNvPr>
          <p:cNvSpPr txBox="1"/>
          <p:nvPr/>
        </p:nvSpPr>
        <p:spPr>
          <a:xfrm>
            <a:off x="863771" y="3875462"/>
            <a:ext cx="608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The augmented matrix for this system is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8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BB3D-2E6A-5136-FCD5-5A10FD1D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83ABE5-CB5B-788D-A746-6B388B93D13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BE21C6-D2D1-4019-64C7-E0B61F4D2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85" y="1935957"/>
            <a:ext cx="9851687" cy="436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30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2CAFE-4138-931D-28F2-A6AFDD00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A219FA-2DC3-AB5C-58CD-80F21E655E61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7C911E-72A4-DBD3-7658-50892BDCB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34" y="1198230"/>
            <a:ext cx="7864666" cy="46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76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7270-73E8-1A01-FB5C-F2E1B9CB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79A94C-F11B-D95E-2B3F-62A306B98DA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5D8F62-B131-88D9-6239-ECDA5753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22" y="1693910"/>
            <a:ext cx="8433284" cy="43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41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BDF1-ACF7-B15D-936E-EBB04606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FBAEA6-9689-B2A7-B425-1BAF7171339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99B66E-370E-F514-E617-EE64F620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84" y="1808210"/>
            <a:ext cx="9698054" cy="408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6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B336-4375-0F1D-1895-CDD0F7D1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CBABFC-53F5-D83B-399D-FDFF423E9FA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18F5DB-CB3F-81E9-33C4-9C781701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71" y="1774593"/>
            <a:ext cx="7492633" cy="345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21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72C5-38D7-C79E-43EE-63A7E8AF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D5EDF7-86A1-61A6-4585-353222EBBC3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148643-7582-2496-B4B4-391BB693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05" y="1586333"/>
            <a:ext cx="7931901" cy="412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1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5A68-86EA-8819-4754-E6F338A5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E8A2C8-3FD1-D21A-D0E4-52F917CA9AD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ECF260-EA65-0914-09EA-4F7F8C99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76" y="1246009"/>
            <a:ext cx="8030999" cy="48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27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CA1A-F8A5-6112-72B3-2E3F6C58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FF8517-6E45-913C-0F71-EED9A1FCF0C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32142EA5-4B26-6726-5A24-44F4AC283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194" y="1219097"/>
            <a:ext cx="8853199" cy="506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88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A3F4-6469-15DB-EEE9-F2EDA72D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5A8276-CB2D-88A9-A2E6-E89CBF8B71A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639C49-1A78-A1A4-5684-C6CA94F4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81" y="825451"/>
            <a:ext cx="7466637" cy="598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87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5050-82D7-3D84-4804-D7411251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67D87D-62B0-F0D8-EA2A-EE99EECD78A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AAC516-B0CE-773C-68EA-448B81C85EA9}"/>
              </a:ext>
            </a:extLst>
          </p:cNvPr>
          <p:cNvSpPr txBox="1"/>
          <p:nvPr/>
        </p:nvSpPr>
        <p:spPr>
          <a:xfrm>
            <a:off x="429584" y="1086234"/>
            <a:ext cx="584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 Back substitution</a:t>
            </a: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EB43FBBA-9D88-8B6C-41C7-9E682CE21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89" y="1547899"/>
            <a:ext cx="9217958" cy="47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09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8C4B9-46C7-38A6-6A1B-3C058B66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7B99D3-7BF8-1F50-6AAE-36BCA85E891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9801B37C-4F5C-FBCF-7D9F-F6184ABF9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65" y="1269527"/>
            <a:ext cx="8805209" cy="464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43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D95D-65E8-1C8D-EECA-EAB4B686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78FEA8-A3DF-666F-1BEA-806ECCC590D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8096609-BDBA-BF11-F75A-6FAED11D3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81734"/>
              </p:ext>
            </p:extLst>
          </p:nvPr>
        </p:nvGraphicFramePr>
        <p:xfrm>
          <a:off x="289111" y="1257299"/>
          <a:ext cx="5299148" cy="244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Add/sub Flops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Mul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Div</a:t>
                      </a:r>
                      <a:r>
                        <a:rPr lang="en-US" sz="2400" dirty="0"/>
                        <a:t> Flops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(n-1)</a:t>
                      </a:r>
                      <a:r>
                        <a:rPr lang="en-US" sz="2400" dirty="0" err="1"/>
                        <a:t>xn</a:t>
                      </a:r>
                      <a:endParaRPr lang="en-US" sz="2400" dirty="0"/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(n-1)x(n+1)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(n-2)x(n-1)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(n-2)</a:t>
                      </a:r>
                      <a:r>
                        <a:rPr lang="en-US" sz="2400" dirty="0" err="1"/>
                        <a:t>xn</a:t>
                      </a:r>
                      <a:endParaRPr lang="en-US" sz="2400" dirty="0"/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)x(n-i+1)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)x(n-i+2)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3C00E86A-6315-2D4B-9371-003BB2DBF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12918"/>
              </p:ext>
            </p:extLst>
          </p:nvPr>
        </p:nvGraphicFramePr>
        <p:xfrm>
          <a:off x="6975625" y="1363090"/>
          <a:ext cx="3039323" cy="2065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18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Step 1: Make an upper triangular matrix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0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401" t="-58636" r="-802" b="-772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01EEE508-A197-CCAF-4E94-1C20BCDA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891" y="4109733"/>
            <a:ext cx="7334124" cy="35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6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8337-416C-512C-4D37-F6DFB262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3C9A7F-B944-DC1B-9948-A9BCB6BF53C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8A05E65-01A6-F070-309C-94A0DFAD3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19" y="1277745"/>
            <a:ext cx="8762304" cy="48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66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7217-1B3E-EB38-C16D-F8EF2ED6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383A61-416D-EBBC-0841-FC60F5B02C8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563E97F-50DB-1FD7-A020-A833D5B81C1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28712" y="1891930"/>
            <a:ext cx="4185505" cy="61831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7099EA-FC6A-A2A7-0932-6A3987A053E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43038" y="2895600"/>
            <a:ext cx="3811749" cy="55399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19ED93-1C65-AC7D-9184-FFFD00509AD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08267" y="3752644"/>
            <a:ext cx="3965445" cy="55399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0619CEF-382E-3A5D-AAC6-30B048AC8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72" y="5028080"/>
            <a:ext cx="1030530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r>
              <a:rPr lang="en-US" altLang="en-US" sz="3000">
                <a:solidFill>
                  <a:srgbClr val="FF0000"/>
                </a:solidFill>
                <a:latin typeface="Roboto" panose="02000000000000000000" pitchFamily="2" charset="0"/>
              </a:rPr>
              <a:t>This algorithm is </a:t>
            </a:r>
            <a:r>
              <a:rPr lang="en-US" altLang="en-US" sz="3000" b="1">
                <a:solidFill>
                  <a:srgbClr val="FF0000"/>
                </a:solidFill>
                <a:latin typeface="Roboto" panose="02000000000000000000" pitchFamily="2" charset="0"/>
              </a:rPr>
              <a:t>very slow</a:t>
            </a:r>
            <a:r>
              <a:rPr lang="en-US" altLang="en-US" sz="3000">
                <a:solidFill>
                  <a:srgbClr val="FF0000"/>
                </a:solidFill>
                <a:latin typeface="Roboto" panose="02000000000000000000" pitchFamily="2" charset="0"/>
              </a:rPr>
              <a:t> for </a:t>
            </a:r>
            <a:r>
              <a:rPr lang="en-US" altLang="en-US" sz="3000" b="1">
                <a:solidFill>
                  <a:srgbClr val="FF0000"/>
                </a:solidFill>
                <a:latin typeface="Roboto" panose="02000000000000000000" pitchFamily="2" charset="0"/>
              </a:rPr>
              <a:t>large</a:t>
            </a:r>
            <a:r>
              <a:rPr lang="en-US" altLang="en-US" sz="3000">
                <a:solidFill>
                  <a:srgbClr val="FF0000"/>
                </a:solidFill>
                <a:latin typeface="Roboto" panose="02000000000000000000" pitchFamily="2" charset="0"/>
              </a:rPr>
              <a:t> n due to the big flops!</a:t>
            </a:r>
            <a:endParaRPr lang="en-US" altLang="en-US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6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A773-AAEB-47A1-CF2E-6D7C38A2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51B6CA-3B65-B8E6-4244-263ED8E14E0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</p:spTree>
    <p:extLst>
      <p:ext uri="{BB962C8B-B14F-4D97-AF65-F5344CB8AC3E}">
        <p14:creationId xmlns:p14="http://schemas.microsoft.com/office/powerpoint/2010/main" val="23017405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647</Words>
  <Application>Microsoft Office PowerPoint</Application>
  <PresentationFormat>自定义</PresentationFormat>
  <Paragraphs>142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宋体</vt:lpstr>
      <vt:lpstr>Aptos</vt:lpstr>
      <vt:lpstr>Aptos Display</vt:lpstr>
      <vt:lpstr>Arial</vt:lpstr>
      <vt:lpstr>Calibri</vt:lpstr>
      <vt:lpstr>Cambria Math</vt:lpstr>
      <vt:lpstr>Roboto</vt:lpstr>
      <vt:lpstr>Wingdings</vt:lpstr>
      <vt:lpstr>Office 主题​​</vt:lpstr>
      <vt:lpstr>Microsoft Photo Editor 3.0 Scan</vt:lpstr>
      <vt:lpstr>Microsoft Equation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Chuqi</dc:creator>
  <cp:lastModifiedBy>Chen, Chuqi</cp:lastModifiedBy>
  <cp:revision>1</cp:revision>
  <dcterms:created xsi:type="dcterms:W3CDTF">2026-01-28T04:55:09Z</dcterms:created>
  <dcterms:modified xsi:type="dcterms:W3CDTF">2026-01-28T06:23:02Z</dcterms:modified>
</cp:coreProperties>
</file>