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59" r:id="rId2"/>
    <p:sldId id="262" r:id="rId3"/>
    <p:sldId id="269" r:id="rId4"/>
    <p:sldId id="336" r:id="rId5"/>
    <p:sldId id="297" r:id="rId6"/>
    <p:sldId id="25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7" r:id="rId15"/>
    <p:sldId id="290" r:id="rId16"/>
    <p:sldId id="309" r:id="rId17"/>
    <p:sldId id="310" r:id="rId18"/>
    <p:sldId id="311" r:id="rId19"/>
    <p:sldId id="312" r:id="rId20"/>
    <p:sldId id="313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14" r:id="rId31"/>
    <p:sldId id="316" r:id="rId32"/>
    <p:sldId id="319" r:id="rId33"/>
    <p:sldId id="320" r:id="rId34"/>
    <p:sldId id="321" r:id="rId35"/>
    <p:sldId id="322" r:id="rId36"/>
    <p:sldId id="323" r:id="rId37"/>
    <p:sldId id="315" r:id="rId38"/>
    <p:sldId id="318" r:id="rId39"/>
    <p:sldId id="317" r:id="rId40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508" y="76"/>
      </p:cViewPr>
      <p:guideLst>
        <p:guide orient="horz" pos="2160"/>
        <p:guide pos="3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3DD8C-5068-4E4F-AEFC-B67CB18CFF9E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9C804-D45B-4D2C-B17B-8B0BB9C65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2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77138-3BC2-4722-8FB5-C522C73BB8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42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C804-D45B-4D2C-B17B-8B0BB9C652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2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C804-D45B-4D2C-B17B-8B0BB9C6520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46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65AB6-8B81-D494-2FF2-F9E3D2AC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E77B05-9D71-A622-DCF5-5CE3A8054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FB3BDD-A1D6-FA20-6A4E-33781BF10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A8E28A-7932-F87F-FDAF-BB855E20D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C804-D45B-4D2C-B17B-8B0BB9C6520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98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41E9-1D57-0708-26FF-7D97457FD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99E562-F4F4-EBDB-1F39-46B7D372F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8A447F-600D-5C91-ABF9-98890A12E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6C7FA-FDE5-3C8E-FF2A-B12620FFB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C804-D45B-4D2C-B17B-8B0BB9C6520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9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7182-56B2-1A0F-7D09-3169691D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953FC1-67CD-F79F-5F0A-08A0D832A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D918E3-D717-6722-7AB1-3FF0BCE2B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331546-4AEF-B5C6-53E7-E064D3162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C804-D45B-4D2C-B17B-8B0BB9C6520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14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5B2D-6546-DBC2-BF57-169FFA24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838A7E-E3E0-21A6-856D-E4B197097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6539BE-AC6F-6FC3-5F9D-35515D699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F0A37A-9E57-FAA9-C55A-6A3560208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9C804-D45B-4D2C-B17B-8B0BB9C6520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06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122363"/>
            <a:ext cx="82296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2038"/>
            <a:ext cx="82296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0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91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709739"/>
            <a:ext cx="946404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4589464"/>
            <a:ext cx="946404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8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3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65126"/>
            <a:ext cx="946404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681163"/>
            <a:ext cx="464200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505075"/>
            <a:ext cx="464200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681163"/>
            <a:ext cx="4664869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505075"/>
            <a:ext cx="4664869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90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63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42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987426"/>
            <a:ext cx="555498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95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987426"/>
            <a:ext cx="555498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52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97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65125"/>
            <a:ext cx="236601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65125"/>
            <a:ext cx="696087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9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825625"/>
            <a:ext cx="9464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0E59F-8FB3-47CE-BD1F-E025F562C7B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C9E6B-51A6-4944-9E6A-EF6DC6A91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0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7A6B394-0A1E-964E-C6AF-CFE9D3A0C996}"/>
              </a:ext>
            </a:extLst>
          </p:cNvPr>
          <p:cNvSpPr/>
          <p:nvPr/>
        </p:nvSpPr>
        <p:spPr>
          <a:xfrm>
            <a:off x="141149" y="1925961"/>
            <a:ext cx="10690502" cy="1447976"/>
          </a:xfrm>
          <a:prstGeom prst="rect">
            <a:avLst/>
          </a:prstGeom>
          <a:solidFill>
            <a:srgbClr val="002060"/>
          </a:solidFill>
          <a:ln cap="rnd"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ym typeface="+mn-ea"/>
              </a:rPr>
              <a:t>MATH417 L4</a:t>
            </a:r>
            <a:endParaRPr lang="zh-CN" altLang="en-US" sz="4400" b="1" dirty="0">
              <a:ln w="10160" cap="rnd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SimSun" pitchFamily="2" charset="-122"/>
              <a:ea typeface="SimSun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809EFE95-7FCC-662D-168E-BFE3A96CF9ED}"/>
              </a:ext>
            </a:extLst>
          </p:cNvPr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586740" y="3741415"/>
            <a:ext cx="9799320" cy="211455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Chuqi CHEN</a:t>
            </a:r>
          </a:p>
          <a:p>
            <a:endParaRPr lang="en-US" altLang="zh-CN" sz="2000" dirty="0"/>
          </a:p>
          <a:p>
            <a:r>
              <a:rPr lang="en-US" altLang="zh-CN" dirty="0"/>
              <a:t>January 14, 2026</a:t>
            </a:r>
          </a:p>
        </p:txBody>
      </p:sp>
      <p:pic>
        <p:nvPicPr>
          <p:cNvPr id="8" name="Picture 6" descr="University of Michigan Logo and symbol, meaning, history, PNG, brand">
            <a:extLst>
              <a:ext uri="{FF2B5EF4-FFF2-40B4-BE49-F238E27FC236}">
                <a16:creationId xmlns:a16="http://schemas.microsoft.com/office/drawing/2014/main" id="{AA367B7F-C39E-3B5E-C389-F6151769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3045" y="5754936"/>
            <a:ext cx="1969757" cy="110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539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1B1E-3FFC-E81D-8020-2A0B8221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9F15EF-E95F-ADA4-9303-FEC2B13E1BC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32833A-87D6-C150-D642-6A6860C4CDE4}"/>
              </a:ext>
            </a:extLst>
          </p:cNvPr>
          <p:cNvSpPr txBox="1"/>
          <p:nvPr/>
        </p:nvSpPr>
        <p:spPr>
          <a:xfrm>
            <a:off x="1195805" y="1583670"/>
            <a:ext cx="9289875" cy="4231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R</a:t>
            </a:r>
            <a:r>
              <a:rPr lang="en-US" altLang="zh-CN" sz="2800" b="1" dirty="0"/>
              <a:t>oot Finding Problem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Newton Raphson method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Non-linear equations in two and more dimensions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407150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9581AB-F65C-40C3-8D95-E913D1EF6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the root of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Fixed point method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The exact root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 (Mean Value Theorem)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0000"/>
                    </a:solidFill>
                  </a:rPr>
                  <a:t>U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nder what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condition, does the Fixed point method converge?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0000"/>
                    </a:solidFill>
                  </a:rPr>
                  <a:t>If the desired stopping tolerance is 𝜀, how many steps we need?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9581AB-F65C-40C3-8D95-E913D1EF6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6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019F8FDC-1E9A-340D-E575-6CFABA6306D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Warm up</a:t>
            </a:r>
            <a:endParaRPr lang="zh-CN" altLang="en-US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5060A0-1346-947D-99C8-58DEF3683935}"/>
              </a:ext>
            </a:extLst>
          </p:cNvPr>
          <p:cNvSpPr txBox="1"/>
          <p:nvPr/>
        </p:nvSpPr>
        <p:spPr>
          <a:xfrm>
            <a:off x="803509" y="830646"/>
            <a:ext cx="5565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Fixed point method</a:t>
            </a:r>
          </a:p>
        </p:txBody>
      </p:sp>
    </p:spTree>
    <p:extLst>
      <p:ext uri="{BB962C8B-B14F-4D97-AF65-F5344CB8AC3E}">
        <p14:creationId xmlns:p14="http://schemas.microsoft.com/office/powerpoint/2010/main" val="51536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1C885-7FED-BF88-EC0B-D7EE28E7D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18AA635-A242-4063-F6F8-5DF3E1B4261C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Warm up</a:t>
            </a:r>
            <a:endParaRPr lang="zh-CN" altLang="en-US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F4D85C-BE1F-774D-CA90-8139870D5C82}"/>
              </a:ext>
            </a:extLst>
          </p:cNvPr>
          <p:cNvSpPr txBox="1"/>
          <p:nvPr/>
        </p:nvSpPr>
        <p:spPr>
          <a:xfrm>
            <a:off x="803509" y="830646"/>
            <a:ext cx="5565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Fixed point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6A627D1-C7E6-0D1D-9BBD-60B3C2AF5B0F}"/>
                  </a:ext>
                </a:extLst>
              </p:cNvPr>
              <p:cNvSpPr txBox="1"/>
              <p:nvPr/>
            </p:nvSpPr>
            <p:spPr>
              <a:xfrm>
                <a:off x="2393396" y="2957992"/>
                <a:ext cx="563378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>
                    <a:solidFill>
                      <a:srgbClr val="FF0000"/>
                    </a:solidFill>
                  </a:rPr>
                  <a:t>T</a:t>
                </a:r>
                <a:r>
                  <a:rPr lang="en-US" altLang="zh-CN" sz="3600" dirty="0">
                    <a:solidFill>
                      <a:srgbClr val="FF0000"/>
                    </a:solidFill>
                  </a:rPr>
                  <a:t>he key is how to  find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36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6A627D1-C7E6-0D1D-9BBD-60B3C2AF5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396" y="2957992"/>
                <a:ext cx="5633786" cy="646331"/>
              </a:xfrm>
              <a:prstGeom prst="rect">
                <a:avLst/>
              </a:prstGeom>
              <a:blipFill>
                <a:blip r:embed="rId2"/>
                <a:stretch>
                  <a:fillRect l="-3355" t="-13208" r="-2165" b="-35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497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5C3C9-87CD-46D9-ACE8-880E7DC845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626F1-82FE-4362-BDD9-300CDF875E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32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F06C-A000-4EED-A608-72274D70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FA8A3B-D2A0-4117-B42B-7000F6E4AE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8023" y="1628657"/>
                <a:ext cx="9464040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Use the fixed point method to solve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The fixed point function is not unique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We consider in an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a fast convergence is achieved, then we have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≈0.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:r>
                  <a:rPr lang="en-US" dirty="0"/>
                  <a:t>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Then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FA8A3B-D2A0-4117-B42B-7000F6E4AE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8023" y="1628657"/>
                <a:ext cx="9464040" cy="4351338"/>
              </a:xfrm>
              <a:blipFill>
                <a:blip r:embed="rId3"/>
                <a:stretch>
                  <a:fillRect l="-580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80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BFE5-E096-42E6-8453-7AB8A616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664568-2835-4398-B839-0EE7B2FD2B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380" y="1690689"/>
                <a:ext cx="9464040" cy="4351338"/>
              </a:xfrm>
            </p:spPr>
            <p:txBody>
              <a:bodyPr/>
              <a:lstStyle/>
              <a:p>
                <a:r>
                  <a:rPr lang="en-US" dirty="0"/>
                  <a:t>If we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we have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 is called the Newton’s method, more specifically,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𝑔𝑖𝑣𝑒𝑛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664568-2835-4398-B839-0EE7B2FD2B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380" y="1690689"/>
                <a:ext cx="9464040" cy="4351338"/>
              </a:xfrm>
              <a:blipFill>
                <a:blip r:embed="rId2"/>
                <a:stretch>
                  <a:fillRect l="-1160" t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8828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73BB-7E16-4DC8-B239-CA431722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14E0D-FCA7-487A-8AF3-9B5B5D1A9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039" y="1690689"/>
                <a:ext cx="9464040" cy="4351338"/>
              </a:xfrm>
            </p:spPr>
            <p:txBody>
              <a:bodyPr/>
              <a:lstStyle/>
              <a:p>
                <a:r>
                  <a:rPr lang="en-US" dirty="0"/>
                  <a:t>Use Newton’s method to solve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Newton’s scheme is written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We choose an initial guess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=0.5379,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=0.5670,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=0.5671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Converges very fast!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14E0D-FCA7-487A-8AF3-9B5B5D1A9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039" y="1690689"/>
                <a:ext cx="9464040" cy="4351338"/>
              </a:xfrm>
              <a:blipFill>
                <a:blip r:embed="rId2"/>
                <a:stretch>
                  <a:fillRect l="-966" t="-210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708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E354-9792-474B-A825-E10A55BF1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estimate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2BD05-39CC-46A0-AC6D-28824DFD4A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380" y="1985962"/>
                <a:ext cx="9678924" cy="413594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Newton’s method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The exact root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𝑇𝑎𝑦𝑙𝑜𝑟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𝑒𝑥𝑝𝑎𝑛𝑠𝑖𝑜𝑛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</m:d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 If we denote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lim>
                    </m:limLow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which is called the </a:t>
                </a:r>
                <a:r>
                  <a:rPr lang="en-US" b="1" dirty="0">
                    <a:solidFill>
                      <a:srgbClr val="FF0000"/>
                    </a:solidFill>
                  </a:rPr>
                  <a:t>quadratic convergence</a:t>
                </a:r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2BD05-39CC-46A0-AC6D-28824DFD4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380" y="1985962"/>
                <a:ext cx="9678924" cy="4135946"/>
              </a:xfrm>
              <a:blipFill>
                <a:blip r:embed="rId2"/>
                <a:stretch>
                  <a:fillRect l="-1134" t="-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374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1FEDB-A97A-47DC-A352-13B2CE64A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convergence condition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AC6AB-9D64-45F0-A32A-F2884FDB54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380" y="1985962"/>
                <a:ext cx="9596628" cy="4346258"/>
              </a:xfrm>
            </p:spPr>
            <p:txBody>
              <a:bodyPr/>
              <a:lstStyle/>
              <a:p>
                <a:r>
                  <a:rPr lang="en-US" b="1" dirty="0"/>
                  <a:t>Newton’s method has the quadratic convergence if and only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Both bisection and fixed point methods have linear convergence.</a:t>
                </a:r>
              </a:p>
              <a:p>
                <a:r>
                  <a:rPr lang="en-US" dirty="0"/>
                  <a:t>Example 2, does Newton’s method have the quadratic convergence for solving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The root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=±1.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 derivative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=±2≠0.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Newton’s method has the quadratic convergence.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AC6AB-9D64-45F0-A32A-F2884FDB5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380" y="1985962"/>
                <a:ext cx="9596628" cy="4346258"/>
              </a:xfrm>
              <a:blipFill>
                <a:blip r:embed="rId2"/>
                <a:stretch>
                  <a:fillRect l="-953" t="-2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66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989DD-6404-4A1C-8323-401B9DAD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FB630-F6A7-4CD1-B0E0-A4BDFBFFB6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380" y="1985962"/>
                <a:ext cx="9614916" cy="438283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Does Newton’s method have the quadratic convergence for solving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The root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 derivative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dirty="0"/>
                  <a:t>.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Newton’s method loses the quadratic convergence.</a:t>
                </a:r>
              </a:p>
              <a:p>
                <a:r>
                  <a:rPr lang="en-US" dirty="0"/>
                  <a:t>The Newton’s scheme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have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>, which implies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=⋯=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 Newton’s method still converges linearly!</a:t>
                </a:r>
              </a:p>
              <a:p>
                <a:r>
                  <a:rPr lang="en-US" b="1" dirty="0"/>
                  <a:t>Loss of the quadratic convergence does not mean it is diverging!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FB630-F6A7-4CD1-B0E0-A4BDFBFFB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380" y="1985962"/>
                <a:ext cx="9614916" cy="4382834"/>
              </a:xfrm>
              <a:blipFill>
                <a:blip r:embed="rId2"/>
                <a:stretch>
                  <a:fillRect l="-951" t="-2782" r="-824" b="-2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48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989DD-6404-4A1C-8323-401B9DAD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FB630-F6A7-4CD1-B0E0-A4BDFBFFB6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380" y="1985962"/>
                <a:ext cx="9614916" cy="438283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Does Newton’s method have the quadratic convergence for solving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The root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 derivative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dirty="0"/>
                  <a:t>.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𝐷𝑁𝐸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Newton’s method loses the quadratic convergence.</a:t>
                </a:r>
              </a:p>
              <a:p>
                <a:r>
                  <a:rPr lang="en-US" dirty="0"/>
                  <a:t>The Newton’s scheme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 Newton’s method diverges!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FB630-F6A7-4CD1-B0E0-A4BDFBFFB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380" y="1985962"/>
                <a:ext cx="9614916" cy="4382834"/>
              </a:xfrm>
              <a:blipFill>
                <a:blip r:embed="rId2"/>
                <a:stretch>
                  <a:fillRect l="-951" t="-2086" r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837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989DD-6404-4A1C-8323-401B9DAD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FB630-F6A7-4CD1-B0E0-A4BDFBFFB6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380" y="1985962"/>
                <a:ext cx="9614916" cy="438283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Does Newton’s method have the quadratic convergence for solving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We do not have the explicit formula of the root.</a:t>
                </a:r>
                <a:endParaRPr lang="en-US" b="0" dirty="0"/>
              </a:p>
              <a:p>
                <a:r>
                  <a:rPr lang="en-US" dirty="0"/>
                  <a:t>We can rewrite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which implies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Newton’s method loses the quadratic convergence.</a:t>
                </a:r>
              </a:p>
              <a:p>
                <a:r>
                  <a:rPr lang="en-US" dirty="0"/>
                  <a:t>DIY example: Does Newton’s method have the quadratic convergence for solving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𝑥𝑐𝑜𝑠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FB630-F6A7-4CD1-B0E0-A4BDFBFFB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380" y="1985962"/>
                <a:ext cx="9614916" cy="4382834"/>
              </a:xfrm>
              <a:blipFill>
                <a:blip r:embed="rId2"/>
                <a:stretch>
                  <a:fillRect l="-951" t="-2086" r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95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6A6D-9B64-4060-8C94-817AC842A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6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ED6B19-CEF5-48D5-B5EC-8394EFB8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−10=0;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∈[1,2]</m:t>
                    </m:r>
                  </m:oMath>
                </a14:m>
                <a:r>
                  <a:rPr lang="en-US" dirty="0"/>
                  <a:t> by the N</a:t>
                </a:r>
                <a:r>
                  <a:rPr lang="en-US" altLang="zh-CN" dirty="0"/>
                  <a:t>ewton </a:t>
                </a:r>
                <a:r>
                  <a:rPr lang="en-US" dirty="0"/>
                  <a:t>method. How many iterations do you expect such that the error is 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By choosing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ED6B19-CEF5-48D5-B5EC-8394EFB8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6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006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1B1E9-FF8F-88C3-FD89-BE409A603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6E31E6B3-0C9A-2248-C0D7-4C084D015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77" y="1194534"/>
            <a:ext cx="10630446" cy="5054860"/>
          </a:xfrm>
          <a:prstGeom prst="rect">
            <a:avLst/>
          </a:prstGeom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CA0A9EDC-3775-98FD-6126-7ABE3F80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</p:spPr>
        <p:txBody>
          <a:bodyPr/>
          <a:lstStyle/>
          <a:p>
            <a:r>
              <a:rPr lang="en-US" dirty="0"/>
              <a:t>Limitations of N</a:t>
            </a:r>
            <a:r>
              <a:rPr lang="en-US" altLang="zh-CN" dirty="0"/>
              <a:t>ewton’s</a:t>
            </a:r>
            <a:r>
              <a:rPr lang="en-US" dirty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726570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5D2D-2AE2-4392-42DE-31730CE3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BADBEF5-8D89-56B7-0A6B-F6EDFAFDAA3C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80315D-C661-D9C9-590B-2286E64CBC2D}"/>
              </a:ext>
            </a:extLst>
          </p:cNvPr>
          <p:cNvSpPr txBox="1"/>
          <p:nvPr/>
        </p:nvSpPr>
        <p:spPr>
          <a:xfrm>
            <a:off x="1195805" y="1583670"/>
            <a:ext cx="9289875" cy="315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Newton Raphson method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Scant method (quasi-Newton)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2799966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7B474-A1BA-2EF6-0438-FDBF8218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06AF043-5F8C-9E79-8C58-E593D793895A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Question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9C8F25-C0F5-4DD1-149E-D1C50146887B}"/>
              </a:ext>
            </a:extLst>
          </p:cNvPr>
          <p:cNvSpPr txBox="1"/>
          <p:nvPr/>
        </p:nvSpPr>
        <p:spPr>
          <a:xfrm>
            <a:off x="1195805" y="1583670"/>
            <a:ext cx="9289875" cy="207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Newton Raphson method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Secant method 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quasi-Newton</a:t>
            </a:r>
            <a:r>
              <a:rPr lang="zh-CN" altLang="en-US" sz="2800" b="1" dirty="0"/>
              <a:t>）</a:t>
            </a:r>
            <a:endParaRPr lang="en-US" altLang="zh-CN" sz="2800" b="1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724F273B-52A3-E231-C1F0-9D3C08241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03" y="1463574"/>
            <a:ext cx="10560593" cy="393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3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E01B-5C23-C601-ADDF-6B5D37948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5DF8E1ED-FD49-EF63-44FD-F431EA341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10" y="1481612"/>
            <a:ext cx="9334980" cy="457858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C875D93-2A26-04D7-BA8A-F5CB366F0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</p:spPr>
        <p:txBody>
          <a:bodyPr/>
          <a:lstStyle/>
          <a:p>
            <a:r>
              <a:rPr lang="en-US" dirty="0"/>
              <a:t>Scant method	</a:t>
            </a:r>
          </a:p>
        </p:txBody>
      </p:sp>
    </p:spTree>
    <p:extLst>
      <p:ext uri="{BB962C8B-B14F-4D97-AF65-F5344CB8AC3E}">
        <p14:creationId xmlns:p14="http://schemas.microsoft.com/office/powerpoint/2010/main" val="3106549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F05AD-0528-2414-4D9F-50C5281F4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0F39A9-F6BE-E3CB-22E4-3B4510800FC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Summary</a:t>
            </a:r>
            <a:endParaRPr lang="zh-CN" altLang="en-US" sz="3200" dirty="0"/>
          </a:p>
        </p:txBody>
      </p:sp>
      <p:pic>
        <p:nvPicPr>
          <p:cNvPr id="5" name="图片 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5AF14427-C395-A69C-F126-4BC0D2988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19" y="1630739"/>
            <a:ext cx="9950961" cy="415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13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F168E-C43F-8A37-6D54-0366E8784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898909B-0891-0F6B-D853-F488B88414D4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BDBA8D-9003-0B90-8C07-65A95A7EE2C5}"/>
              </a:ext>
            </a:extLst>
          </p:cNvPr>
          <p:cNvSpPr txBox="1"/>
          <p:nvPr/>
        </p:nvSpPr>
        <p:spPr>
          <a:xfrm>
            <a:off x="1195805" y="1583670"/>
            <a:ext cx="9289875" cy="315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Newton Raphson method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Scant method (quasi-Newton)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Systems of non-linear equations</a:t>
            </a:r>
          </a:p>
        </p:txBody>
      </p:sp>
    </p:spTree>
    <p:extLst>
      <p:ext uri="{BB962C8B-B14F-4D97-AF65-F5344CB8AC3E}">
        <p14:creationId xmlns:p14="http://schemas.microsoft.com/office/powerpoint/2010/main" val="2019393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DB77-F62D-0D4F-0A3E-A8C54D2C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904F9-B82C-F2F5-F014-981FAE346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838" y="1353027"/>
            <a:ext cx="9352332" cy="2148840"/>
          </a:xfrm>
        </p:spPr>
        <p:txBody>
          <a:bodyPr/>
          <a:lstStyle/>
          <a:p>
            <a:r>
              <a:rPr lang="en-US" dirty="0"/>
              <a:t>A system of nonlinear equations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86EED-CCF1-0D42-4BBB-534581BA4E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9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8C05-2BE7-30C4-D97D-F35B786A7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B3445-4E2E-4D35-7715-94230433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FF60D-5C28-4906-3AC5-C44E49989F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consider a system of nonlinear equations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1=0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−1=0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 general, a system of nonlinear equations </a:t>
                </a:r>
              </a:p>
              <a:p>
                <a:pPr marL="0" indent="0">
                  <a:buNone/>
                </a:pPr>
                <a:r>
                  <a:rPr lang="en-US" dirty="0"/>
                  <a:t>can be written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DB322F-678D-40C7-9C63-01976EEBD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B917C83-DE04-FFCF-0776-13156BFC2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894" y="2645472"/>
            <a:ext cx="3926929" cy="360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3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BC4D4-E98C-C6BC-3F81-7A31C7D1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1BB9A-EB0A-4D97-D229-4D49BB29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Bisection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C2942-96E2-FB49-3A2F-5809F5FB28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394" y="1595976"/>
                <a:ext cx="9464040" cy="3916204"/>
              </a:xfrm>
            </p:spPr>
            <p:txBody>
              <a:bodyPr/>
              <a:lstStyle/>
              <a:p>
                <a:r>
                  <a:rPr lang="en-US" dirty="0"/>
                  <a:t>The computation cost becomes very expensive!</a:t>
                </a:r>
              </a:p>
              <a:p>
                <a:r>
                  <a:rPr lang="en-US" dirty="0"/>
                  <a:t>Search on the n-dimensional space is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C2942-96E2-FB49-3A2F-5809F5FB28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394" y="1595976"/>
                <a:ext cx="9464040" cy="3916204"/>
              </a:xfrm>
              <a:blipFill>
                <a:blip r:embed="rId2"/>
                <a:stretch>
                  <a:fillRect l="-966" t="-2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4E055F-232F-9431-F4A6-BC42D5AD3FEA}"/>
              </a:ext>
            </a:extLst>
          </p:cNvPr>
          <p:cNvCxnSpPr/>
          <p:nvPr/>
        </p:nvCxnSpPr>
        <p:spPr>
          <a:xfrm>
            <a:off x="2631492" y="5761983"/>
            <a:ext cx="5582554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F8E7D0-DE86-413A-68CE-AB199EE7F569}"/>
              </a:ext>
            </a:extLst>
          </p:cNvPr>
          <p:cNvCxnSpPr>
            <a:cxnSpLocks/>
          </p:cNvCxnSpPr>
          <p:nvPr/>
        </p:nvCxnSpPr>
        <p:spPr>
          <a:xfrm flipV="1">
            <a:off x="2631492" y="2776001"/>
            <a:ext cx="0" cy="300175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58EF09B-EDBD-6856-6A81-CFBE96BF71BA}"/>
              </a:ext>
            </a:extLst>
          </p:cNvPr>
          <p:cNvSpPr txBox="1"/>
          <p:nvPr/>
        </p:nvSpPr>
        <p:spPr>
          <a:xfrm>
            <a:off x="3710029" y="5806059"/>
            <a:ext cx="548789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20" dirty="0"/>
              <a:t>a                                            b                                     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DBFEA9-4DD6-292E-5187-19670A0FB628}"/>
              </a:ext>
            </a:extLst>
          </p:cNvPr>
          <p:cNvSpPr txBox="1"/>
          <p:nvPr/>
        </p:nvSpPr>
        <p:spPr>
          <a:xfrm>
            <a:off x="2267724" y="2935587"/>
            <a:ext cx="363768" cy="2336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20" dirty="0"/>
              <a:t>y</a:t>
            </a:r>
          </a:p>
          <a:p>
            <a:endParaRPr lang="en-US" sz="1620" dirty="0"/>
          </a:p>
          <a:p>
            <a:endParaRPr lang="en-US" sz="1620" dirty="0"/>
          </a:p>
          <a:p>
            <a:r>
              <a:rPr lang="en-US" sz="1620" dirty="0"/>
              <a:t>c</a:t>
            </a:r>
          </a:p>
          <a:p>
            <a:endParaRPr lang="en-US" sz="1620" dirty="0"/>
          </a:p>
          <a:p>
            <a:endParaRPr lang="en-US" sz="1620" dirty="0"/>
          </a:p>
          <a:p>
            <a:endParaRPr lang="en-US" sz="1620" dirty="0"/>
          </a:p>
          <a:p>
            <a:endParaRPr lang="en-US" sz="1620" dirty="0"/>
          </a:p>
          <a:p>
            <a:r>
              <a:rPr lang="en-US" sz="1620" dirty="0"/>
              <a:t>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C5ACC-39EC-9D2D-6FDF-1F728FADD52A}"/>
              </a:ext>
            </a:extLst>
          </p:cNvPr>
          <p:cNvCxnSpPr/>
          <p:nvPr/>
        </p:nvCxnSpPr>
        <p:spPr>
          <a:xfrm>
            <a:off x="2631493" y="3813645"/>
            <a:ext cx="3361803" cy="0"/>
          </a:xfrm>
          <a:prstGeom prst="line">
            <a:avLst/>
          </a:prstGeom>
          <a:ln w="12700">
            <a:solidFill>
              <a:schemeClr val="accent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A29BE3-82BE-971E-F6C5-6374A62DB50F}"/>
              </a:ext>
            </a:extLst>
          </p:cNvPr>
          <p:cNvCxnSpPr/>
          <p:nvPr/>
        </p:nvCxnSpPr>
        <p:spPr>
          <a:xfrm>
            <a:off x="2631493" y="5077902"/>
            <a:ext cx="336180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9308FC-169D-CB3C-6B4A-74E0C602DEFD}"/>
              </a:ext>
            </a:extLst>
          </p:cNvPr>
          <p:cNvCxnSpPr>
            <a:cxnSpLocks/>
          </p:cNvCxnSpPr>
          <p:nvPr/>
        </p:nvCxnSpPr>
        <p:spPr>
          <a:xfrm>
            <a:off x="3788407" y="3813645"/>
            <a:ext cx="0" cy="1948338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92970BA-60D4-DE3E-34A1-46A1D7C22A0C}"/>
              </a:ext>
            </a:extLst>
          </p:cNvPr>
          <p:cNvCxnSpPr>
            <a:cxnSpLocks/>
          </p:cNvCxnSpPr>
          <p:nvPr/>
        </p:nvCxnSpPr>
        <p:spPr>
          <a:xfrm>
            <a:off x="5974021" y="3813645"/>
            <a:ext cx="0" cy="1948338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57D180-9A33-A7E0-2B76-4EE8030CD7AE}"/>
              </a:ext>
            </a:extLst>
          </p:cNvPr>
          <p:cNvCxnSpPr/>
          <p:nvPr/>
        </p:nvCxnSpPr>
        <p:spPr>
          <a:xfrm>
            <a:off x="3788407" y="4520317"/>
            <a:ext cx="2204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F254E2D-A960-F38F-6D06-2894D25CB8F2}"/>
              </a:ext>
            </a:extLst>
          </p:cNvPr>
          <p:cNvCxnSpPr>
            <a:cxnSpLocks/>
          </p:cNvCxnSpPr>
          <p:nvPr/>
        </p:nvCxnSpPr>
        <p:spPr>
          <a:xfrm flipV="1">
            <a:off x="4855869" y="3802780"/>
            <a:ext cx="0" cy="1275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1661AFE-8A92-9732-3C57-DAC0682B9A8D}"/>
              </a:ext>
            </a:extLst>
          </p:cNvPr>
          <p:cNvSpPr/>
          <p:nvPr/>
        </p:nvSpPr>
        <p:spPr>
          <a:xfrm>
            <a:off x="4812528" y="4484540"/>
            <a:ext cx="105949" cy="894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</p:spTree>
    <p:extLst>
      <p:ext uri="{BB962C8B-B14F-4D97-AF65-F5344CB8AC3E}">
        <p14:creationId xmlns:p14="http://schemas.microsoft.com/office/powerpoint/2010/main" val="47685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57F7E-E61A-433E-16B0-A27DECA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5880-6EB5-DFA0-EFA0-43EF464C0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point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7B513-44B2-F0CD-593E-A1A25EF5B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n-dimensional system of nonlinear equations, it is very difficult to construct the fixed point function.</a:t>
            </a:r>
          </a:p>
        </p:txBody>
      </p:sp>
    </p:spTree>
    <p:extLst>
      <p:ext uri="{BB962C8B-B14F-4D97-AF65-F5344CB8AC3E}">
        <p14:creationId xmlns:p14="http://schemas.microsoft.com/office/powerpoint/2010/main" val="3445378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DF678-49A2-F9F7-5D3F-13C40B13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FD62F-28DC-EF41-20D0-11FC7FB3F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3DDCEA-479D-F556-28C2-D9D26CA460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379" y="1985963"/>
                <a:ext cx="9695298" cy="420052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Newton’s scheme for a system of nonlinear equations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called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Jacobian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matrix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Newton’s method has the quadratic convergence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is nonsingular.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is nonsingular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3DDCEA-479D-F556-28C2-D9D26CA460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379" y="1985963"/>
                <a:ext cx="9695298" cy="4200525"/>
              </a:xfrm>
              <a:blipFill>
                <a:blip r:embed="rId2"/>
                <a:stretch>
                  <a:fillRect l="-943" t="-2467" b="-1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90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CA752-CFA5-E499-5298-1C483F06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6642-CC0B-DAAC-D914-6359B7AF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2D961A-EFD6-9905-D6B7-E4B5BB6E8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Write down the Newton’s scheme for solving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1=0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Does it have the quadratic convergence?</a:t>
                </a:r>
              </a:p>
              <a:p>
                <a:pPr marL="0" indent="0">
                  <a:buNone/>
                </a:pPr>
                <a:r>
                  <a:rPr lang="en-US" dirty="0"/>
                  <a:t>The Jacobian matrix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Then the Newton’s scheme reads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B6A6A-5839-41AD-8ED5-3A59B89A6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99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5C59-5338-5271-670F-14AE2C1C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E0BE7-83E6-8280-E7F8-C62F81412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83A168-1991-7BAF-4FC7-F7314AAA3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Does it have the quadratic convergence?</a:t>
                </a:r>
              </a:p>
              <a:p>
                <a:pPr marL="0" indent="0">
                  <a:buNone/>
                </a:pPr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brk m:alnAt="7"/>
                      </m:rP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brk m:alnAt="7"/>
                      </m:rP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1=0</m:t>
                    </m:r>
                  </m:oMath>
                </a14:m>
                <a:r>
                  <a:rPr lang="en-US" dirty="0"/>
                  <a:t>, we have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−1=0⇒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Thus the roots are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 </m:t>
                    </m:r>
                  </m:oMath>
                </a14:m>
                <a:r>
                  <a:rPr lang="en-US" dirty="0"/>
                  <a:t>for both of them. Therefore the Newton’s method has the quadratic convergence.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B6A6A-5839-41AD-8ED5-3A59B89A6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66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197A1-AFCC-3070-85EF-7A71D57E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513B-2C7B-FDE4-8AA4-636D97FE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1EA62-5122-D635-08A3-B4A58F7348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Write down the Newton’s scheme for solving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Does it have the quadratic convergence?</a:t>
                </a:r>
              </a:p>
              <a:p>
                <a:pPr marL="0" indent="0">
                  <a:buNone/>
                </a:pPr>
                <a:r>
                  <a:rPr lang="en-US" dirty="0"/>
                  <a:t>The Jacobian matrix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Then the Newton’s scheme reads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B6A6A-5839-41AD-8ED5-3A59B89A6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83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82CD-8258-0604-AA85-0E38C786D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A744-8960-E2EA-667C-12AB35AF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5BB043-174F-9ED4-14F4-6BDC935660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Does it have the quadratic convergence?</a:t>
                </a:r>
              </a:p>
              <a:p>
                <a:pPr marL="0" indent="0">
                  <a:buNone/>
                </a:pPr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brk m:alnAt="7"/>
                      </m:rP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we have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Thus the roots are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Therefore the Newton’s method loses the quadratic convergence.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B6A6A-5839-41AD-8ED5-3A59B89A6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821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BA09F-2107-4CB8-45EE-6C87657D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文本, 信件&#10;&#10;AI 生成的内容可能不正确。">
            <a:extLst>
              <a:ext uri="{FF2B5EF4-FFF2-40B4-BE49-F238E27FC236}">
                <a16:creationId xmlns:a16="http://schemas.microsoft.com/office/drawing/2014/main" id="{237BCCB5-23FD-8518-9296-A27AE05F1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13" y="1177651"/>
            <a:ext cx="10351032" cy="531522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18CE02-4211-CA2D-E7F1-A5D9CC08F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</p:spPr>
        <p:txBody>
          <a:bodyPr/>
          <a:lstStyle/>
          <a:p>
            <a:r>
              <a:rPr lang="en-US" dirty="0"/>
              <a:t>Systems of non-linear equations	</a:t>
            </a:r>
          </a:p>
        </p:txBody>
      </p:sp>
    </p:spTree>
    <p:extLst>
      <p:ext uri="{BB962C8B-B14F-4D97-AF65-F5344CB8AC3E}">
        <p14:creationId xmlns:p14="http://schemas.microsoft.com/office/powerpoint/2010/main" val="3572099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2CC8-1D76-A840-A849-038311155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文本, 信件&#10;&#10;AI 生成的内容可能不正确。">
            <a:extLst>
              <a:ext uri="{FF2B5EF4-FFF2-40B4-BE49-F238E27FC236}">
                <a16:creationId xmlns:a16="http://schemas.microsoft.com/office/drawing/2014/main" id="{BFBDFF18-540E-7528-06D7-4FD542A6F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24" y="844607"/>
            <a:ext cx="10370083" cy="5855001"/>
          </a:xfrm>
          <a:prstGeom prst="rect">
            <a:avLst/>
          </a:prstGeo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7B0F275C-8944-6C32-CA66-DB58C8B31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23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18-B158-0090-6723-4A064D9B5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4E21B1F-F878-4655-7A52-06F47F86A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/>
              <a:t>Example 	</a:t>
            </a:r>
          </a:p>
        </p:txBody>
      </p:sp>
      <p:pic>
        <p:nvPicPr>
          <p:cNvPr id="4" name="图片 3" descr="图形用户界面, 文本&#10;&#10;AI 生成的内容可能不正确。">
            <a:extLst>
              <a:ext uri="{FF2B5EF4-FFF2-40B4-BE49-F238E27FC236}">
                <a16:creationId xmlns:a16="http://schemas.microsoft.com/office/drawing/2014/main" id="{0E31B189-1A9B-71A3-9D6F-4017323B8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27" y="1483955"/>
            <a:ext cx="10142145" cy="483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04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A01E3-20D2-CC42-7001-09FE6FBD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78D225-380E-C204-62E4-F33DF46C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/>
              <a:t>Extending the secant method	</a:t>
            </a:r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C4D8473E-31C3-5D7E-3EB3-6575E2B13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62" y="1133216"/>
            <a:ext cx="9464040" cy="498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346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4F8A2-D76E-F29F-BE39-1D65E14A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1F7C3D3-6408-9F6F-A17A-15F4F6C5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 err="1"/>
              <a:t>Broyden</a:t>
            </a:r>
            <a:r>
              <a:rPr lang="en-US" dirty="0"/>
              <a:t>  method	</a:t>
            </a:r>
          </a:p>
        </p:txBody>
      </p:sp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6C7BA54C-7A77-56B1-CD94-B743A8010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13" y="1212299"/>
            <a:ext cx="9811126" cy="489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36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7E5B9-1D23-521A-FEC9-29E53DCE8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D854F78-CBAA-9DF8-F1C5-4A7B2CC82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 err="1"/>
              <a:t>Broyden</a:t>
            </a:r>
            <a:r>
              <a:rPr lang="en-US" dirty="0"/>
              <a:t>  method	</a:t>
            </a:r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5D3B370B-079B-1590-488B-8C1DE36B6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89" y="1357117"/>
            <a:ext cx="10119653" cy="494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71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83A2-4465-EE89-47B8-434861E0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63C07BB-C851-085E-02EA-79FDF32BE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 err="1"/>
              <a:t>Broyden</a:t>
            </a:r>
            <a:r>
              <a:rPr lang="en-US" dirty="0"/>
              <a:t>  method	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3DFB8430-3DD8-DB04-BD34-6ADAF8CDD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80" y="1235880"/>
            <a:ext cx="9806244" cy="517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923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54E4-846B-2A5F-D9E0-3CC533AD7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B7380C9-54E9-5771-B111-4784B0B2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</p:spPr>
        <p:txBody>
          <a:bodyPr/>
          <a:lstStyle/>
          <a:p>
            <a:r>
              <a:rPr lang="en-US" dirty="0"/>
              <a:t>Example 	</a:t>
            </a:r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C66A92A5-E00A-77BA-A560-76835D0DA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33" y="1385122"/>
            <a:ext cx="9704182" cy="483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295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692D-E11E-C9E8-BB45-520961429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F101867-BF03-F5C0-5741-354B2521F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/>
              <a:t>Example 	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AB8498A5-BBE6-FCF6-2DBA-4C1E0D503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21" y="1332274"/>
            <a:ext cx="9874757" cy="47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63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CA7A8-A891-A7E3-3312-FB95D5850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B21A29B-3D70-E8EE-A9D1-5EEF6D53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58392"/>
            <a:ext cx="9464040" cy="1325563"/>
          </a:xfrm>
        </p:spPr>
        <p:txBody>
          <a:bodyPr/>
          <a:lstStyle/>
          <a:p>
            <a:r>
              <a:rPr lang="en-US" dirty="0"/>
              <a:t>Example 1	</a:t>
            </a:r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9C7738FD-B297-9900-BA4E-10BC816AE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06" y="1368748"/>
            <a:ext cx="10084318" cy="462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953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448</TotalTime>
  <Words>1241</Words>
  <Application>Microsoft Office PowerPoint</Application>
  <PresentationFormat>自定义</PresentationFormat>
  <Paragraphs>178</Paragraphs>
  <Slides>39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5" baseType="lpstr">
      <vt:lpstr>SimSun</vt:lpstr>
      <vt:lpstr>Aptos</vt:lpstr>
      <vt:lpstr>Aptos Display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Newton’s method</vt:lpstr>
      <vt:lpstr>Motivation</vt:lpstr>
      <vt:lpstr>Newton’s method</vt:lpstr>
      <vt:lpstr>Example 1</vt:lpstr>
      <vt:lpstr>Error estimate</vt:lpstr>
      <vt:lpstr>Quadratic convergence condition</vt:lpstr>
      <vt:lpstr>Example 3 </vt:lpstr>
      <vt:lpstr>Example 4 </vt:lpstr>
      <vt:lpstr>Example 5 </vt:lpstr>
      <vt:lpstr>Example 6</vt:lpstr>
      <vt:lpstr>Limitations of Newton’s method</vt:lpstr>
      <vt:lpstr>PowerPoint 演示文稿</vt:lpstr>
      <vt:lpstr>PowerPoint 演示文稿</vt:lpstr>
      <vt:lpstr>Scant method </vt:lpstr>
      <vt:lpstr>PowerPoint 演示文稿</vt:lpstr>
      <vt:lpstr>PowerPoint 演示文稿</vt:lpstr>
      <vt:lpstr>A system of nonlinear equations</vt:lpstr>
      <vt:lpstr>Motivation</vt:lpstr>
      <vt:lpstr>Bisection method</vt:lpstr>
      <vt:lpstr>Fixed point method</vt:lpstr>
      <vt:lpstr>Newton’s method</vt:lpstr>
      <vt:lpstr>Example 1</vt:lpstr>
      <vt:lpstr>Example 1</vt:lpstr>
      <vt:lpstr>Example 2</vt:lpstr>
      <vt:lpstr>Example 2</vt:lpstr>
      <vt:lpstr>Systems of non-linear equations </vt:lpstr>
      <vt:lpstr>PowerPoint 演示文稿</vt:lpstr>
      <vt:lpstr>Example  </vt:lpstr>
      <vt:lpstr>Extending the secant method </vt:lpstr>
      <vt:lpstr>Broyden  method </vt:lpstr>
      <vt:lpstr>Broyden  method </vt:lpstr>
      <vt:lpstr>Broyden  method </vt:lpstr>
      <vt:lpstr>Example  </vt:lpstr>
      <vt:lpstr>Example  </vt:lpstr>
      <vt:lpstr>Example 1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Chuqi</dc:creator>
  <cp:lastModifiedBy>CHEN Chuqi</cp:lastModifiedBy>
  <cp:revision>2</cp:revision>
  <dcterms:created xsi:type="dcterms:W3CDTF">2026-01-20T21:53:37Z</dcterms:created>
  <dcterms:modified xsi:type="dcterms:W3CDTF">2026-01-21T05:21:47Z</dcterms:modified>
</cp:coreProperties>
</file>