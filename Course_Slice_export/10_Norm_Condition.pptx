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6"/>
  </p:notesMasterIdLst>
  <p:sldIdLst>
    <p:sldId id="259" r:id="rId2"/>
    <p:sldId id="451" r:id="rId3"/>
    <p:sldId id="510" r:id="rId4"/>
    <p:sldId id="431" r:id="rId5"/>
    <p:sldId id="493" r:id="rId6"/>
    <p:sldId id="479" r:id="rId7"/>
    <p:sldId id="494" r:id="rId8"/>
    <p:sldId id="495" r:id="rId9"/>
    <p:sldId id="496" r:id="rId10"/>
    <p:sldId id="497" r:id="rId11"/>
    <p:sldId id="482" r:id="rId12"/>
    <p:sldId id="488" r:id="rId13"/>
    <p:sldId id="338" r:id="rId14"/>
    <p:sldId id="339" r:id="rId15"/>
    <p:sldId id="498" r:id="rId16"/>
    <p:sldId id="499" r:id="rId17"/>
    <p:sldId id="489" r:id="rId18"/>
    <p:sldId id="490" r:id="rId19"/>
    <p:sldId id="491" r:id="rId20"/>
    <p:sldId id="492" r:id="rId21"/>
    <p:sldId id="500" r:id="rId22"/>
    <p:sldId id="503" r:id="rId23"/>
    <p:sldId id="502" r:id="rId24"/>
    <p:sldId id="501" r:id="rId25"/>
    <p:sldId id="504" r:id="rId26"/>
    <p:sldId id="505" r:id="rId27"/>
    <p:sldId id="506" r:id="rId28"/>
    <p:sldId id="507" r:id="rId29"/>
    <p:sldId id="508" r:id="rId30"/>
    <p:sldId id="509" r:id="rId31"/>
    <p:sldId id="511" r:id="rId32"/>
    <p:sldId id="512" r:id="rId33"/>
    <p:sldId id="513" r:id="rId34"/>
    <p:sldId id="514" r:id="rId35"/>
  </p:sldIdLst>
  <p:sldSz cx="109728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4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1116" y="102"/>
      </p:cViewPr>
      <p:guideLst>
        <p:guide orient="horz" pos="2184"/>
        <p:guide pos="34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A6E0AF-CF27-4EBF-95FD-353059CD1339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A30F0E-DC3D-4285-B4EF-5163287D26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125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C77138-3BC2-4722-8FB5-C522C73BB87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5422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122363"/>
            <a:ext cx="82296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02038"/>
            <a:ext cx="8229600" cy="1655762"/>
          </a:xfrm>
        </p:spPr>
        <p:txBody>
          <a:bodyPr/>
          <a:lstStyle>
            <a:lvl1pPr marL="0" indent="0" algn="ctr">
              <a:buNone/>
              <a:defRPr sz="2160"/>
            </a:lvl1pPr>
            <a:lvl2pPr marL="411480" indent="0" algn="ctr">
              <a:buNone/>
              <a:defRPr sz="1800"/>
            </a:lvl2pPr>
            <a:lvl3pPr marL="822960" indent="0" algn="ctr">
              <a:buNone/>
              <a:defRPr sz="1620"/>
            </a:lvl3pPr>
            <a:lvl4pPr marL="1234440" indent="0" algn="ctr">
              <a:buNone/>
              <a:defRPr sz="1440"/>
            </a:lvl4pPr>
            <a:lvl5pPr marL="1645920" indent="0" algn="ctr">
              <a:buNone/>
              <a:defRPr sz="1440"/>
            </a:lvl5pPr>
            <a:lvl6pPr marL="2057400" indent="0" algn="ctr">
              <a:buNone/>
              <a:defRPr sz="1440"/>
            </a:lvl6pPr>
            <a:lvl7pPr marL="2468880" indent="0" algn="ctr">
              <a:buNone/>
              <a:defRPr sz="1440"/>
            </a:lvl7pPr>
            <a:lvl8pPr marL="2880360" indent="0" algn="ctr">
              <a:buNone/>
              <a:defRPr sz="1440"/>
            </a:lvl8pPr>
            <a:lvl9pPr marL="3291840" indent="0" algn="ctr">
              <a:buNone/>
              <a:defRPr sz="144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12B01-1403-42A1-9DED-A8A821F83A9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07862-8342-4B19-820B-F9A591915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105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12B01-1403-42A1-9DED-A8A821F83A9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07862-8342-4B19-820B-F9A591915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651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8665" y="1709739"/>
            <a:ext cx="9464040" cy="285273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8665" y="4589464"/>
            <a:ext cx="9464040" cy="1500187"/>
          </a:xfrm>
        </p:spPr>
        <p:txBody>
          <a:bodyPr/>
          <a:lstStyle>
            <a:lvl1pPr marL="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1pPr>
            <a:lvl2pPr marL="41148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2pPr>
            <a:lvl3pPr marL="822960" indent="0">
              <a:buNone/>
              <a:defRPr sz="1620">
                <a:solidFill>
                  <a:schemeClr val="tx1">
                    <a:tint val="82000"/>
                  </a:schemeClr>
                </a:solidFill>
              </a:defRPr>
            </a:lvl3pPr>
            <a:lvl4pPr marL="123444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4pPr>
            <a:lvl5pPr marL="164592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5pPr>
            <a:lvl6pPr marL="205740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6pPr>
            <a:lvl7pPr marL="246888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7pPr>
            <a:lvl8pPr marL="288036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8pPr>
            <a:lvl9pPr marL="329184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12B01-1403-42A1-9DED-A8A821F83A9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07862-8342-4B19-820B-F9A591915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136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4380" y="1825625"/>
            <a:ext cx="466344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54980" y="1825625"/>
            <a:ext cx="466344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12B01-1403-42A1-9DED-A8A821F83A9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07862-8342-4B19-820B-F9A591915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865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09" y="365126"/>
            <a:ext cx="946404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5810" y="1681163"/>
            <a:ext cx="4642008" cy="82391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5810" y="2505075"/>
            <a:ext cx="464200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54980" y="1681163"/>
            <a:ext cx="4664869" cy="82391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54980" y="2505075"/>
            <a:ext cx="4664869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12B01-1403-42A1-9DED-A8A821F83A9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07862-8342-4B19-820B-F9A591915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822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12B01-1403-42A1-9DED-A8A821F83A9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07862-8342-4B19-820B-F9A591915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350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12B01-1403-42A1-9DED-A8A821F83A9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07862-8342-4B19-820B-F9A591915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36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10" y="457200"/>
            <a:ext cx="3539013" cy="160020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4869" y="987426"/>
            <a:ext cx="5554980" cy="4873625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10" y="2057400"/>
            <a:ext cx="3539013" cy="3811588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12B01-1403-42A1-9DED-A8A821F83A9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07862-8342-4B19-820B-F9A591915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51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10" y="457200"/>
            <a:ext cx="3539013" cy="160020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664869" y="987426"/>
            <a:ext cx="5554980" cy="4873625"/>
          </a:xfrm>
        </p:spPr>
        <p:txBody>
          <a:bodyPr anchor="t"/>
          <a:lstStyle>
            <a:lvl1pPr marL="0" indent="0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10" y="2057400"/>
            <a:ext cx="3539013" cy="3811588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12B01-1403-42A1-9DED-A8A821F83A9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07862-8342-4B19-820B-F9A591915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82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12B01-1403-42A1-9DED-A8A821F83A9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07862-8342-4B19-820B-F9A591915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701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52410" y="365125"/>
            <a:ext cx="236601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4380" y="365125"/>
            <a:ext cx="696087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12B01-1403-42A1-9DED-A8A821F83A9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07862-8342-4B19-820B-F9A591915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631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365126"/>
            <a:ext cx="94640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1825625"/>
            <a:ext cx="946404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6356351"/>
            <a:ext cx="24688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912B01-1403-42A1-9DED-A8A821F83A9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4740" y="6356351"/>
            <a:ext cx="37033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49540" y="6356351"/>
            <a:ext cx="24688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F07862-8342-4B19-820B-F9A591915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570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22960" rtl="0" eaLnBrk="1" latinLnBrk="0" hangingPunct="1">
        <a:lnSpc>
          <a:spcPct val="90000"/>
        </a:lnSpc>
        <a:spcBef>
          <a:spcPct val="0"/>
        </a:spcBef>
        <a:buNone/>
        <a:defRPr sz="3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5740" indent="-205740" algn="l" defTabSz="82296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172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85166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2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14.png"/><Relationship Id="rId7" Type="http://schemas.openxmlformats.org/officeDocument/2006/relationships/image" Target="../media/image15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60.png"/><Relationship Id="rId4" Type="http://schemas.openxmlformats.org/officeDocument/2006/relationships/image" Target="../media/image5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w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5.png"/><Relationship Id="rId7" Type="http://schemas.openxmlformats.org/officeDocument/2006/relationships/image" Target="../media/image37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2.png"/><Relationship Id="rId4" Type="http://schemas.openxmlformats.org/officeDocument/2006/relationships/image" Target="../media/image36.png"/><Relationship Id="rId9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7A6B394-0A1E-964E-C6AF-CFE9D3A0C996}"/>
              </a:ext>
            </a:extLst>
          </p:cNvPr>
          <p:cNvSpPr/>
          <p:nvPr/>
        </p:nvSpPr>
        <p:spPr>
          <a:xfrm>
            <a:off x="141149" y="1925961"/>
            <a:ext cx="10690502" cy="1447976"/>
          </a:xfrm>
          <a:prstGeom prst="rect">
            <a:avLst/>
          </a:prstGeom>
          <a:solidFill>
            <a:srgbClr val="002060"/>
          </a:solidFill>
          <a:ln cap="rnd">
            <a:rou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400" dirty="0">
                <a:sym typeface="+mn-ea"/>
              </a:rPr>
              <a:t>MATH417 L10</a:t>
            </a:r>
            <a:endParaRPr lang="zh-CN" altLang="en-US" sz="4400" b="1" dirty="0">
              <a:ln w="10160" cap="rnd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SimSun" pitchFamily="2" charset="-122"/>
              <a:ea typeface="SimSun" pitchFamily="2" charset="-122"/>
            </a:endParaRPr>
          </a:p>
        </p:txBody>
      </p:sp>
      <p:sp>
        <p:nvSpPr>
          <p:cNvPr id="7" name="副标题 2">
            <a:extLst>
              <a:ext uri="{FF2B5EF4-FFF2-40B4-BE49-F238E27FC236}">
                <a16:creationId xmlns:a16="http://schemas.microsoft.com/office/drawing/2014/main" id="{809EFE95-7FCC-662D-168E-BFE3A96CF9ED}"/>
              </a:ext>
            </a:extLst>
          </p:cNvPr>
          <p:cNvSpPr>
            <a:spLocks noGrp="1"/>
          </p:cNvSpPr>
          <p:nvPr>
            <p:ph type="subTitle" idx="1"/>
            <p:custDataLst>
              <p:tags r:id="rId1"/>
            </p:custDataLst>
          </p:nvPr>
        </p:nvSpPr>
        <p:spPr>
          <a:xfrm>
            <a:off x="586740" y="3741415"/>
            <a:ext cx="9799320" cy="2114550"/>
          </a:xfrm>
        </p:spPr>
        <p:txBody>
          <a:bodyPr>
            <a:noAutofit/>
          </a:bodyPr>
          <a:lstStyle/>
          <a:p>
            <a:r>
              <a:rPr lang="en-US" altLang="zh-CN" sz="2800" dirty="0"/>
              <a:t>Chuqi CHEN</a:t>
            </a:r>
          </a:p>
          <a:p>
            <a:endParaRPr lang="en-US" altLang="zh-CN" sz="2000" dirty="0"/>
          </a:p>
          <a:p>
            <a:r>
              <a:rPr lang="en-US" altLang="zh-CN" dirty="0"/>
              <a:t>February 4, 2026</a:t>
            </a:r>
          </a:p>
        </p:txBody>
      </p:sp>
      <p:pic>
        <p:nvPicPr>
          <p:cNvPr id="8" name="Picture 6" descr="University of Michigan Logo and symbol, meaning, history, PNG, brand">
            <a:extLst>
              <a:ext uri="{FF2B5EF4-FFF2-40B4-BE49-F238E27FC236}">
                <a16:creationId xmlns:a16="http://schemas.microsoft.com/office/drawing/2014/main" id="{AA367B7F-C39E-3B5E-C389-F615176993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3045" y="5754936"/>
            <a:ext cx="1969757" cy="110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4539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16A5F-012D-C092-A6C8-99317E4DF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74FFCB3-44BA-BEDD-F72F-98C72ADB1EC5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200" dirty="0"/>
              <a:t>Warm up</a:t>
            </a:r>
            <a:endParaRPr lang="zh-CN" altLang="en-US" sz="3200" dirty="0"/>
          </a:p>
        </p:txBody>
      </p:sp>
      <p:sp>
        <p:nvSpPr>
          <p:cNvPr id="4" name="文本框 5">
            <a:extLst>
              <a:ext uri="{FF2B5EF4-FFF2-40B4-BE49-F238E27FC236}">
                <a16:creationId xmlns:a16="http://schemas.microsoft.com/office/drawing/2014/main" id="{33756F85-1F6A-39A8-25D9-630A1F815EF4}"/>
              </a:ext>
            </a:extLst>
          </p:cNvPr>
          <p:cNvSpPr txBox="1"/>
          <p:nvPr/>
        </p:nvSpPr>
        <p:spPr>
          <a:xfrm>
            <a:off x="846896" y="5522424"/>
            <a:ext cx="43193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Homework 2: due dat</a:t>
            </a:r>
            <a:r>
              <a:rPr lang="en-US" altLang="zh-CN" sz="2400" b="1" dirty="0"/>
              <a:t>e</a:t>
            </a:r>
            <a:r>
              <a:rPr lang="en-US" sz="2400" b="1" dirty="0"/>
              <a:t>: </a:t>
            </a:r>
            <a:r>
              <a:rPr lang="en-US" sz="2400" b="1" dirty="0">
                <a:highlight>
                  <a:srgbClr val="FFFF00"/>
                </a:highlight>
              </a:rPr>
              <a:t>02/18</a:t>
            </a:r>
          </a:p>
          <a:p>
            <a:r>
              <a:rPr lang="en-US" sz="2400" b="1" dirty="0"/>
              <a:t>H</a:t>
            </a:r>
            <a:r>
              <a:rPr lang="en-US" altLang="zh-CN" sz="2400" b="1" dirty="0"/>
              <a:t>omework 3: due date: 03/10</a:t>
            </a:r>
            <a:r>
              <a:rPr lang="en-US" sz="2400" b="1" dirty="0"/>
              <a:t> </a:t>
            </a:r>
          </a:p>
        </p:txBody>
      </p:sp>
      <p:sp>
        <p:nvSpPr>
          <p:cNvPr id="5" name="文本框 5">
            <a:extLst>
              <a:ext uri="{FF2B5EF4-FFF2-40B4-BE49-F238E27FC236}">
                <a16:creationId xmlns:a16="http://schemas.microsoft.com/office/drawing/2014/main" id="{40482289-56A2-4FEF-D49B-69FCC6FFF805}"/>
              </a:ext>
            </a:extLst>
          </p:cNvPr>
          <p:cNvSpPr txBox="1"/>
          <p:nvPr/>
        </p:nvSpPr>
        <p:spPr>
          <a:xfrm>
            <a:off x="846896" y="1858246"/>
            <a:ext cx="74994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O</a:t>
            </a:r>
            <a:r>
              <a:rPr lang="en-US" altLang="zh-CN" sz="2400" b="1" dirty="0"/>
              <a:t>ffice Hour</a:t>
            </a:r>
            <a:r>
              <a:rPr lang="zh-CN" altLang="en-US" sz="2400" b="1" dirty="0"/>
              <a:t>： </a:t>
            </a:r>
            <a:r>
              <a:rPr lang="en-US" altLang="zh-CN" sz="2400" b="1" dirty="0"/>
              <a:t>by appointment 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cchenck@umich.edu</a:t>
            </a:r>
            <a:endParaRPr lang="en-US" sz="2400" b="1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CC6CC4D-49B9-1EB2-90D2-7786FF79A5B4}"/>
              </a:ext>
            </a:extLst>
          </p:cNvPr>
          <p:cNvSpPr txBox="1"/>
          <p:nvPr/>
        </p:nvSpPr>
        <p:spPr>
          <a:xfrm>
            <a:off x="846896" y="2929323"/>
            <a:ext cx="88824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Recording course for Wed.   </a:t>
            </a:r>
            <a:r>
              <a:rPr lang="zh-CN" altLang="en-US" sz="2400" b="1" dirty="0"/>
              <a:t>（</a:t>
            </a:r>
            <a:r>
              <a:rPr lang="en-US" sz="2400" b="1" dirty="0"/>
              <a:t>see the record, for HW1&amp; HW2.)</a:t>
            </a:r>
          </a:p>
          <a:p>
            <a:r>
              <a:rPr lang="en-US" sz="2400" b="1" dirty="0"/>
              <a:t>No course in class.</a:t>
            </a:r>
          </a:p>
        </p:txBody>
      </p:sp>
      <p:sp>
        <p:nvSpPr>
          <p:cNvPr id="3" name="文本框 5">
            <a:extLst>
              <a:ext uri="{FF2B5EF4-FFF2-40B4-BE49-F238E27FC236}">
                <a16:creationId xmlns:a16="http://schemas.microsoft.com/office/drawing/2014/main" id="{D9CD5524-6C03-8DFC-B91A-C0E20C35D7D9}"/>
              </a:ext>
            </a:extLst>
          </p:cNvPr>
          <p:cNvSpPr txBox="1"/>
          <p:nvPr/>
        </p:nvSpPr>
        <p:spPr>
          <a:xfrm>
            <a:off x="846896" y="4138899"/>
            <a:ext cx="564289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M</a:t>
            </a:r>
            <a:r>
              <a:rPr lang="en-US" altLang="zh-CN" sz="2400" b="1" dirty="0">
                <a:highlight>
                  <a:srgbClr val="FFFF00"/>
                </a:highlight>
              </a:rPr>
              <a:t>idterm:</a:t>
            </a:r>
            <a:r>
              <a:rPr lang="zh-CN" altLang="en-US" sz="2400" b="1" dirty="0">
                <a:highlight>
                  <a:srgbClr val="FFFF00"/>
                </a:highlight>
              </a:rPr>
              <a:t> </a:t>
            </a:r>
            <a:r>
              <a:rPr lang="de-DE" altLang="zh-CN" sz="2400" b="1" dirty="0">
                <a:highlight>
                  <a:srgbClr val="FFFF00"/>
                </a:highlight>
              </a:rPr>
              <a:t>Feb 25 8:30-10:00am EH 1084.</a:t>
            </a:r>
          </a:p>
          <a:p>
            <a:r>
              <a:rPr lang="en-US" sz="2400" b="1" dirty="0">
                <a:highlight>
                  <a:srgbClr val="FFFF00"/>
                </a:highlight>
              </a:rPr>
              <a:t>Practice exam has released.</a:t>
            </a:r>
          </a:p>
        </p:txBody>
      </p:sp>
    </p:spTree>
    <p:extLst>
      <p:ext uri="{BB962C8B-B14F-4D97-AF65-F5344CB8AC3E}">
        <p14:creationId xmlns:p14="http://schemas.microsoft.com/office/powerpoint/2010/main" val="1660555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F5260-0FB0-6F87-29C9-40698412C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7623271-314E-2037-8C1C-EEE8FDCBB7EE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200" dirty="0"/>
              <a:t>Warm up</a:t>
            </a:r>
            <a:endParaRPr lang="zh-CN" altLang="en-US" sz="3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3A75C6-BB54-1C5C-0754-BB6F3F9AEB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852" y="2295343"/>
            <a:ext cx="9322279" cy="2121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159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51B1E-3FFC-E81D-8020-2A0B8221B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69F15EF-E95F-ADA4-9303-FEC2B13E1BC2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200" dirty="0"/>
              <a:t>Overviews</a:t>
            </a:r>
            <a:endParaRPr lang="zh-CN" altLang="en-US" sz="3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632833A-87D6-C150-D642-6A6860C4CDE4}"/>
              </a:ext>
            </a:extLst>
          </p:cNvPr>
          <p:cNvSpPr txBox="1"/>
          <p:nvPr/>
        </p:nvSpPr>
        <p:spPr>
          <a:xfrm>
            <a:off x="1682925" y="1958023"/>
            <a:ext cx="9289875" cy="3154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/>
              <a:t>Norm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zh-CN" sz="2800" b="1" dirty="0"/>
              <a:t>Condition Number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zh-CN" sz="2800" b="1" dirty="0"/>
              <a:t>SVD</a:t>
            </a:r>
          </a:p>
        </p:txBody>
      </p:sp>
    </p:spTree>
    <p:extLst>
      <p:ext uri="{BB962C8B-B14F-4D97-AF65-F5344CB8AC3E}">
        <p14:creationId xmlns:p14="http://schemas.microsoft.com/office/powerpoint/2010/main" val="4071501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AEC66-1BA6-E415-DFF1-15B144178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DED28A3-ACE2-659D-3726-C341D845B2A0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200" dirty="0"/>
              <a:t>Overviews</a:t>
            </a:r>
            <a:endParaRPr lang="zh-CN" altLang="en-US" sz="3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A7F4D4F-DA15-D626-531D-4831E91E0117}"/>
              </a:ext>
            </a:extLst>
          </p:cNvPr>
          <p:cNvSpPr txBox="1"/>
          <p:nvPr/>
        </p:nvSpPr>
        <p:spPr>
          <a:xfrm>
            <a:off x="1682925" y="1958023"/>
            <a:ext cx="9289875" cy="3154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/>
              <a:t>Norm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zh-CN" sz="2800" b="1" dirty="0">
                <a:solidFill>
                  <a:schemeClr val="bg2"/>
                </a:solidFill>
              </a:rPr>
              <a:t>Condition Number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zh-CN" sz="2800" b="1" dirty="0">
                <a:solidFill>
                  <a:schemeClr val="bg2"/>
                </a:solidFill>
              </a:rPr>
              <a:t>SVD</a:t>
            </a:r>
          </a:p>
        </p:txBody>
      </p:sp>
    </p:spTree>
    <p:extLst>
      <p:ext uri="{BB962C8B-B14F-4D97-AF65-F5344CB8AC3E}">
        <p14:creationId xmlns:p14="http://schemas.microsoft.com/office/powerpoint/2010/main" val="1461629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649A9-C407-C2A8-02BD-4490FCB39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469B542-A175-7F0A-B138-032282B85D0E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N</a:t>
            </a:r>
            <a:r>
              <a:rPr lang="en-US" altLang="zh-CN" sz="3200" b="1" dirty="0"/>
              <a:t>orm</a:t>
            </a:r>
            <a:endParaRPr lang="en-US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98B32C-5008-49F0-92EB-51B9C380524B}"/>
              </a:ext>
            </a:extLst>
          </p:cNvPr>
          <p:cNvSpPr txBox="1"/>
          <p:nvPr/>
        </p:nvSpPr>
        <p:spPr>
          <a:xfrm>
            <a:off x="1834937" y="3019362"/>
            <a:ext cx="80450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H</a:t>
            </a:r>
            <a:r>
              <a:rPr lang="en-US" altLang="zh-CN" sz="3600" b="1" dirty="0"/>
              <a:t>ow can we do the error estimation</a:t>
            </a:r>
            <a:r>
              <a:rPr lang="zh-CN" altLang="en-US" sz="3600" b="1" dirty="0"/>
              <a:t>？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3584824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5B57B-A835-61C1-396A-1CA9EA189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ED576F9-E1FE-C28C-638C-65E7E2A4D123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N</a:t>
            </a:r>
            <a:r>
              <a:rPr lang="en-US" altLang="zh-CN" sz="3200" b="1" dirty="0"/>
              <a:t>orm</a:t>
            </a:r>
            <a:endParaRPr lang="en-US" sz="3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D6461E-5790-714B-ADCD-211B1C165FD0}"/>
              </a:ext>
            </a:extLst>
          </p:cNvPr>
          <p:cNvSpPr txBox="1"/>
          <p:nvPr/>
        </p:nvSpPr>
        <p:spPr>
          <a:xfrm>
            <a:off x="754841" y="1546502"/>
            <a:ext cx="9746514" cy="30375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Idea: </a:t>
            </a:r>
          </a:p>
          <a:p>
            <a:endParaRPr lang="en-US" sz="3600" b="1" dirty="0"/>
          </a:p>
          <a:p>
            <a:pPr marL="571500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b="1" dirty="0"/>
              <a:t>How to determine distance between two vector?</a:t>
            </a:r>
          </a:p>
          <a:p>
            <a:pPr marL="571500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b="1" dirty="0"/>
              <a:t>What properties a distance should satisfies?</a:t>
            </a:r>
          </a:p>
        </p:txBody>
      </p:sp>
    </p:spTree>
    <p:extLst>
      <p:ext uri="{BB962C8B-B14F-4D97-AF65-F5344CB8AC3E}">
        <p14:creationId xmlns:p14="http://schemas.microsoft.com/office/powerpoint/2010/main" val="2190973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23675-9504-B2F7-58B5-3B2849CC5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2E92A05-655C-D452-7BD5-4F6BE17B140B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N</a:t>
            </a:r>
            <a:r>
              <a:rPr lang="en-US" altLang="zh-CN" sz="3200" b="1" dirty="0"/>
              <a:t>orm</a:t>
            </a:r>
            <a:endParaRPr lang="en-US" sz="3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668941-1C7A-41F1-D10F-B4B3AEDCD65E}"/>
              </a:ext>
            </a:extLst>
          </p:cNvPr>
          <p:cNvSpPr txBox="1"/>
          <p:nvPr/>
        </p:nvSpPr>
        <p:spPr>
          <a:xfrm>
            <a:off x="834252" y="579239"/>
            <a:ext cx="8462958" cy="9446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3200" b="1" dirty="0"/>
              <a:t>What properties a distance should satisfies?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FCC180-AE8F-F96A-2941-18B969CCCF84}"/>
              </a:ext>
            </a:extLst>
          </p:cNvPr>
          <p:cNvSpPr txBox="1"/>
          <p:nvPr/>
        </p:nvSpPr>
        <p:spPr>
          <a:xfrm>
            <a:off x="1825741" y="1770025"/>
            <a:ext cx="23998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Non-negativity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D4C1342-1EE8-746B-B6D6-3B6C462D3F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708" y="2023351"/>
            <a:ext cx="1683382" cy="68136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35D1418-A102-327C-A9CE-7A1B24213229}"/>
              </a:ext>
            </a:extLst>
          </p:cNvPr>
          <p:cNvSpPr txBox="1"/>
          <p:nvPr/>
        </p:nvSpPr>
        <p:spPr>
          <a:xfrm>
            <a:off x="1825741" y="2873401"/>
            <a:ext cx="37321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Identity of </a:t>
            </a:r>
            <a:r>
              <a:rPr lang="en-US" sz="2400" dirty="0" err="1"/>
              <a:t>indiscernibles</a:t>
            </a:r>
            <a:endParaRPr lang="en-US" sz="24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6A35D2B-DD6A-E3A5-A382-136BFE012B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4664" y="3546284"/>
            <a:ext cx="2883471" cy="60823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99636D2-53B9-19D2-08F2-F7E48CEB56E0}"/>
              </a:ext>
            </a:extLst>
          </p:cNvPr>
          <p:cNvSpPr txBox="1"/>
          <p:nvPr/>
        </p:nvSpPr>
        <p:spPr>
          <a:xfrm>
            <a:off x="1825741" y="4114698"/>
            <a:ext cx="18219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Symmetry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3983CEB-4927-CC8F-526E-922F0E819C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2511" y="4528608"/>
            <a:ext cx="2007775" cy="61777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1FDD648-5CC1-6E63-58A9-4E78E3A6D31A}"/>
              </a:ext>
            </a:extLst>
          </p:cNvPr>
          <p:cNvSpPr txBox="1"/>
          <p:nvPr/>
        </p:nvSpPr>
        <p:spPr>
          <a:xfrm>
            <a:off x="1825741" y="5348058"/>
            <a:ext cx="28766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Triangle inequality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B142B16-4C7B-EB99-654B-86B67AB545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6117" y="5817261"/>
            <a:ext cx="2883471" cy="659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033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5CE23-5D29-4AD0-52C2-6AB2DBC5A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50B8EE6-38BB-84DB-B53A-077D47CF5072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N</a:t>
            </a:r>
            <a:r>
              <a:rPr lang="en-US" altLang="zh-CN" sz="3200" b="1" dirty="0"/>
              <a:t>orm</a:t>
            </a:r>
            <a:endParaRPr lang="en-US" sz="3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6569A1-DC85-0DB7-6B21-6488930CAD1E}"/>
              </a:ext>
            </a:extLst>
          </p:cNvPr>
          <p:cNvSpPr txBox="1"/>
          <p:nvPr/>
        </p:nvSpPr>
        <p:spPr>
          <a:xfrm>
            <a:off x="834252" y="579239"/>
            <a:ext cx="7832144" cy="9446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3200" b="1" dirty="0"/>
              <a:t>What properties a norm should satisfies?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9CDB74-2FD4-9162-45A5-2BE6E4AABEE4}"/>
              </a:ext>
            </a:extLst>
          </p:cNvPr>
          <p:cNvSpPr txBox="1"/>
          <p:nvPr/>
        </p:nvSpPr>
        <p:spPr>
          <a:xfrm>
            <a:off x="1825741" y="1943761"/>
            <a:ext cx="32399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</a:t>
            </a:r>
            <a:r>
              <a:rPr lang="en-US" altLang="zh-CN" sz="2400" dirty="0"/>
              <a:t>ositive Definiteness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00B428-8B21-911D-8B4B-72BA4525F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0944" y="2427625"/>
            <a:ext cx="5694474" cy="9463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DC713E3-BE25-22D9-2E6A-2E5B7AC34B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3672" y="3793777"/>
            <a:ext cx="2849712" cy="84516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720FB1C-443F-A0CA-0C6C-0335A6C03B94}"/>
              </a:ext>
            </a:extLst>
          </p:cNvPr>
          <p:cNvSpPr txBox="1"/>
          <p:nvPr/>
        </p:nvSpPr>
        <p:spPr>
          <a:xfrm>
            <a:off x="1825741" y="3332112"/>
            <a:ext cx="22470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</a:t>
            </a:r>
            <a:r>
              <a:rPr lang="en-US" altLang="zh-CN" sz="2400" dirty="0"/>
              <a:t>omogeneity</a:t>
            </a:r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308F4F-2319-745D-A8CE-2AE21F4B6A28}"/>
              </a:ext>
            </a:extLst>
          </p:cNvPr>
          <p:cNvSpPr txBox="1"/>
          <p:nvPr/>
        </p:nvSpPr>
        <p:spPr>
          <a:xfrm>
            <a:off x="1825741" y="4791370"/>
            <a:ext cx="28830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Triangle Inequality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8CCF02D-10D4-3F66-B2B1-1E2AE9A96A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2415" y="5379870"/>
            <a:ext cx="3205865" cy="732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772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C7AD6-4F0A-3189-DC2C-16A4E3EC6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F0C300A-A9B4-9EDD-0F5B-E05674B4A6B3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N</a:t>
            </a:r>
            <a:r>
              <a:rPr lang="en-US" altLang="zh-CN" sz="3200" b="1" dirty="0"/>
              <a:t>orm</a:t>
            </a:r>
            <a:endParaRPr lang="en-US" sz="3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051D3F-54D8-0892-9CC0-C9AA94451D7C}"/>
              </a:ext>
            </a:extLst>
          </p:cNvPr>
          <p:cNvSpPr txBox="1"/>
          <p:nvPr/>
        </p:nvSpPr>
        <p:spPr>
          <a:xfrm>
            <a:off x="834252" y="579239"/>
            <a:ext cx="5132367" cy="9446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3200" b="1" dirty="0"/>
              <a:t>A norm induced a distance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6DEA8A-144A-7329-7CCA-99FB41D220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3858" y="2761722"/>
            <a:ext cx="3373401" cy="1078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006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3C2F1-E7F8-FD71-E632-E67224E09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E410162-68B1-918D-E9E0-021B98B343E6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N</a:t>
            </a:r>
            <a:r>
              <a:rPr lang="en-US" altLang="zh-CN" sz="3200" b="1" dirty="0"/>
              <a:t>orm</a:t>
            </a:r>
            <a:endParaRPr lang="en-US" sz="3200" b="1" dirty="0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0914BBB1-17B7-1E21-8DEE-0E362AB10304}"/>
              </a:ext>
            </a:extLst>
          </p:cNvPr>
          <p:cNvSpPr txBox="1">
            <a:spLocks/>
          </p:cNvSpPr>
          <p:nvPr/>
        </p:nvSpPr>
        <p:spPr bwMode="auto">
          <a:xfrm>
            <a:off x="1511066" y="1036510"/>
            <a:ext cx="7556500" cy="1116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accent1"/>
                </a:solidFill>
                <a:latin typeface="+mj-lt"/>
                <a:ea typeface="MS PGothic" panose="020B0600070205080204" pitchFamily="34" charset="-128"/>
                <a:cs typeface="ＭＳ Ｐゴシック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Tahoma" pitchFamily="34" charset="0"/>
                <a:ea typeface="MS PGothic" panose="020B0600070205080204" pitchFamily="34" charset="-128"/>
                <a:cs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Tahoma" pitchFamily="34" charset="0"/>
                <a:ea typeface="MS PGothic" panose="020B0600070205080204" pitchFamily="34" charset="-128"/>
                <a:cs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Tahoma" pitchFamily="34" charset="0"/>
                <a:ea typeface="MS PGothic" panose="020B0600070205080204" pitchFamily="34" charset="-128"/>
                <a:cs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Tahoma" pitchFamily="34" charset="0"/>
                <a:ea typeface="MS PGothic" panose="020B0600070205080204" pitchFamily="34" charset="-128"/>
                <a:cs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Rockwell" charset="0"/>
                <a:ea typeface="ＭＳ Ｐゴシック" charset="-128"/>
                <a:cs typeface="ＭＳ Ｐゴシック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Rockwell" charset="0"/>
                <a:ea typeface="ＭＳ Ｐゴシック" charset="-128"/>
                <a:cs typeface="ＭＳ Ｐゴシック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Rockwell" charset="0"/>
                <a:ea typeface="ＭＳ Ｐゴシック" charset="-128"/>
                <a:cs typeface="ＭＳ Ｐゴシック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Rockwell" charset="0"/>
                <a:ea typeface="ＭＳ Ｐゴシック" charset="-128"/>
                <a:cs typeface="ＭＳ Ｐゴシック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Tahoma"/>
                <a:ea typeface="MS PGothic" panose="020B0600070205080204" pitchFamily="34" charset="-128"/>
              </a:rPr>
              <a:t>Vector Norms</a:t>
            </a:r>
            <a:endParaRPr kumimoji="0" lang="en-US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Tahoma"/>
              <a:ea typeface="MS PGothic" panose="020B0600070205080204" pitchFamily="34" charset="-128"/>
            </a:endParaRP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59EA0E57-23F5-31F0-DEB4-2F475ED2E3CD}"/>
              </a:ext>
            </a:extLst>
          </p:cNvPr>
          <p:cNvSpPr txBox="1">
            <a:spLocks/>
          </p:cNvSpPr>
          <p:nvPr/>
        </p:nvSpPr>
        <p:spPr bwMode="auto">
          <a:xfrm>
            <a:off x="1469791" y="1981072"/>
            <a:ext cx="8229600" cy="501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rgbClr val="595959"/>
                </a:solidFill>
                <a:latin typeface="+mn-lt"/>
                <a:ea typeface="MS PGothic" panose="020B0600070205080204" pitchFamily="34" charset="-128"/>
                <a:cs typeface="ＭＳ Ｐゴシック" charset="-128"/>
              </a:defRPr>
            </a:lvl1pPr>
            <a:lvl2pPr marL="4572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B870B8"/>
              </a:buClr>
              <a:buSzPct val="75000"/>
              <a:buFont typeface="Wingdings" panose="05000000000000000000" pitchFamily="2" charset="2"/>
              <a:buChar char="n"/>
              <a:defRPr sz="2800" kern="1200">
                <a:solidFill>
                  <a:srgbClr val="595959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6858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rgbClr val="595959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9144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B870B8"/>
              </a:buClr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rgbClr val="595959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11430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rgbClr val="595959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rgbClr val="4F81BD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MS PGothic" panose="020B0600070205080204" pitchFamily="34" charset="-128"/>
              </a:rPr>
              <a:t>The </a:t>
            </a:r>
            <a:r>
              <a:rPr kumimoji="0" lang="en-US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MS PGothic" panose="020B0600070205080204" pitchFamily="34" charset="-128"/>
              </a:rPr>
              <a:t>p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MS PGothic" panose="020B0600070205080204" pitchFamily="34" charset="-128"/>
              </a:rPr>
              <a:t>-norm of a vector X is:</a:t>
            </a:r>
            <a:b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MS PGothic" panose="020B0600070205080204" pitchFamily="34" charset="-128"/>
              </a:rPr>
            </a:br>
            <a:b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MS PGothic" panose="020B0600070205080204" pitchFamily="34" charset="-128"/>
              </a:rPr>
            </a:b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Tahoma"/>
              <a:ea typeface="MS PGothic" panose="020B0600070205080204" pitchFamily="34" charset="-128"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rgbClr val="4F81BD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MS PGothic" panose="020B0600070205080204" pitchFamily="34" charset="-128"/>
              </a:rPr>
              <a:t>Important examples of vector </a:t>
            </a:r>
            <a:r>
              <a:rPr kumimoji="0" lang="en-US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MS PGothic" panose="020B0600070205080204" pitchFamily="34" charset="-128"/>
              </a:rPr>
              <a:t>p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MS PGothic" panose="020B0600070205080204" pitchFamily="34" charset="-128"/>
              </a:rPr>
              <a:t>-norms include:</a:t>
            </a:r>
          </a:p>
        </p:txBody>
      </p:sp>
      <p:graphicFrame>
        <p:nvGraphicFramePr>
          <p:cNvPr id="17" name="Object 5">
            <a:extLst>
              <a:ext uri="{FF2B5EF4-FFF2-40B4-BE49-F238E27FC236}">
                <a16:creationId xmlns:a16="http://schemas.microsoft.com/office/drawing/2014/main" id="{7D7E9186-06B8-2EBF-5FCC-0207411B99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0644391"/>
              </p:ext>
            </p:extLst>
          </p:nvPr>
        </p:nvGraphicFramePr>
        <p:xfrm>
          <a:off x="2117491" y="3933697"/>
          <a:ext cx="6800850" cy="234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90900" imgH="1168400" progId="Equation.3">
                  <p:embed/>
                </p:oleObj>
              </mc:Choice>
              <mc:Fallback>
                <p:oleObj name="Equation" r:id="rId2" imgW="3390900" imgH="1168400" progId="Equation.3">
                  <p:embed/>
                  <p:pic>
                    <p:nvPicPr>
                      <p:cNvPr id="24580" name="Object 5">
                        <a:extLst>
                          <a:ext uri="{FF2B5EF4-FFF2-40B4-BE49-F238E27FC236}">
                            <a16:creationId xmlns:a16="http://schemas.microsoft.com/office/drawing/2014/main" id="{5302EE3C-9482-742D-D553-AFF017EB40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7491" y="3933697"/>
                        <a:ext cx="6800850" cy="2344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6">
            <a:extLst>
              <a:ext uri="{FF2B5EF4-FFF2-40B4-BE49-F238E27FC236}">
                <a16:creationId xmlns:a16="http://schemas.microsoft.com/office/drawing/2014/main" id="{7DFD7ACC-E6AA-F10B-70E1-A96A690D93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4723099"/>
              </p:ext>
            </p:extLst>
          </p:nvPr>
        </p:nvGraphicFramePr>
        <p:xfrm>
          <a:off x="5965591" y="1819147"/>
          <a:ext cx="2266950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30300" imgH="495300" progId="Equation.3">
                  <p:embed/>
                </p:oleObj>
              </mc:Choice>
              <mc:Fallback>
                <p:oleObj name="Equation" r:id="rId4" imgW="1130300" imgH="495300" progId="Equation.3">
                  <p:embed/>
                  <p:pic>
                    <p:nvPicPr>
                      <p:cNvPr id="24581" name="Object 6">
                        <a:extLst>
                          <a:ext uri="{FF2B5EF4-FFF2-40B4-BE49-F238E27FC236}">
                            <a16:creationId xmlns:a16="http://schemas.microsoft.com/office/drawing/2014/main" id="{DF48A716-592D-0C40-4983-76AEDFED58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5591" y="1819147"/>
                        <a:ext cx="2266950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27199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C031A-C430-D0B5-D354-B8A9FF7FB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68517BA-F348-2734-98B7-1530736F064B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N</a:t>
            </a:r>
            <a:r>
              <a:rPr lang="en-US" altLang="zh-CN" sz="3200" b="1" dirty="0"/>
              <a:t>orm</a:t>
            </a:r>
            <a:endParaRPr lang="en-US" sz="3200" b="1" dirty="0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993E1245-4FAF-18BE-2972-195E05E78E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916" y="1017705"/>
            <a:ext cx="8283575" cy="535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930452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D6D41-7633-04D9-7DB7-505B2EE73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F827011-8664-F851-D9B1-0593D4FD3E2D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200" dirty="0"/>
              <a:t>Remind</a:t>
            </a:r>
            <a:endParaRPr lang="zh-CN" altLang="en-US" sz="3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CF40EBA-7A9E-DC6B-E773-457F606A0F7F}"/>
              </a:ext>
            </a:extLst>
          </p:cNvPr>
          <p:cNvSpPr txBox="1"/>
          <p:nvPr/>
        </p:nvSpPr>
        <p:spPr>
          <a:xfrm>
            <a:off x="859168" y="815196"/>
            <a:ext cx="2992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Regression problem</a:t>
            </a:r>
          </a:p>
        </p:txBody>
      </p:sp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2574437A-E455-1EC2-3B2E-25C97C6873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14324" y="3110696"/>
          <a:ext cx="5121541" cy="3643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canned Photo" r:id="rId2" imgW="10295238" imgH="7323810" progId="MSPhotoEdScan.3">
                  <p:embed/>
                </p:oleObj>
              </mc:Choice>
              <mc:Fallback>
                <p:oleObj name="Scanned Photo" r:id="rId2" imgW="10295238" imgH="7323810" progId="MSPhotoEdScan.3">
                  <p:embed/>
                  <p:pic>
                    <p:nvPicPr>
                      <p:cNvPr id="4" name="Object 5">
                        <a:extLst>
                          <a:ext uri="{FF2B5EF4-FFF2-40B4-BE49-F238E27FC236}">
                            <a16:creationId xmlns:a16="http://schemas.microsoft.com/office/drawing/2014/main" id="{2574437A-E455-1EC2-3B2E-25C97C6873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4324" y="3110696"/>
                        <a:ext cx="5121541" cy="36430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Line 6">
            <a:extLst>
              <a:ext uri="{FF2B5EF4-FFF2-40B4-BE49-F238E27FC236}">
                <a16:creationId xmlns:a16="http://schemas.microsoft.com/office/drawing/2014/main" id="{1964E2C3-1C32-9E89-38CC-5F59D1F6840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47769" y="3106484"/>
            <a:ext cx="4873884" cy="3188454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FC4DA20-D8FB-C66D-7004-811D3A3CB3A4}"/>
              </a:ext>
            </a:extLst>
          </p:cNvPr>
          <p:cNvSpPr txBox="1"/>
          <p:nvPr/>
        </p:nvSpPr>
        <p:spPr>
          <a:xfrm>
            <a:off x="2321756" y="1387879"/>
            <a:ext cx="35296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We have data with noise: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568D7ED1-69EE-6CEA-D569-9B6B10877A88}"/>
                  </a:ext>
                </a:extLst>
              </p:cNvPr>
              <p:cNvSpPr txBox="1"/>
              <p:nvPr/>
            </p:nvSpPr>
            <p:spPr>
              <a:xfrm>
                <a:off x="6087306" y="1387879"/>
                <a:ext cx="1583254" cy="3706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568D7ED1-69EE-6CEA-D569-9B6B10877A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7306" y="1387879"/>
                <a:ext cx="1583254" cy="370614"/>
              </a:xfrm>
              <a:prstGeom prst="rect">
                <a:avLst/>
              </a:prstGeom>
              <a:blipFill>
                <a:blip r:embed="rId4"/>
                <a:stretch>
                  <a:fillRect r="-1931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A7670C6F-1708-82BE-E947-8164889F4C89}"/>
                  </a:ext>
                </a:extLst>
              </p:cNvPr>
              <p:cNvSpPr txBox="1"/>
              <p:nvPr/>
            </p:nvSpPr>
            <p:spPr>
              <a:xfrm>
                <a:off x="2355475" y="2030348"/>
                <a:ext cx="712329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We</a:t>
                </a:r>
                <a:r>
                  <a:rPr lang="zh-CN" altLang="en-US" sz="2400" dirty="0"/>
                  <a:t> </a:t>
                </a:r>
                <a:r>
                  <a:rPr lang="en-US" altLang="zh-CN" sz="2400" dirty="0"/>
                  <a:t>want to find out the relationship between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A7670C6F-1708-82BE-E947-8164889F4C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5475" y="2030348"/>
                <a:ext cx="7123297" cy="461665"/>
              </a:xfrm>
              <a:prstGeom prst="rect">
                <a:avLst/>
              </a:prstGeom>
              <a:blipFill>
                <a:blip r:embed="rId5"/>
                <a:stretch>
                  <a:fillRect l="-1283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Object 5">
            <a:extLst>
              <a:ext uri="{FF2B5EF4-FFF2-40B4-BE49-F238E27FC236}">
                <a16:creationId xmlns:a16="http://schemas.microsoft.com/office/drawing/2014/main" id="{1BAA40D0-476A-2AC7-A98B-918C078D8A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04150" y="4154488"/>
          <a:ext cx="2514600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50680" imgH="228600" progId="Equation.3">
                  <p:embed/>
                </p:oleObj>
              </mc:Choice>
              <mc:Fallback>
                <p:oleObj name="Equation" r:id="rId6" imgW="850680" imgH="228600" progId="Equation.3">
                  <p:embed/>
                  <p:pic>
                    <p:nvPicPr>
                      <p:cNvPr id="14" name="Object 5">
                        <a:extLst>
                          <a:ext uri="{FF2B5EF4-FFF2-40B4-BE49-F238E27FC236}">
                            <a16:creationId xmlns:a16="http://schemas.microsoft.com/office/drawing/2014/main" id="{1BAA40D0-476A-2AC7-A98B-918C078D8A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04150" y="4154488"/>
                        <a:ext cx="2514600" cy="67627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40062038-28FD-2C23-CFF1-2428C35151C2}"/>
                  </a:ext>
                </a:extLst>
              </p:cNvPr>
              <p:cNvSpPr txBox="1"/>
              <p:nvPr/>
            </p:nvSpPr>
            <p:spPr>
              <a:xfrm>
                <a:off x="7735865" y="5101185"/>
                <a:ext cx="279211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H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ow to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altLang="zh-CN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altLang="zh-CN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rgbClr val="FF0000"/>
                    </a:solidFill>
                  </a:rPr>
                  <a:t> ?</a:t>
                </a:r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40062038-28FD-2C23-CFF1-2428C35151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5865" y="5101185"/>
                <a:ext cx="2792111" cy="461665"/>
              </a:xfrm>
              <a:prstGeom prst="rect">
                <a:avLst/>
              </a:prstGeom>
              <a:blipFill>
                <a:blip r:embed="rId8"/>
                <a:stretch>
                  <a:fillRect l="-3275" t="-10526" r="-2838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5015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11C74-AADC-3E11-44B8-4B92A2707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EB0523C-63A2-A3F1-8638-D89D5D6AE0ED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200" dirty="0"/>
              <a:t>Motivation</a:t>
            </a:r>
            <a:endParaRPr lang="zh-CN" altLang="en-US" sz="3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60A5828-6171-8F30-4B46-242645D06920}"/>
              </a:ext>
            </a:extLst>
          </p:cNvPr>
          <p:cNvSpPr txBox="1"/>
          <p:nvPr/>
        </p:nvSpPr>
        <p:spPr>
          <a:xfrm>
            <a:off x="859168" y="815196"/>
            <a:ext cx="2992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Regression problem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D42CC2F-1097-A8D7-A5B2-0CFDAACAFE1E}"/>
              </a:ext>
            </a:extLst>
          </p:cNvPr>
          <p:cNvSpPr txBox="1"/>
          <p:nvPr/>
        </p:nvSpPr>
        <p:spPr>
          <a:xfrm>
            <a:off x="2321756" y="1387879"/>
            <a:ext cx="35296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We have data with noise: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096E9D16-A9BB-32DC-4F30-0E6C189240A2}"/>
                  </a:ext>
                </a:extLst>
              </p:cNvPr>
              <p:cNvSpPr txBox="1"/>
              <p:nvPr/>
            </p:nvSpPr>
            <p:spPr>
              <a:xfrm>
                <a:off x="6087306" y="1387879"/>
                <a:ext cx="1583254" cy="3706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096E9D16-A9BB-32DC-4F30-0E6C189240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7306" y="1387879"/>
                <a:ext cx="1583254" cy="370614"/>
              </a:xfrm>
              <a:prstGeom prst="rect">
                <a:avLst/>
              </a:prstGeom>
              <a:blipFill>
                <a:blip r:embed="rId2"/>
                <a:stretch>
                  <a:fillRect r="-1931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5100D19-8D8E-E409-BE10-53886202BABE}"/>
                  </a:ext>
                </a:extLst>
              </p:cNvPr>
              <p:cNvSpPr txBox="1"/>
              <p:nvPr/>
            </p:nvSpPr>
            <p:spPr>
              <a:xfrm>
                <a:off x="594181" y="2016998"/>
                <a:ext cx="945015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We</a:t>
                </a:r>
                <a:r>
                  <a:rPr lang="zh-CN" altLang="en-US" sz="2400" dirty="0"/>
                  <a:t> </a:t>
                </a:r>
                <a:r>
                  <a:rPr lang="en-US" altLang="zh-CN" sz="2400" dirty="0"/>
                  <a:t>want to find out the relationship between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 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5100D19-8D8E-E409-BE10-53886202BA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181" y="2016998"/>
                <a:ext cx="9450151" cy="461665"/>
              </a:xfrm>
              <a:prstGeom prst="rect">
                <a:avLst/>
              </a:prstGeom>
              <a:blipFill>
                <a:blip r:embed="rId3"/>
                <a:stretch>
                  <a:fillRect l="-967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F3354B0-F74E-7DA6-0136-04B49E3C8645}"/>
                  </a:ext>
                </a:extLst>
              </p:cNvPr>
              <p:cNvSpPr txBox="1"/>
              <p:nvPr/>
            </p:nvSpPr>
            <p:spPr>
              <a:xfrm>
                <a:off x="4086566" y="2505849"/>
                <a:ext cx="2638928" cy="19418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0 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+ 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0 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+ 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0 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+ 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F3354B0-F74E-7DA6-0136-04B49E3C86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6566" y="2505849"/>
                <a:ext cx="2638928" cy="19418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8A9ABB67-5EBB-17F2-B499-C6093ABB20FF}"/>
              </a:ext>
            </a:extLst>
          </p:cNvPr>
          <p:cNvSpPr txBox="1"/>
          <p:nvPr/>
        </p:nvSpPr>
        <p:spPr>
          <a:xfrm>
            <a:off x="2689839" y="4417346"/>
            <a:ext cx="53464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How to write down the matrix ? </a:t>
            </a:r>
            <a:r>
              <a:rPr lang="en-US" sz="2400" b="1" dirty="0">
                <a:solidFill>
                  <a:srgbClr val="FF0000"/>
                </a:solidFill>
              </a:rPr>
              <a:t>Ax = 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62A90EA-B0E5-4AFD-7799-AC94A8628299}"/>
                  </a:ext>
                </a:extLst>
              </p:cNvPr>
              <p:cNvSpPr txBox="1"/>
              <p:nvPr/>
            </p:nvSpPr>
            <p:spPr>
              <a:xfrm>
                <a:off x="3911197" y="5046465"/>
                <a:ext cx="3319370" cy="16420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1    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1    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1    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62A90EA-B0E5-4AFD-7799-AC94A86282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1197" y="5046465"/>
                <a:ext cx="3319370" cy="164205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4528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B2BA8-76C1-5BF0-ED87-40242E489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5BD2559-24D3-414D-DFEE-4BBA764E1F9C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N</a:t>
            </a:r>
            <a:r>
              <a:rPr lang="en-US" altLang="zh-CN" sz="3200" b="1" dirty="0"/>
              <a:t>orm</a:t>
            </a:r>
            <a:endParaRPr lang="en-US" sz="3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9E6CC5-2D28-035A-213D-E16A63FBD21F}"/>
              </a:ext>
            </a:extLst>
          </p:cNvPr>
          <p:cNvSpPr txBox="1"/>
          <p:nvPr/>
        </p:nvSpPr>
        <p:spPr>
          <a:xfrm>
            <a:off x="850392" y="1252728"/>
            <a:ext cx="49891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Look back to Gaussian elimination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90ABF1-2649-C4D3-D110-81AC1BB7B6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8664" y="1803499"/>
            <a:ext cx="1425102" cy="7842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EDAE217-EDA6-3309-C512-C223E3DD0868}"/>
              </a:ext>
            </a:extLst>
          </p:cNvPr>
          <p:cNvSpPr txBox="1"/>
          <p:nvPr/>
        </p:nvSpPr>
        <p:spPr>
          <a:xfrm>
            <a:off x="1203949" y="2967335"/>
            <a:ext cx="23845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Truth solution: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F54D7C-C451-229C-678D-E40B8313B2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9880" y="2682846"/>
            <a:ext cx="1860603" cy="78425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0A8C7D3-43CC-A374-3546-F93355627024}"/>
              </a:ext>
            </a:extLst>
          </p:cNvPr>
          <p:cNvSpPr txBox="1"/>
          <p:nvPr/>
        </p:nvSpPr>
        <p:spPr>
          <a:xfrm>
            <a:off x="1203949" y="3851255"/>
            <a:ext cx="30000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 has perturbation: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8E1570A-537C-C27D-5C8A-2CD3EA4C29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1840" y="3606128"/>
            <a:ext cx="1436682" cy="8294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37905FA-45BF-116E-A3B6-6BFE886AFF37}"/>
              </a:ext>
            </a:extLst>
          </p:cNvPr>
          <p:cNvSpPr txBox="1"/>
          <p:nvPr/>
        </p:nvSpPr>
        <p:spPr>
          <a:xfrm>
            <a:off x="1203949" y="4504342"/>
            <a:ext cx="23083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New solution: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58F650-C16E-7CA4-A014-B29C03B2BD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1840" y="4312920"/>
            <a:ext cx="1436683" cy="67694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CB68202-184F-0245-4C79-5E2C0EF3DEF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4001" y="5292362"/>
            <a:ext cx="2573866" cy="901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7903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41658-AFD0-C2AE-A8D9-25DD8B77A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DA30703-07A6-D33D-4712-4A3EC8DA1C85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N</a:t>
            </a:r>
            <a:r>
              <a:rPr lang="en-US" altLang="zh-CN" sz="3200" b="1" dirty="0"/>
              <a:t>orm</a:t>
            </a:r>
            <a:endParaRPr lang="en-US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F3920B-0114-6D74-2FAA-EDE702FC93E4}"/>
              </a:ext>
            </a:extLst>
          </p:cNvPr>
          <p:cNvSpPr txBox="1"/>
          <p:nvPr/>
        </p:nvSpPr>
        <p:spPr>
          <a:xfrm>
            <a:off x="914400" y="2205307"/>
            <a:ext cx="14787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We want: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5A4522-0EE1-B23F-22B2-D801EF57A8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197" y="2851390"/>
            <a:ext cx="3018699" cy="11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6047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8F919-F2FA-041B-CB55-A898690C9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79906BE-D615-3473-1761-F76D738FCE09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N</a:t>
            </a:r>
            <a:r>
              <a:rPr lang="en-US" altLang="zh-CN" sz="3200" b="1" dirty="0"/>
              <a:t>orm</a:t>
            </a:r>
            <a:endParaRPr lang="en-US" sz="3200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2064B46-1D67-9378-EFCA-3FD7D520BCB7}"/>
              </a:ext>
            </a:extLst>
          </p:cNvPr>
          <p:cNvSpPr txBox="1">
            <a:spLocks/>
          </p:cNvSpPr>
          <p:nvPr/>
        </p:nvSpPr>
        <p:spPr bwMode="auto">
          <a:xfrm>
            <a:off x="1002739" y="1082582"/>
            <a:ext cx="7556500" cy="1116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accent1"/>
                </a:solidFill>
                <a:latin typeface="+mj-lt"/>
                <a:ea typeface="MS PGothic" panose="020B0600070205080204" pitchFamily="34" charset="-128"/>
                <a:cs typeface="ＭＳ Ｐゴシック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Tahoma" pitchFamily="34" charset="0"/>
                <a:ea typeface="MS PGothic" panose="020B0600070205080204" pitchFamily="34" charset="-128"/>
                <a:cs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Tahoma" pitchFamily="34" charset="0"/>
                <a:ea typeface="MS PGothic" panose="020B0600070205080204" pitchFamily="34" charset="-128"/>
                <a:cs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Tahoma" pitchFamily="34" charset="0"/>
                <a:ea typeface="MS PGothic" panose="020B0600070205080204" pitchFamily="34" charset="-128"/>
                <a:cs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Tahoma" pitchFamily="34" charset="0"/>
                <a:ea typeface="MS PGothic" panose="020B0600070205080204" pitchFamily="34" charset="-128"/>
                <a:cs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Rockwell" charset="0"/>
                <a:ea typeface="ＭＳ Ｐゴシック" charset="-128"/>
                <a:cs typeface="ＭＳ Ｐゴシック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Rockwell" charset="0"/>
                <a:ea typeface="ＭＳ Ｐゴシック" charset="-128"/>
                <a:cs typeface="ＭＳ Ｐゴシック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Rockwell" charset="0"/>
                <a:ea typeface="ＭＳ Ｐゴシック" charset="-128"/>
                <a:cs typeface="ＭＳ Ｐゴシック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Rockwell" charset="0"/>
                <a:ea typeface="ＭＳ Ｐゴシック" charset="-128"/>
                <a:cs typeface="ＭＳ Ｐゴシック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Tahoma"/>
                <a:ea typeface="MS PGothic" panose="020B0600070205080204" pitchFamily="34" charset="-128"/>
              </a:rPr>
              <a:t>Matrix Norms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B75E9F5-8663-D1E9-5F62-033CAD33C261}"/>
              </a:ext>
            </a:extLst>
          </p:cNvPr>
          <p:cNvSpPr txBox="1">
            <a:spLocks/>
          </p:cNvSpPr>
          <p:nvPr/>
        </p:nvSpPr>
        <p:spPr bwMode="auto">
          <a:xfrm>
            <a:off x="961464" y="1989044"/>
            <a:ext cx="8229600" cy="2724150"/>
          </a:xfrm>
          <a:prstGeom prst="rect">
            <a:avLst/>
          </a:prstGeom>
          <a:blipFill>
            <a:blip r:embed="rId2"/>
            <a:stretch>
              <a:fillRect l="-222" t="-2237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rgbClr val="595959"/>
                </a:solidFill>
                <a:latin typeface="+mn-lt"/>
                <a:ea typeface="MS PGothic" panose="020B0600070205080204" pitchFamily="34" charset="-128"/>
                <a:cs typeface="ＭＳ Ｐゴシック" charset="-128"/>
              </a:defRPr>
            </a:lvl1pPr>
            <a:lvl2pPr marL="4572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B870B8"/>
              </a:buClr>
              <a:buSzPct val="75000"/>
              <a:buFont typeface="Wingdings" panose="05000000000000000000" pitchFamily="2" charset="2"/>
              <a:buChar char="n"/>
              <a:defRPr sz="2800" kern="1200">
                <a:solidFill>
                  <a:srgbClr val="595959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6858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rgbClr val="595959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9144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B870B8"/>
              </a:buClr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rgbClr val="595959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11430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rgbClr val="595959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rgbClr val="4F81BD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Tahoma"/>
                <a:ea typeface="MS PGothic" panose="020B0600070205080204" pitchFamily="34" charset="-128"/>
              </a:rPr>
              <a:t> 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C7BBB5-FFD3-EE3F-3391-22004EE776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8276" y="4125383"/>
            <a:ext cx="3849137" cy="1383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0891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C4D4A-B75C-E15A-9086-C6A4133F4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328E1BB-14A4-6565-7C2C-BA2844957430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N</a:t>
            </a:r>
            <a:r>
              <a:rPr lang="en-US" altLang="zh-CN" sz="3200" b="1" dirty="0"/>
              <a:t>orm</a:t>
            </a:r>
            <a:endParaRPr lang="en-US" sz="3200" b="1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DB22ECC-AC64-D0E5-20B2-B9549D25C542}"/>
              </a:ext>
            </a:extLst>
          </p:cNvPr>
          <p:cNvSpPr txBox="1">
            <a:spLocks/>
          </p:cNvSpPr>
          <p:nvPr/>
        </p:nvSpPr>
        <p:spPr bwMode="auto">
          <a:xfrm>
            <a:off x="779930" y="1004122"/>
            <a:ext cx="8229600" cy="4476750"/>
          </a:xfrm>
          <a:prstGeom prst="rect">
            <a:avLst/>
          </a:prstGeom>
          <a:blipFill>
            <a:blip r:embed="rId2"/>
            <a:stretch>
              <a:fillRect l="-222" t="-1361" b="-8027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rgbClr val="595959"/>
                </a:solidFill>
                <a:latin typeface="+mn-lt"/>
                <a:ea typeface="MS PGothic" panose="020B0600070205080204" pitchFamily="34" charset="-128"/>
                <a:cs typeface="ＭＳ Ｐゴシック" charset="-128"/>
              </a:defRPr>
            </a:lvl1pPr>
            <a:lvl2pPr marL="4572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B870B8"/>
              </a:buClr>
              <a:buSzPct val="75000"/>
              <a:buFont typeface="Wingdings" panose="05000000000000000000" pitchFamily="2" charset="2"/>
              <a:buChar char="n"/>
              <a:defRPr sz="2800" kern="1200">
                <a:solidFill>
                  <a:srgbClr val="595959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6858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rgbClr val="595959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9144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B870B8"/>
              </a:buClr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rgbClr val="595959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11430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rgbClr val="595959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rgbClr val="4F81BD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Tahoma"/>
                <a:ea typeface="MS PGothic" panose="020B0600070205080204" pitchFamily="34" charset="-128"/>
              </a:rPr>
              <a:t> 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noFill/>
              <a:effectLst/>
              <a:uLnTx/>
              <a:uFillTx/>
              <a:latin typeface="Tahoma"/>
              <a:ea typeface="MS PGothic" panose="020B0600070205080204" pitchFamily="34" charset="-128"/>
            </a:endParaRPr>
          </a:p>
        </p:txBody>
      </p:sp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id="{50BB4514-87AB-FA22-AF86-A5EAACF32A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1011194"/>
              </p:ext>
            </p:extLst>
          </p:nvPr>
        </p:nvGraphicFramePr>
        <p:xfrm>
          <a:off x="2328022" y="1377128"/>
          <a:ext cx="5991978" cy="29379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16200" imgH="1600200" progId="Equation.3">
                  <p:embed/>
                </p:oleObj>
              </mc:Choice>
              <mc:Fallback>
                <p:oleObj name="Equation" r:id="rId3" imgW="2616200" imgH="1600200" progId="Equation.3">
                  <p:embed/>
                  <p:pic>
                    <p:nvPicPr>
                      <p:cNvPr id="27652" name="Object 4">
                        <a:extLst>
                          <a:ext uri="{FF2B5EF4-FFF2-40B4-BE49-F238E27FC236}">
                            <a16:creationId xmlns:a16="http://schemas.microsoft.com/office/drawing/2014/main" id="{ACF3BC1E-ACE8-208B-8D6F-D94701B958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8022" y="1377128"/>
                        <a:ext cx="5991978" cy="29379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182A704A-B203-B2BA-5928-FB4A2612653C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990600" y="5907932"/>
            <a:ext cx="7556500" cy="1116012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noFill/>
                <a:latin typeface="Arial" panose="020B0604020202020204" pitchFamily="34" charset="0"/>
                <a:ea typeface="MS PGothic" panose="020B0600070205080204" pitchFamily="34" charset="-128"/>
              </a:rPr>
              <a:t> 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ADBF5B9-CC38-077C-3273-F530BE879D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3811" y="4921623"/>
            <a:ext cx="1416763" cy="559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8866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A8DCC-7019-5901-7909-60DC32C34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3247695-35FB-47AA-745F-ECF68B12B9C2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N</a:t>
            </a:r>
            <a:r>
              <a:rPr lang="en-US" altLang="zh-CN" sz="3200" b="1" dirty="0"/>
              <a:t>orm</a:t>
            </a:r>
            <a:endParaRPr lang="en-US" sz="3200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315DF68-805B-A866-C03D-1EC1E169CE59}"/>
              </a:ext>
            </a:extLst>
          </p:cNvPr>
          <p:cNvSpPr txBox="1">
            <a:spLocks/>
          </p:cNvSpPr>
          <p:nvPr/>
        </p:nvSpPr>
        <p:spPr bwMode="auto">
          <a:xfrm>
            <a:off x="457200" y="682357"/>
            <a:ext cx="7556500" cy="1116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accent1"/>
                </a:solidFill>
                <a:latin typeface="+mj-lt"/>
                <a:ea typeface="MS PGothic" panose="020B0600070205080204" pitchFamily="34" charset="-128"/>
                <a:cs typeface="ＭＳ Ｐゴシック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Tahoma" pitchFamily="34" charset="0"/>
                <a:ea typeface="MS PGothic" panose="020B0600070205080204" pitchFamily="34" charset="-128"/>
                <a:cs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Tahoma" pitchFamily="34" charset="0"/>
                <a:ea typeface="MS PGothic" panose="020B0600070205080204" pitchFamily="34" charset="-128"/>
                <a:cs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Tahoma" pitchFamily="34" charset="0"/>
                <a:ea typeface="MS PGothic" panose="020B0600070205080204" pitchFamily="34" charset="-128"/>
                <a:cs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Tahoma" pitchFamily="34" charset="0"/>
                <a:ea typeface="MS PGothic" panose="020B0600070205080204" pitchFamily="34" charset="-128"/>
                <a:cs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Rockwell" charset="0"/>
                <a:ea typeface="ＭＳ Ｐゴシック" charset="-128"/>
                <a:cs typeface="ＭＳ Ｐゴシック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Rockwell" charset="0"/>
                <a:ea typeface="ＭＳ Ｐゴシック" charset="-128"/>
                <a:cs typeface="ＭＳ Ｐゴシック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Rockwell" charset="0"/>
                <a:ea typeface="ＭＳ Ｐゴシック" charset="-128"/>
                <a:cs typeface="ＭＳ Ｐゴシック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Rockwell" charset="0"/>
                <a:ea typeface="ＭＳ Ｐゴシック" charset="-128"/>
                <a:cs typeface="ＭＳ Ｐゴシック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Tahoma"/>
                <a:ea typeface="MS PGothic" panose="020B0600070205080204" pitchFamily="34" charset="-128"/>
              </a:rPr>
              <a:t>Matrix Norms: examples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121C60-DCE8-E80D-6EDE-4532F4F81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141" y="1285837"/>
            <a:ext cx="10074042" cy="5484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5443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3A369-24A2-C4F7-2FA6-5847674CA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6698E-410D-638A-B590-643D8EAC2A42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N</a:t>
            </a:r>
            <a:r>
              <a:rPr lang="en-US" altLang="zh-CN" sz="3200" b="1" dirty="0"/>
              <a:t>orm</a:t>
            </a:r>
            <a:endParaRPr lang="en-US" sz="32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C7430D-B601-47A9-3F8D-4C0A6FC4E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314" y="1206322"/>
            <a:ext cx="10353920" cy="6774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6262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31A0A-68F4-DE68-8CC3-A89C6E4AF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E677592-CAE0-2F96-2ADA-35B844744C63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Example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9846AE1-9B93-F2BF-41B3-B1591EFF78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2624" y="781748"/>
            <a:ext cx="4968103" cy="592297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24B23D7-8B61-1C67-7D74-433F74B8DEA4}"/>
              </a:ext>
            </a:extLst>
          </p:cNvPr>
          <p:cNvSpPr/>
          <p:nvPr/>
        </p:nvSpPr>
        <p:spPr>
          <a:xfrm>
            <a:off x="4937760" y="5943600"/>
            <a:ext cx="1005840" cy="5577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720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40F01-097F-0CEE-6D2A-C5D38E601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98E68A2-EFC1-8B34-1C65-D35C01C660FA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FC080D-C3B9-9266-A791-98ACE1A687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036" y="1834854"/>
            <a:ext cx="3686382" cy="19233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B5AA0D-26F7-7CE9-1EF1-FB13F30702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5213" y="1968958"/>
            <a:ext cx="2778487" cy="15995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D3057D-BB2F-FF1A-145C-C7DBD6DDA6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2350" y="3758183"/>
            <a:ext cx="2034088" cy="135150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F568F71-EA26-E6A1-F160-E7AEB4D3A9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060" y="906945"/>
            <a:ext cx="3474123" cy="1370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2671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3154F-660E-3D89-D19A-39C141AEE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276E587-F230-9A04-3E8B-7C8B746A0A87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CBBEA1-F3EC-4D45-E634-A88AB2EC36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036" y="1834854"/>
            <a:ext cx="3686382" cy="19233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0D4A78B-8B6E-B22B-AC8A-B7D14A56C2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1464" y="2241487"/>
            <a:ext cx="2311519" cy="122561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E812DE6-640B-74DF-BD92-D423F328B8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2633" y="930157"/>
            <a:ext cx="1993929" cy="113380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EA8142E-1209-80F3-A577-7E5B5F2913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0936" y="4062343"/>
            <a:ext cx="2112402" cy="1422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6189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BA42B-1319-9450-9558-E358948AF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49FC78B-2F25-A3D2-0B4A-9DC3C37FEAB7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CAB061-1E29-03B6-746E-7CA630A937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036" y="1834854"/>
            <a:ext cx="3686382" cy="19233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CFFB3C7-12B4-D49B-5396-85BCF9D7C4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2619" y="2203387"/>
            <a:ext cx="2311519" cy="122561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2CAC881-CC3C-5EE5-A00E-1BBF9A3081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2633" y="930157"/>
            <a:ext cx="1993929" cy="113380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189D66D-BFDA-0819-173E-2B60BC4E46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8227" y="1996764"/>
            <a:ext cx="2778487" cy="159950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04F879B-7178-55EC-E8E4-4BEA5ED5A3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590" y="4386778"/>
            <a:ext cx="1809843" cy="104780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3E76F73-F7D7-FD28-57E3-1B5A73A60C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75016" y="4199503"/>
            <a:ext cx="2112402" cy="142235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7368166-FAEC-BFCF-5348-10C3E5BB5AB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6483" y="4199503"/>
            <a:ext cx="2025754" cy="118116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30FD695-B36E-CED6-AB52-EE3A99F59A2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5683" y="4190359"/>
            <a:ext cx="2038455" cy="1339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5103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8551B-2DA1-3BD5-C1AF-3861FFB01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2AEFCDE-4B2C-8461-732B-38C8001A4CB7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C</a:t>
            </a:r>
            <a:r>
              <a:rPr lang="en-US" altLang="zh-CN" sz="3200" b="1" dirty="0"/>
              <a:t>ondition number</a:t>
            </a:r>
            <a:endParaRPr lang="en-US" sz="3200" b="1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1BF44D3-11CA-51BA-F07C-4D07B24DB0A1}"/>
              </a:ext>
            </a:extLst>
          </p:cNvPr>
          <p:cNvSpPr txBox="1">
            <a:spLocks/>
          </p:cNvSpPr>
          <p:nvPr/>
        </p:nvSpPr>
        <p:spPr bwMode="auto">
          <a:xfrm>
            <a:off x="2226691" y="1151700"/>
            <a:ext cx="7556500" cy="1116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accent1"/>
                </a:solidFill>
                <a:latin typeface="+mj-lt"/>
                <a:ea typeface="MS PGothic" panose="020B0600070205080204" pitchFamily="34" charset="-128"/>
                <a:cs typeface="ＭＳ Ｐゴシック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Tahoma" pitchFamily="34" charset="0"/>
                <a:ea typeface="MS PGothic" panose="020B0600070205080204" pitchFamily="34" charset="-128"/>
                <a:cs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Tahoma" pitchFamily="34" charset="0"/>
                <a:ea typeface="MS PGothic" panose="020B0600070205080204" pitchFamily="34" charset="-128"/>
                <a:cs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Tahoma" pitchFamily="34" charset="0"/>
                <a:ea typeface="MS PGothic" panose="020B0600070205080204" pitchFamily="34" charset="-128"/>
                <a:cs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Tahoma" pitchFamily="34" charset="0"/>
                <a:ea typeface="MS PGothic" panose="020B0600070205080204" pitchFamily="34" charset="-128"/>
                <a:cs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Rockwell" charset="0"/>
                <a:ea typeface="ＭＳ Ｐゴシック" charset="-128"/>
                <a:cs typeface="ＭＳ Ｐゴシック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Rockwell" charset="0"/>
                <a:ea typeface="ＭＳ Ｐゴシック" charset="-128"/>
                <a:cs typeface="ＭＳ Ｐゴシック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Rockwell" charset="0"/>
                <a:ea typeface="ＭＳ Ｐゴシック" charset="-128"/>
                <a:cs typeface="ＭＳ Ｐゴシック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Rockwell" charset="0"/>
                <a:ea typeface="ＭＳ Ｐゴシック" charset="-128"/>
                <a:cs typeface="ＭＳ Ｐゴシック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Tahoma"/>
                <a:ea typeface="MS PGothic" panose="020B0600070205080204" pitchFamily="34" charset="-128"/>
              </a:rPr>
              <a:t>Matrix Condition Number</a:t>
            </a:r>
            <a:endParaRPr kumimoji="0" lang="en-US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Tahoma"/>
              <a:ea typeface="MS PGothic" panose="020B0600070205080204" pitchFamily="34" charset="-128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83DFCB7-8DC9-CA6F-0418-9ED5730757B1}"/>
              </a:ext>
            </a:extLst>
          </p:cNvPr>
          <p:cNvSpPr txBox="1">
            <a:spLocks/>
          </p:cNvSpPr>
          <p:nvPr/>
        </p:nvSpPr>
        <p:spPr bwMode="auto">
          <a:xfrm>
            <a:off x="2226691" y="2648712"/>
            <a:ext cx="7556500" cy="414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rgbClr val="595959"/>
                </a:solidFill>
                <a:latin typeface="+mn-lt"/>
                <a:ea typeface="MS PGothic" panose="020B0600070205080204" pitchFamily="34" charset="-128"/>
                <a:cs typeface="ＭＳ Ｐゴシック" charset="-128"/>
              </a:defRPr>
            </a:lvl1pPr>
            <a:lvl2pPr marL="4572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B870B8"/>
              </a:buClr>
              <a:buSzPct val="75000"/>
              <a:buFont typeface="Wingdings" panose="05000000000000000000" pitchFamily="2" charset="2"/>
              <a:buChar char="n"/>
              <a:defRPr sz="2800" kern="1200">
                <a:solidFill>
                  <a:srgbClr val="595959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6858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rgbClr val="595959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9144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B870B8"/>
              </a:buClr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rgbClr val="595959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11430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rgbClr val="595959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0" fontAlgn="base" latinLnBrk="0" hangingPunct="0">
              <a:lnSpc>
                <a:spcPct val="90000"/>
              </a:lnSpc>
              <a:spcBef>
                <a:spcPts val="2000"/>
              </a:spcBef>
              <a:spcAft>
                <a:spcPct val="0"/>
              </a:spcAft>
              <a:buClr>
                <a:srgbClr val="4F81BD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MS PGothic" panose="020B0600070205080204" pitchFamily="34" charset="-128"/>
              </a:rPr>
              <a:t>The </a:t>
            </a:r>
            <a:r>
              <a:rPr kumimoji="0" lang="en-US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MS PGothic" panose="020B0600070205080204" pitchFamily="34" charset="-128"/>
              </a:rPr>
              <a:t>matrix condition number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MS PGothic" panose="020B0600070205080204" pitchFamily="34" charset="-128"/>
              </a:rPr>
              <a:t> Cond[</a:t>
            </a:r>
            <a:r>
              <a:rPr kumimoji="0" lang="en-US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MS PGothic" panose="020B0600070205080204" pitchFamily="34" charset="-128"/>
              </a:rPr>
              <a:t>A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MS PGothic" panose="020B0600070205080204" pitchFamily="34" charset="-128"/>
              </a:rPr>
              <a:t>] is obtained by calculating Cond[</a:t>
            </a:r>
            <a:r>
              <a:rPr kumimoji="0" lang="en-US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MS PGothic" panose="020B0600070205080204" pitchFamily="34" charset="-128"/>
              </a:rPr>
              <a:t>A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MS PGothic" panose="020B0600070205080204" pitchFamily="34" charset="-128"/>
              </a:rPr>
              <a:t>]=||</a:t>
            </a:r>
            <a:r>
              <a:rPr kumimoji="0" lang="en-US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MS PGothic" panose="020B0600070205080204" pitchFamily="34" charset="-128"/>
              </a:rPr>
              <a:t>A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MS PGothic" panose="020B0600070205080204" pitchFamily="34" charset="-128"/>
              </a:rPr>
              <a:t>||·||</a:t>
            </a:r>
            <a:r>
              <a:rPr kumimoji="0" lang="en-US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MS PGothic" panose="020B0600070205080204" pitchFamily="34" charset="-128"/>
              </a:rPr>
              <a:t>A</a:t>
            </a:r>
            <a:r>
              <a:rPr kumimoji="0" lang="en-US" alt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MS PGothic" panose="020B0600070205080204" pitchFamily="34" charset="-128"/>
              </a:rPr>
              <a:t>-1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MS PGothic" panose="020B0600070205080204" pitchFamily="34" charset="-128"/>
              </a:rPr>
              <a:t>||</a:t>
            </a:r>
          </a:p>
          <a:p>
            <a:pPr marL="228600" marR="0" lvl="0" indent="-228600" algn="l" defTabSz="914400" rtl="0" eaLnBrk="0" fontAlgn="base" latinLnBrk="0" hangingPunct="0">
              <a:lnSpc>
                <a:spcPct val="90000"/>
              </a:lnSpc>
              <a:spcBef>
                <a:spcPts val="2000"/>
              </a:spcBef>
              <a:spcAft>
                <a:spcPct val="0"/>
              </a:spcAft>
              <a:buClr>
                <a:srgbClr val="4F81BD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MS PGothic" panose="020B0600070205080204" pitchFamily="34" charset="-128"/>
              </a:rPr>
              <a:t>In can be shown that:</a:t>
            </a:r>
            <a:b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MS PGothic" panose="020B0600070205080204" pitchFamily="34" charset="-128"/>
              </a:rPr>
            </a:br>
            <a:b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MS PGothic" panose="020B0600070205080204" pitchFamily="34" charset="-128"/>
              </a:rPr>
            </a:br>
            <a:b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ahoma"/>
                <a:ea typeface="MS PGothic" panose="020B0600070205080204" pitchFamily="34" charset="-128"/>
              </a:rPr>
            </a:b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Tahoma"/>
              <a:ea typeface="MS PGothic" panose="020B0600070205080204" pitchFamily="34" charset="-128"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90000"/>
              </a:lnSpc>
              <a:spcBef>
                <a:spcPts val="2000"/>
              </a:spcBef>
              <a:spcAft>
                <a:spcPct val="0"/>
              </a:spcAft>
              <a:buClr>
                <a:srgbClr val="4F81BD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MS PGothic" panose="020B0600070205080204" pitchFamily="34" charset="-128"/>
              </a:rPr>
              <a:t>Condition number is small if the matrix A is well-conditioned</a:t>
            </a:r>
          </a:p>
          <a:p>
            <a:pPr marL="228600" marR="0" lvl="0" indent="-228600" algn="l" defTabSz="914400" rtl="0" eaLnBrk="0" fontAlgn="base" latinLnBrk="0" hangingPunct="0">
              <a:lnSpc>
                <a:spcPct val="90000"/>
              </a:lnSpc>
              <a:spcBef>
                <a:spcPts val="2000"/>
              </a:spcBef>
              <a:spcAft>
                <a:spcPct val="0"/>
              </a:spcAft>
              <a:buClr>
                <a:srgbClr val="4F81BD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MS PGothic" panose="020B0600070205080204" pitchFamily="34" charset="-128"/>
              </a:rPr>
              <a:t>Condition number is big if the matrix A is ill-conditioned.</a:t>
            </a:r>
          </a:p>
        </p:txBody>
      </p:sp>
    </p:spTree>
    <p:extLst>
      <p:ext uri="{BB962C8B-B14F-4D97-AF65-F5344CB8AC3E}">
        <p14:creationId xmlns:p14="http://schemas.microsoft.com/office/powerpoint/2010/main" val="30050023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CCE3D-9C24-0E99-AD63-46A0C0AE6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95ACCFE-9BC0-882C-2971-927AB63F0460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C</a:t>
            </a:r>
            <a:r>
              <a:rPr lang="en-US" altLang="zh-CN" sz="3200" b="1" dirty="0"/>
              <a:t>ondition number</a:t>
            </a:r>
            <a:endParaRPr lang="en-US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C819F3-5818-6B48-8798-D3EDF0F8D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256" y="871479"/>
            <a:ext cx="7742591" cy="5736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1807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4F915-1C20-B42E-F692-22E91068E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2916D19-1E6B-06C5-4B49-D6BEEFAD8F26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C</a:t>
            </a:r>
            <a:r>
              <a:rPr lang="en-US" altLang="zh-CN" sz="3200" b="1" dirty="0"/>
              <a:t>ondition number</a:t>
            </a:r>
            <a:endParaRPr lang="en-US" sz="3200" b="1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D516106-1E58-F959-BBA1-4A3B7C4BA3F9}"/>
              </a:ext>
            </a:extLst>
          </p:cNvPr>
          <p:cNvSpPr txBox="1">
            <a:spLocks/>
          </p:cNvSpPr>
          <p:nvPr/>
        </p:nvSpPr>
        <p:spPr bwMode="auto">
          <a:xfrm>
            <a:off x="1476882" y="877380"/>
            <a:ext cx="8608949" cy="1116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accent1"/>
                </a:solidFill>
                <a:latin typeface="+mj-lt"/>
                <a:ea typeface="MS PGothic" panose="020B0600070205080204" pitchFamily="34" charset="-128"/>
                <a:cs typeface="ＭＳ Ｐゴシック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Tahoma" pitchFamily="34" charset="0"/>
                <a:ea typeface="MS PGothic" panose="020B0600070205080204" pitchFamily="34" charset="-128"/>
                <a:cs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Tahoma" pitchFamily="34" charset="0"/>
                <a:ea typeface="MS PGothic" panose="020B0600070205080204" pitchFamily="34" charset="-128"/>
                <a:cs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Tahoma" pitchFamily="34" charset="0"/>
                <a:ea typeface="MS PGothic" panose="020B0600070205080204" pitchFamily="34" charset="-128"/>
                <a:cs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Tahoma" pitchFamily="34" charset="0"/>
                <a:ea typeface="MS PGothic" panose="020B0600070205080204" pitchFamily="34" charset="-128"/>
                <a:cs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Rockwell" charset="0"/>
                <a:ea typeface="ＭＳ Ｐゴシック" charset="-128"/>
                <a:cs typeface="ＭＳ Ｐゴシック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Rockwell" charset="0"/>
                <a:ea typeface="ＭＳ Ｐゴシック" charset="-128"/>
                <a:cs typeface="ＭＳ Ｐゴシック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Rockwell" charset="0"/>
                <a:ea typeface="ＭＳ Ｐゴシック" charset="-128"/>
                <a:cs typeface="ＭＳ Ｐゴシック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Rockwell" charset="0"/>
                <a:ea typeface="ＭＳ Ｐゴシック" charset="-128"/>
                <a:cs typeface="ＭＳ Ｐゴシック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Tahoma"/>
                <a:ea typeface="MS PGothic" panose="020B0600070205080204" pitchFamily="34" charset="-128"/>
              </a:rPr>
              <a:t>Matrix Condition Number: an example</a:t>
            </a:r>
            <a:endParaRPr kumimoji="0" lang="en-US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Tahoma"/>
              <a:ea typeface="MS PGothic" panose="020B0600070205080204" pitchFamily="34" charset="-128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FCE0142-F28B-42BA-5331-AF797B5E174A}"/>
              </a:ext>
            </a:extLst>
          </p:cNvPr>
          <p:cNvSpPr txBox="1">
            <a:spLocks/>
          </p:cNvSpPr>
          <p:nvPr/>
        </p:nvSpPr>
        <p:spPr bwMode="auto">
          <a:xfrm>
            <a:off x="1476882" y="2374392"/>
            <a:ext cx="8608949" cy="4144963"/>
          </a:xfrm>
          <a:prstGeom prst="rect">
            <a:avLst/>
          </a:prstGeom>
          <a:blipFill>
            <a:blip r:embed="rId2"/>
            <a:stretch>
              <a:fillRect l="-242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rgbClr val="595959"/>
                </a:solidFill>
                <a:latin typeface="+mn-lt"/>
                <a:ea typeface="MS PGothic" panose="020B0600070205080204" pitchFamily="34" charset="-128"/>
                <a:cs typeface="ＭＳ Ｐゴシック" charset="-128"/>
              </a:defRPr>
            </a:lvl1pPr>
            <a:lvl2pPr marL="4572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B870B8"/>
              </a:buClr>
              <a:buSzPct val="75000"/>
              <a:buFont typeface="Wingdings" panose="05000000000000000000" pitchFamily="2" charset="2"/>
              <a:buChar char="n"/>
              <a:defRPr sz="2800" kern="1200">
                <a:solidFill>
                  <a:srgbClr val="595959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6858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rgbClr val="595959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9144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B870B8"/>
              </a:buClr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rgbClr val="595959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11430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rgbClr val="595959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rgbClr val="4F81BD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Tahoma"/>
                <a:ea typeface="MS PGothic" panose="020B0600070205080204" pitchFamily="34" charset="-128"/>
              </a:rPr>
              <a:t> 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noFill/>
              <a:effectLst/>
              <a:uLnTx/>
              <a:uFillTx/>
              <a:latin typeface="Tahoma"/>
              <a:ea typeface="MS PGothic" panose="020B0600070205080204" pitchFamily="34" charset="-128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7D28F0-9215-4026-7130-709B7ACE44B0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990600" y="5931671"/>
            <a:ext cx="4572000" cy="550535"/>
          </a:xfrm>
          <a:prstGeom prst="rect">
            <a:avLst/>
          </a:prstGeom>
          <a:blipFill>
            <a:blip r:embed="rId3"/>
            <a:stretch>
              <a:fillRect l="-1200" b="-3333"/>
            </a:stretch>
          </a:blipFill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noFill/>
                <a:latin typeface="Arial" panose="020B0604020202020204" pitchFamily="34" charset="0"/>
                <a:ea typeface="MS PGothic" panose="020B0600070205080204" pitchFamily="34" charset="-128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4358062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79FA4-882F-20B3-7AEE-3FEC49A8E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82D0D8E-255D-18C9-438C-AD2A3CD4F9D1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C</a:t>
            </a:r>
            <a:r>
              <a:rPr lang="en-US" altLang="zh-CN" sz="3200" b="1" dirty="0"/>
              <a:t>ondition number</a:t>
            </a:r>
            <a:endParaRPr lang="en-US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A93C91-5327-F122-67A2-29D88BA4B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256" y="871479"/>
            <a:ext cx="7742591" cy="5736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3707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7D43E-F3C1-6822-2832-E31DAF5EB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7BD1268-5C8F-DFE0-79B7-1E3A15B8D7CD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C</a:t>
            </a:r>
            <a:r>
              <a:rPr lang="en-US" altLang="zh-CN" sz="3200" b="1" dirty="0"/>
              <a:t>ondition number</a:t>
            </a:r>
            <a:endParaRPr lang="en-US" sz="3200" b="1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DA919D5-F20F-8186-851C-2098C6B054FF}"/>
              </a:ext>
            </a:extLst>
          </p:cNvPr>
          <p:cNvSpPr txBox="1">
            <a:spLocks/>
          </p:cNvSpPr>
          <p:nvPr/>
        </p:nvSpPr>
        <p:spPr bwMode="auto">
          <a:xfrm>
            <a:off x="1708150" y="877380"/>
            <a:ext cx="7556500" cy="1116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accent1"/>
                </a:solidFill>
                <a:latin typeface="+mj-lt"/>
                <a:ea typeface="MS PGothic" panose="020B0600070205080204" pitchFamily="34" charset="-128"/>
                <a:cs typeface="ＭＳ Ｐゴシック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Tahoma" pitchFamily="34" charset="0"/>
                <a:ea typeface="MS PGothic" panose="020B0600070205080204" pitchFamily="34" charset="-128"/>
                <a:cs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Tahoma" pitchFamily="34" charset="0"/>
                <a:ea typeface="MS PGothic" panose="020B0600070205080204" pitchFamily="34" charset="-128"/>
                <a:cs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Tahoma" pitchFamily="34" charset="0"/>
                <a:ea typeface="MS PGothic" panose="020B0600070205080204" pitchFamily="34" charset="-128"/>
                <a:cs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Tahoma" pitchFamily="34" charset="0"/>
                <a:ea typeface="MS PGothic" panose="020B0600070205080204" pitchFamily="34" charset="-128"/>
                <a:cs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Rockwell" charset="0"/>
                <a:ea typeface="ＭＳ Ｐゴシック" charset="-128"/>
                <a:cs typeface="ＭＳ Ｐゴシック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Rockwell" charset="0"/>
                <a:ea typeface="ＭＳ Ｐゴシック" charset="-128"/>
                <a:cs typeface="ＭＳ Ｐゴシック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Rockwell" charset="0"/>
                <a:ea typeface="ＭＳ Ｐゴシック" charset="-128"/>
                <a:cs typeface="ＭＳ Ｐゴシック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accent1"/>
                </a:solidFill>
                <a:latin typeface="Rockwell" charset="0"/>
                <a:ea typeface="ＭＳ Ｐゴシック" charset="-128"/>
                <a:cs typeface="ＭＳ Ｐゴシック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Tahoma"/>
                <a:ea typeface="MS PGothic" panose="020B0600070205080204" pitchFamily="34" charset="-128"/>
              </a:rPr>
              <a:t>Matrix Condition Number: an example (DIY)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2DAB2447-DE7F-FCF9-B252-253D1302A3C4}"/>
              </a:ext>
            </a:extLst>
          </p:cNvPr>
          <p:cNvSpPr txBox="1">
            <a:spLocks/>
          </p:cNvSpPr>
          <p:nvPr/>
        </p:nvSpPr>
        <p:spPr bwMode="auto">
          <a:xfrm>
            <a:off x="1708150" y="2374392"/>
            <a:ext cx="7556500" cy="4144963"/>
          </a:xfrm>
          <a:prstGeom prst="rect">
            <a:avLst/>
          </a:prstGeom>
          <a:blipFill>
            <a:blip r:embed="rId2"/>
            <a:stretch>
              <a:fillRect l="-242" b="-1765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rgbClr val="595959"/>
                </a:solidFill>
                <a:latin typeface="+mn-lt"/>
                <a:ea typeface="MS PGothic" panose="020B0600070205080204" pitchFamily="34" charset="-128"/>
                <a:cs typeface="ＭＳ Ｐゴシック" charset="-128"/>
              </a:defRPr>
            </a:lvl1pPr>
            <a:lvl2pPr marL="4572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B870B8"/>
              </a:buClr>
              <a:buSzPct val="75000"/>
              <a:buFont typeface="Wingdings" panose="05000000000000000000" pitchFamily="2" charset="2"/>
              <a:buChar char="n"/>
              <a:defRPr sz="2800" kern="1200">
                <a:solidFill>
                  <a:srgbClr val="595959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6858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rgbClr val="595959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9144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B870B8"/>
              </a:buClr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rgbClr val="595959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11430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rgbClr val="595959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rgbClr val="4F81BD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Tahoma"/>
                <a:ea typeface="MS PGothic" panose="020B0600070205080204" pitchFamily="34" charset="-128"/>
              </a:rPr>
              <a:t> 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noFill/>
              <a:effectLst/>
              <a:uLnTx/>
              <a:uFillTx/>
              <a:latin typeface="Tahoma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640141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2E980-552E-0B18-1B09-142A36167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F11AA94-1AB9-F8FC-627B-4A93068C9726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T</a:t>
            </a:r>
            <a:r>
              <a:rPr lang="en-US" altLang="zh-CN" sz="3200" b="1" dirty="0"/>
              <a:t>hinking</a:t>
            </a:r>
            <a:endParaRPr lang="en-US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B5DAED-9FAA-E5B7-3F3C-5DEA1EAAF0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910" y="1849600"/>
            <a:ext cx="5549998" cy="18902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794B26-1FE1-1048-3CCD-40236C761F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3249" y="3739896"/>
            <a:ext cx="4239219" cy="174671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4FC856-29AC-42C1-56E6-7F414BAEAE1C}"/>
              </a:ext>
            </a:extLst>
          </p:cNvPr>
          <p:cNvSpPr txBox="1"/>
          <p:nvPr/>
        </p:nvSpPr>
        <p:spPr>
          <a:xfrm>
            <a:off x="841248" y="1225296"/>
            <a:ext cx="31611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G</a:t>
            </a:r>
            <a:r>
              <a:rPr lang="en-US" altLang="zh-CN" sz="2400" b="1" dirty="0"/>
              <a:t>aussian Elimination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3385231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FAB82-46F2-4C59-3CDA-BC016E642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9305FF3-DE8E-93D9-FE73-78A327BC9D0E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T</a:t>
            </a:r>
            <a:r>
              <a:rPr lang="en-US" altLang="zh-CN" sz="3200" b="1" dirty="0"/>
              <a:t>hinking</a:t>
            </a:r>
            <a:endParaRPr lang="en-US" sz="3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1D0128-27A6-8BDB-D66D-22B579AAEC8E}"/>
              </a:ext>
            </a:extLst>
          </p:cNvPr>
          <p:cNvSpPr txBox="1"/>
          <p:nvPr/>
        </p:nvSpPr>
        <p:spPr>
          <a:xfrm>
            <a:off x="841248" y="1225296"/>
            <a:ext cx="598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G</a:t>
            </a:r>
            <a:r>
              <a:rPr lang="en-US" altLang="zh-CN" sz="2400" b="1" dirty="0"/>
              <a:t>aussian Elimination with Partial Pivoting</a:t>
            </a:r>
            <a:endParaRPr lang="en-US" sz="24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2434CA-1B32-ACFE-125F-B8C9A71790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2118" y="1956027"/>
            <a:ext cx="2611730" cy="15110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440139D-685F-2E33-986F-F99151EBEA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0612" y="3736166"/>
            <a:ext cx="2739969" cy="178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5954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15E13-F302-586A-7582-7491C2C30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43C8C28-7BBF-D8F8-22EE-A774EE543FA0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T</a:t>
            </a:r>
            <a:r>
              <a:rPr lang="en-US" altLang="zh-CN" sz="3200" b="1" dirty="0"/>
              <a:t>hinking</a:t>
            </a:r>
            <a:endParaRPr lang="en-US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AB91DC-DA53-8267-FA47-ED209731F8F0}"/>
              </a:ext>
            </a:extLst>
          </p:cNvPr>
          <p:cNvSpPr txBox="1"/>
          <p:nvPr/>
        </p:nvSpPr>
        <p:spPr>
          <a:xfrm>
            <a:off x="822960" y="1261872"/>
            <a:ext cx="33201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Condition number of 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92B0A4-A29A-CF4E-F858-8C3EED5AE9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173" y="1878939"/>
            <a:ext cx="2340619" cy="12848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68372D-8A58-C8C8-2B83-D3B8B5D7D5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1997812"/>
            <a:ext cx="3904570" cy="88317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B1671DB-6E91-8326-64EA-775DD54260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399" y="3429000"/>
            <a:ext cx="4511261" cy="321339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65452FB-D691-29D5-E829-77CD2B9E09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5005" y="2890402"/>
            <a:ext cx="2276010" cy="108661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5E93A07-B056-547E-ADD7-38581CA7F8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9325" y="4077570"/>
            <a:ext cx="1714142" cy="841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6049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F5956-26B7-606C-1EEE-1DCCEC54F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7EB9B12-B01A-AFCD-B6B9-E611E138E565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T</a:t>
            </a:r>
            <a:r>
              <a:rPr lang="en-US" altLang="zh-CN" sz="3200" b="1" dirty="0"/>
              <a:t>hinking</a:t>
            </a:r>
            <a:endParaRPr lang="en-US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6E0D7A-937D-23EF-C325-FBFEAFF37578}"/>
              </a:ext>
            </a:extLst>
          </p:cNvPr>
          <p:cNvSpPr txBox="1"/>
          <p:nvPr/>
        </p:nvSpPr>
        <p:spPr>
          <a:xfrm>
            <a:off x="822960" y="1261872"/>
            <a:ext cx="33201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Condition number of 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81F730-7116-7405-5866-EFC2112DBC5D}"/>
              </a:ext>
            </a:extLst>
          </p:cNvPr>
          <p:cNvSpPr txBox="1"/>
          <p:nvPr/>
        </p:nvSpPr>
        <p:spPr>
          <a:xfrm>
            <a:off x="1700784" y="3167390"/>
            <a:ext cx="7871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Pivoting will change the condition number of A?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ABFCEA-CE93-917E-1D96-91D2AC3A9500}"/>
              </a:ext>
            </a:extLst>
          </p:cNvPr>
          <p:cNvSpPr txBox="1"/>
          <p:nvPr/>
        </p:nvSpPr>
        <p:spPr>
          <a:xfrm>
            <a:off x="5065451" y="4261104"/>
            <a:ext cx="8418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No!!!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1212106-53C7-4317-F86E-8E40D0C431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7748" y="3974384"/>
            <a:ext cx="2095608" cy="103510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B0F21F-CE1B-CB35-F035-1443CDD826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7748" y="5293261"/>
            <a:ext cx="2444876" cy="685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926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98542-85A6-AE70-116F-1EE663E84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3E82477-3ADD-38AB-54B8-000465D488AC}"/>
              </a:ext>
            </a:extLst>
          </p:cNvPr>
          <p:cNvSpPr/>
          <p:nvPr/>
        </p:nvSpPr>
        <p:spPr>
          <a:xfrm>
            <a:off x="1" y="-9975"/>
            <a:ext cx="10972801" cy="692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T</a:t>
            </a:r>
            <a:r>
              <a:rPr lang="en-US" altLang="zh-CN" sz="3200" b="1" dirty="0"/>
              <a:t>hinking</a:t>
            </a:r>
            <a:endParaRPr lang="en-US" sz="32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0FD6BF-5DE5-91A0-A229-D440554A97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8249" y="1388573"/>
            <a:ext cx="6020109" cy="17399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43EEC90-36B7-0BB0-C45B-6C0F358127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8545" y="4080847"/>
            <a:ext cx="6077262" cy="1695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10307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2829</TotalTime>
  <Words>382</Words>
  <Application>Microsoft Office PowerPoint</Application>
  <PresentationFormat>Custom</PresentationFormat>
  <Paragraphs>107</Paragraphs>
  <Slides>34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44" baseType="lpstr">
      <vt:lpstr>SimSun</vt:lpstr>
      <vt:lpstr>Aptos</vt:lpstr>
      <vt:lpstr>Aptos Display</vt:lpstr>
      <vt:lpstr>Arial</vt:lpstr>
      <vt:lpstr>Cambria Math</vt:lpstr>
      <vt:lpstr>Tahoma</vt:lpstr>
      <vt:lpstr>Wingdings</vt:lpstr>
      <vt:lpstr>Office 主题​​</vt:lpstr>
      <vt:lpstr>Equation</vt:lpstr>
      <vt:lpstr>Scanned Photo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Chen, Chuqi</dc:creator>
  <cp:lastModifiedBy>Chen, Chuqi</cp:lastModifiedBy>
  <cp:revision>12</cp:revision>
  <dcterms:created xsi:type="dcterms:W3CDTF">2026-01-28T04:55:09Z</dcterms:created>
  <dcterms:modified xsi:type="dcterms:W3CDTF">2026-02-16T05:13:26Z</dcterms:modified>
</cp:coreProperties>
</file>