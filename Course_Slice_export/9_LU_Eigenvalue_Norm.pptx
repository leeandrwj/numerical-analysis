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9" r:id="rId2"/>
    <p:sldId id="451" r:id="rId3"/>
    <p:sldId id="427" r:id="rId4"/>
    <p:sldId id="431" r:id="rId5"/>
    <p:sldId id="453" r:id="rId6"/>
    <p:sldId id="428" r:id="rId7"/>
    <p:sldId id="429" r:id="rId8"/>
    <p:sldId id="430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80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6" r:id="rId25"/>
    <p:sldId id="447" r:id="rId26"/>
    <p:sldId id="454" r:id="rId27"/>
    <p:sldId id="452" r:id="rId28"/>
    <p:sldId id="456" r:id="rId29"/>
    <p:sldId id="455" r:id="rId30"/>
    <p:sldId id="467" r:id="rId31"/>
    <p:sldId id="468" r:id="rId32"/>
    <p:sldId id="469" r:id="rId33"/>
    <p:sldId id="470" r:id="rId34"/>
    <p:sldId id="471" r:id="rId35"/>
    <p:sldId id="477" r:id="rId36"/>
    <p:sldId id="478" r:id="rId37"/>
    <p:sldId id="481" r:id="rId38"/>
    <p:sldId id="479" r:id="rId39"/>
    <p:sldId id="482" r:id="rId40"/>
    <p:sldId id="488" r:id="rId41"/>
    <p:sldId id="489" r:id="rId42"/>
    <p:sldId id="490" r:id="rId43"/>
    <p:sldId id="491" r:id="rId44"/>
    <p:sldId id="492" r:id="rId45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612" y="80"/>
      </p:cViewPr>
      <p:guideLst>
        <p:guide orient="horz" pos="2160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6E0AF-CF27-4EBF-95FD-353059CD133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30F0E-DC3D-4285-B4EF-5163287D2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2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77138-3BC2-4722-8FB5-C522C73BB8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4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0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9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3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6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5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5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0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3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12B01-1403-42A1-9DED-A8A821F83A9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7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0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ilimath.com/lessons/advanced-algebra/determinant-3x3-matrix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8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1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A6B394-0A1E-964E-C6AF-CFE9D3A0C996}"/>
              </a:ext>
            </a:extLst>
          </p:cNvPr>
          <p:cNvSpPr/>
          <p:nvPr/>
        </p:nvSpPr>
        <p:spPr>
          <a:xfrm>
            <a:off x="141149" y="1925961"/>
            <a:ext cx="10690502" cy="1447976"/>
          </a:xfrm>
          <a:prstGeom prst="rect">
            <a:avLst/>
          </a:prstGeom>
          <a:solidFill>
            <a:srgbClr val="002060"/>
          </a:solidFill>
          <a:ln cap="rnd"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ym typeface="+mn-ea"/>
              </a:rPr>
              <a:t>MATH417 L9</a:t>
            </a:r>
            <a:endParaRPr lang="zh-CN" altLang="en-US" sz="4400" b="1" dirty="0">
              <a:ln w="10160" cap="rnd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09EFE95-7FCC-662D-168E-BFE3A96CF9ED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586740" y="3741415"/>
            <a:ext cx="9799320" cy="21145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Chuqi CHEN</a:t>
            </a:r>
          </a:p>
          <a:p>
            <a:endParaRPr lang="en-US" altLang="zh-CN" sz="2000" dirty="0"/>
          </a:p>
          <a:p>
            <a:r>
              <a:rPr lang="en-US" altLang="zh-CN" dirty="0"/>
              <a:t>February 4, 2026</a:t>
            </a:r>
          </a:p>
        </p:txBody>
      </p:sp>
      <p:pic>
        <p:nvPicPr>
          <p:cNvPr id="8" name="Picture 6" descr="University of Michigan Logo and symbol, meaning, history, PNG, brand">
            <a:extLst>
              <a:ext uri="{FF2B5EF4-FFF2-40B4-BE49-F238E27FC236}">
                <a16:creationId xmlns:a16="http://schemas.microsoft.com/office/drawing/2014/main" id="{AA367B7F-C39E-3B5E-C389-F6151769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045" y="5754936"/>
            <a:ext cx="1969757" cy="110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53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6A5F-012D-C092-A6C8-99317E4D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4FFCB3-44BA-BEDD-F72F-98C72ADB1EC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33756F85-1F6A-39A8-25D9-630A1F815EF4}"/>
              </a:ext>
            </a:extLst>
          </p:cNvPr>
          <p:cNvSpPr txBox="1"/>
          <p:nvPr/>
        </p:nvSpPr>
        <p:spPr>
          <a:xfrm>
            <a:off x="846896" y="4982376"/>
            <a:ext cx="4319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Homework 2: due dat</a:t>
            </a:r>
            <a:r>
              <a:rPr lang="en-US" altLang="zh-CN" sz="2400" b="1" dirty="0"/>
              <a:t>e</a:t>
            </a:r>
            <a:r>
              <a:rPr lang="en-US" sz="2400" b="1" dirty="0"/>
              <a:t>: 02/16</a:t>
            </a:r>
          </a:p>
          <a:p>
            <a:r>
              <a:rPr lang="en-US" sz="2400" b="1" dirty="0"/>
              <a:t>H</a:t>
            </a:r>
            <a:r>
              <a:rPr lang="en-US" altLang="zh-CN" sz="2400" b="1" dirty="0"/>
              <a:t>omework 3: due date: 03/10</a:t>
            </a:r>
            <a:r>
              <a:rPr lang="en-US" sz="2400" b="1" dirty="0"/>
              <a:t> </a:t>
            </a: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40482289-56A2-4FEF-D49B-69FCC6FFF805}"/>
              </a:ext>
            </a:extLst>
          </p:cNvPr>
          <p:cNvSpPr txBox="1"/>
          <p:nvPr/>
        </p:nvSpPr>
        <p:spPr>
          <a:xfrm>
            <a:off x="846896" y="1858246"/>
            <a:ext cx="7499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</a:t>
            </a:r>
            <a:r>
              <a:rPr lang="en-US" altLang="zh-CN" sz="2400" b="1" dirty="0"/>
              <a:t>ffice Hour</a:t>
            </a:r>
            <a:r>
              <a:rPr lang="zh-CN" altLang="en-US" sz="2400" b="1" dirty="0"/>
              <a:t>： </a:t>
            </a:r>
            <a:r>
              <a:rPr lang="en-US" altLang="zh-CN" sz="2400" b="1" dirty="0"/>
              <a:t>by appointment 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cchenck@umich.edu</a:t>
            </a:r>
            <a:endParaRPr lang="en-US" sz="2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C6CC4D-49B9-1EB2-90D2-7786FF79A5B4}"/>
              </a:ext>
            </a:extLst>
          </p:cNvPr>
          <p:cNvSpPr txBox="1"/>
          <p:nvPr/>
        </p:nvSpPr>
        <p:spPr>
          <a:xfrm>
            <a:off x="846896" y="2929323"/>
            <a:ext cx="8882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Recording course for Wed.   </a:t>
            </a:r>
            <a:r>
              <a:rPr lang="zh-CN" altLang="en-US" sz="2400" b="1" dirty="0"/>
              <a:t>（</a:t>
            </a:r>
            <a:r>
              <a:rPr lang="en-US" sz="2400" b="1" dirty="0"/>
              <a:t>see the record, for HW1&amp; HW2.)</a:t>
            </a:r>
          </a:p>
          <a:p>
            <a:r>
              <a:rPr lang="en-US" sz="2400" b="1" dirty="0"/>
              <a:t>No course in class.</a:t>
            </a: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D9CD5524-6C03-8DFC-B91A-C0E20C35D7D9}"/>
              </a:ext>
            </a:extLst>
          </p:cNvPr>
          <p:cNvSpPr txBox="1"/>
          <p:nvPr/>
        </p:nvSpPr>
        <p:spPr>
          <a:xfrm>
            <a:off x="846896" y="4138899"/>
            <a:ext cx="5642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M</a:t>
            </a:r>
            <a:r>
              <a:rPr lang="en-US" altLang="zh-CN" sz="2400" b="1" dirty="0">
                <a:highlight>
                  <a:srgbClr val="FFFF00"/>
                </a:highlight>
              </a:rPr>
              <a:t>idterm:</a:t>
            </a:r>
            <a:r>
              <a:rPr lang="zh-CN" altLang="en-US" sz="2400" b="1" dirty="0">
                <a:highlight>
                  <a:srgbClr val="FFFF00"/>
                </a:highlight>
              </a:rPr>
              <a:t> </a:t>
            </a:r>
            <a:r>
              <a:rPr lang="de-DE" altLang="zh-CN" sz="2400" b="1" dirty="0">
                <a:highlight>
                  <a:srgbClr val="FFFF00"/>
                </a:highlight>
              </a:rPr>
              <a:t>Feb 25 8:30-10:00am EH 1084.</a:t>
            </a:r>
            <a:endParaRPr lang="en-US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6055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92DF-3B20-8DCD-A24E-F9121DEFE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FA192C-4420-AE81-AF15-23ECF7FC751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W</a:t>
            </a:r>
            <a:r>
              <a:rPr lang="en-US" altLang="zh-CN" sz="3200" b="1" dirty="0"/>
              <a:t>arm up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DB2FFD-8B00-2C06-4D2E-E04DB93CACDD}"/>
              </a:ext>
            </a:extLst>
          </p:cNvPr>
          <p:cNvSpPr txBox="1">
            <a:spLocks noChangeArrowheads="1"/>
          </p:cNvSpPr>
          <p:nvPr/>
        </p:nvSpPr>
        <p:spPr>
          <a:xfrm>
            <a:off x="-1748901" y="55633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dirty="0">
                <a:latin typeface="Arial" panose="020B0604020202020204" pitchFamily="34" charset="0"/>
              </a:rPr>
              <a:t>Gaussian elimination</a:t>
            </a:r>
            <a:endParaRPr lang="en-US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32648B-4560-F594-398A-0DE4E10A8B78}"/>
                  </a:ext>
                </a:extLst>
              </p:cNvPr>
              <p:cNvSpPr txBox="1"/>
              <p:nvPr/>
            </p:nvSpPr>
            <p:spPr>
              <a:xfrm>
                <a:off x="1530406" y="1869133"/>
                <a:ext cx="7911988" cy="2247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54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1    1</m:t>
                                  </m:r>
                                </m:e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4 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6  5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32648B-4560-F594-398A-0DE4E10A8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406" y="1869133"/>
                <a:ext cx="7911988" cy="22476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6C306C-3431-BC5F-3D99-274CDFB36EF5}"/>
                  </a:ext>
                </a:extLst>
              </p:cNvPr>
              <p:cNvSpPr txBox="1"/>
              <p:nvPr/>
            </p:nvSpPr>
            <p:spPr>
              <a:xfrm>
                <a:off x="1407678" y="4375681"/>
                <a:ext cx="7911988" cy="2247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sz="5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2 </m:t>
                                  </m:r>
                                  <m:r>
                                    <a:rPr lang="en-US" sz="5400" i="1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1    1</m:t>
                                  </m:r>
                                </m:e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0−8 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 3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0    0   </m:t>
                              </m:r>
                              <m:r>
                                <a:rPr lang="en-US" sz="5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6C306C-3431-BC5F-3D99-274CDFB36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678" y="4375681"/>
                <a:ext cx="7911988" cy="22476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5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B1E-3FFC-E81D-8020-2A0B8221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9F15EF-E95F-ADA4-9303-FEC2B13E1B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2833A-87D6-C150-D642-6A6860C4CDE4}"/>
              </a:ext>
            </a:extLst>
          </p:cNvPr>
          <p:cNvSpPr txBox="1"/>
          <p:nvPr/>
        </p:nvSpPr>
        <p:spPr>
          <a:xfrm>
            <a:off x="1435145" y="1651177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/>
              <a:t>LU F</a:t>
            </a:r>
            <a:r>
              <a:rPr lang="en-US" altLang="zh-CN" sz="2800" b="1" dirty="0"/>
              <a:t>actorization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Eigenvalue and Eigenvector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Norm</a:t>
            </a:r>
          </a:p>
        </p:txBody>
      </p:sp>
    </p:spTree>
    <p:extLst>
      <p:ext uri="{BB962C8B-B14F-4D97-AF65-F5344CB8AC3E}">
        <p14:creationId xmlns:p14="http://schemas.microsoft.com/office/powerpoint/2010/main" val="407150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DB3C-CB96-ED09-A81C-C7CD6775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D2CB87-8236-D5EC-CE4A-AA4012CEEE6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237AB8-5A7A-86C8-4573-DE7386017722}"/>
              </a:ext>
            </a:extLst>
          </p:cNvPr>
          <p:cNvSpPr txBox="1"/>
          <p:nvPr/>
        </p:nvSpPr>
        <p:spPr>
          <a:xfrm>
            <a:off x="1435145" y="1651177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/>
              <a:t>LU F</a:t>
            </a:r>
            <a:r>
              <a:rPr lang="en-US" altLang="zh-CN" sz="2800" b="1" dirty="0"/>
              <a:t>actorization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</a:rPr>
              <a:t>Eigenvalue and Eigenvector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</a:rPr>
              <a:t>Norm</a:t>
            </a:r>
          </a:p>
        </p:txBody>
      </p:sp>
    </p:spTree>
    <p:extLst>
      <p:ext uri="{BB962C8B-B14F-4D97-AF65-F5344CB8AC3E}">
        <p14:creationId xmlns:p14="http://schemas.microsoft.com/office/powerpoint/2010/main" val="182741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C97D-2D36-A9DB-1D31-28DC68A3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915171-6AAC-D9CC-4EEB-72F4045F6DC8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F1DE1861-6073-7541-B7E8-B6DE63FFE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42" y="836425"/>
            <a:ext cx="9900313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For most non-singular matrix [</a:t>
            </a:r>
            <a:r>
              <a:rPr lang="en-US" altLang="en-US" sz="2400" i="1" dirty="0">
                <a:latin typeface="Arial" panose="020B0604020202020204" pitchFamily="34" charset="0"/>
              </a:rPr>
              <a:t>A</a:t>
            </a:r>
            <a:r>
              <a:rPr lang="en-US" altLang="en-US" sz="2400" dirty="0">
                <a:latin typeface="Arial" panose="020B0604020202020204" pitchFamily="34" charset="0"/>
              </a:rPr>
              <a:t>] that one could conduct Naïve Gauss Elimination forward elimination steps, one can always write it as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where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   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latin typeface="Arial" panose="020B0604020202020204" pitchFamily="34" charset="0"/>
              </a:rPr>
              <a:t>= lower triangular matrix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   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latin typeface="Arial" panose="020B0604020202020204" pitchFamily="34" charset="0"/>
              </a:rPr>
              <a:t>= upper triangular matrix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E7EB93B6-7D33-C143-01F7-F83E930D47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314215"/>
              </p:ext>
            </p:extLst>
          </p:nvPr>
        </p:nvGraphicFramePr>
        <p:xfrm>
          <a:off x="2518298" y="5053144"/>
          <a:ext cx="62484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900" imgH="711200" progId="Equation.3">
                  <p:embed/>
                </p:oleObj>
              </mc:Choice>
              <mc:Fallback>
                <p:oleObj name="Equation" r:id="rId2" imgW="2755900" imgH="711200" progId="Equation.3">
                  <p:embed/>
                  <p:pic>
                    <p:nvPicPr>
                      <p:cNvPr id="49156" name="Object 4">
                        <a:extLst>
                          <a:ext uri="{FF2B5EF4-FFF2-40B4-BE49-F238E27FC236}">
                            <a16:creationId xmlns:a16="http://schemas.microsoft.com/office/drawing/2014/main" id="{D26E8A3B-A91F-00D2-EE33-1D96E0ED6E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298" y="5053144"/>
                        <a:ext cx="62484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8347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21F2F-790E-0214-51EA-10EBE0A4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A09CB2-D267-B6DF-47C2-80C06F683A9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814F6-E2A0-021E-712F-07CD50309A18}"/>
              </a:ext>
            </a:extLst>
          </p:cNvPr>
          <p:cNvSpPr txBox="1"/>
          <p:nvPr/>
        </p:nvSpPr>
        <p:spPr>
          <a:xfrm>
            <a:off x="1073425" y="4419420"/>
            <a:ext cx="93427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[</a:t>
            </a:r>
            <a:r>
              <a:rPr lang="en-US" altLang="en-US" sz="2400" i="1" dirty="0">
                <a:latin typeface="Arial" panose="020B0604020202020204" pitchFamily="34" charset="0"/>
              </a:rPr>
              <a:t>U</a:t>
            </a:r>
            <a:r>
              <a:rPr lang="en-US" altLang="en-US" sz="2400" dirty="0">
                <a:latin typeface="Arial" panose="020B0604020202020204" pitchFamily="34" charset="0"/>
              </a:rPr>
              <a:t>] is the same as the coefficient matrix at the end of the forward elimination step.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[</a:t>
            </a:r>
            <a:r>
              <a:rPr lang="en-US" altLang="en-US" sz="2400" i="1" dirty="0">
                <a:latin typeface="Arial" panose="020B0604020202020204" pitchFamily="34" charset="0"/>
              </a:rPr>
              <a:t>L</a:t>
            </a:r>
            <a:r>
              <a:rPr lang="en-US" altLang="en-US" sz="2400" dirty="0">
                <a:latin typeface="Arial" panose="020B0604020202020204" pitchFamily="34" charset="0"/>
              </a:rPr>
              <a:t>] is obtained using the </a:t>
            </a:r>
            <a:r>
              <a:rPr lang="en-US" altLang="en-US" sz="2400" i="1" dirty="0">
                <a:latin typeface="Arial" panose="020B0604020202020204" pitchFamily="34" charset="0"/>
              </a:rPr>
              <a:t>multipliers</a:t>
            </a:r>
            <a:r>
              <a:rPr lang="en-US" altLang="en-US" sz="2400" dirty="0">
                <a:latin typeface="Arial" panose="020B0604020202020204" pitchFamily="34" charset="0"/>
              </a:rPr>
              <a:t> that were used in the forward elimination process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C979C41-8592-F05E-6DCF-08B46E4D8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653872"/>
              </p:ext>
            </p:extLst>
          </p:nvPr>
        </p:nvGraphicFramePr>
        <p:xfrm>
          <a:off x="2430833" y="1866900"/>
          <a:ext cx="62484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900" imgH="711200" progId="Equation.3">
                  <p:embed/>
                </p:oleObj>
              </mc:Choice>
              <mc:Fallback>
                <p:oleObj name="Equation" r:id="rId2" imgW="2755900" imgH="711200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E7EB93B6-7D33-C143-01F7-F83E930D47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833" y="1866900"/>
                        <a:ext cx="62484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00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428E-7DBD-2288-8D12-179AE39F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C053BD-B7CE-D392-D5B0-C9ED67F3239F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53D4AEB-5C57-5639-A58D-701B6EFFE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686" y="1938130"/>
            <a:ext cx="6716713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2542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C8ADB-9E05-0B28-0394-64C6FA34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3F5672-5AC5-AA34-092C-E4EF11D56B3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9F9D1E7-DD26-0BC8-9F59-0E8E1BAA7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63429"/>
            <a:ext cx="9144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657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4EAD-39BB-1384-055E-75F44DBF8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92BBC11-22F6-DE6C-D44F-1137B2197B8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6C4F5E3-0178-5E3F-803C-16592910F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049044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How can this be used?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8FD12B3-AA10-D610-C2FB-B8D753F3B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051" y="2469580"/>
            <a:ext cx="8272508" cy="333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Given 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  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Decompose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latin typeface="Arial" panose="020B0604020202020204" pitchFamily="34" charset="0"/>
              </a:rPr>
              <a:t>into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latin typeface="Arial" panose="020B0604020202020204" pitchFamily="34" charset="0"/>
              </a:rPr>
              <a:t>and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Solve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latin typeface="Arial" panose="020B0604020202020204" pitchFamily="34" charset="0"/>
              </a:rPr>
              <a:t>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 by forward substitution</a:t>
            </a:r>
            <a:endParaRPr lang="en-US" altLang="en-US" sz="2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Solve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latin typeface="Arial" panose="020B0604020202020204" pitchFamily="34" charset="0"/>
              </a:rPr>
              <a:t>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by Backward substitution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569690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B433-D075-823D-696C-9A257DDB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3E5A94-8BA6-D196-7B13-C0A88DBD23F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BE042B3-EBD7-F70F-8113-D8A77F052FD3}"/>
              </a:ext>
            </a:extLst>
          </p:cNvPr>
          <p:cNvSpPr txBox="1">
            <a:spLocks noChangeArrowheads="1"/>
          </p:cNvSpPr>
          <p:nvPr/>
        </p:nvSpPr>
        <p:spPr>
          <a:xfrm>
            <a:off x="1180730" y="866112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Example: Solve Ax=b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DBC82CAE-43BF-1777-67D6-56FE05568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330" y="2077374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Find the solution of [</a:t>
            </a:r>
            <a:r>
              <a:rPr lang="en-US" altLang="en-US" sz="2400" i="1">
                <a:latin typeface="Arial" panose="020B0604020202020204" pitchFamily="34" charset="0"/>
              </a:rPr>
              <a:t>A</a:t>
            </a:r>
            <a:r>
              <a:rPr lang="en-US" altLang="en-US" sz="2400">
                <a:latin typeface="Arial" panose="020B0604020202020204" pitchFamily="34" charset="0"/>
              </a:rPr>
              <a:t>][x ]=[b]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3C637A-2A2F-C987-5514-4DE084C4D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668" y="3067974"/>
            <a:ext cx="525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[b]</a:t>
            </a:r>
            <a:endParaRPr lang="en-US" altLang="en-US" sz="2400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866A8AAF-003B-5117-64D7-7942FE289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40545"/>
              </p:ext>
            </p:extLst>
          </p:nvPr>
        </p:nvGraphicFramePr>
        <p:xfrm>
          <a:off x="2704730" y="2579024"/>
          <a:ext cx="243840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711200" progId="Equation.3">
                  <p:embed/>
                </p:oleObj>
              </mc:Choice>
              <mc:Fallback>
                <p:oleObj name="Equation" r:id="rId2" imgW="1193800" imgH="711200" progId="Equation.3">
                  <p:embed/>
                  <p:pic>
                    <p:nvPicPr>
                      <p:cNvPr id="56325" name="Object 4">
                        <a:extLst>
                          <a:ext uri="{FF2B5EF4-FFF2-40B4-BE49-F238E27FC236}">
                            <a16:creationId xmlns:a16="http://schemas.microsoft.com/office/drawing/2014/main" id="{5CC1A0DC-3F73-481E-6FE6-930290E3B8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730" y="2579024"/>
                        <a:ext cx="2438400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8DEF29B0-E2DF-0EC4-EC80-D1DF70552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872006"/>
              </p:ext>
            </p:extLst>
          </p:nvPr>
        </p:nvGraphicFramePr>
        <p:xfrm>
          <a:off x="3161930" y="4820574"/>
          <a:ext cx="5160963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5600" imgH="711200" progId="Equation.3">
                  <p:embed/>
                </p:oleObj>
              </mc:Choice>
              <mc:Fallback>
                <p:oleObj name="Equation" r:id="rId4" imgW="2895600" imgH="711200" progId="Equation.3">
                  <p:embed/>
                  <p:pic>
                    <p:nvPicPr>
                      <p:cNvPr id="56326" name="Object 6">
                        <a:extLst>
                          <a:ext uri="{FF2B5EF4-FFF2-40B4-BE49-F238E27FC236}">
                            <a16:creationId xmlns:a16="http://schemas.microsoft.com/office/drawing/2014/main" id="{EF0217BF-478A-E809-7CEC-1F5502EB4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1930" y="4820574"/>
                        <a:ext cx="5160963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>
            <a:extLst>
              <a:ext uri="{FF2B5EF4-FFF2-40B4-BE49-F238E27FC236}">
                <a16:creationId xmlns:a16="http://schemas.microsoft.com/office/drawing/2014/main" id="{3F96964C-7D1D-F07D-EAA2-79C39A836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330" y="4287174"/>
            <a:ext cx="800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Using the decomposition procedure, the [</a:t>
            </a:r>
            <a:r>
              <a:rPr lang="en-US" altLang="en-US" sz="1800" i="1">
                <a:latin typeface="Arial" panose="020B0604020202020204" pitchFamily="34" charset="0"/>
              </a:rPr>
              <a:t>L</a:t>
            </a:r>
            <a:r>
              <a:rPr lang="en-US" altLang="en-US" sz="1800">
                <a:latin typeface="Arial" panose="020B0604020202020204" pitchFamily="34" charset="0"/>
              </a:rPr>
              <a:t>] and [</a:t>
            </a:r>
            <a:r>
              <a:rPr lang="en-US" altLang="en-US" sz="1800" i="1">
                <a:latin typeface="Arial" panose="020B0604020202020204" pitchFamily="34" charset="0"/>
              </a:rPr>
              <a:t>U</a:t>
            </a:r>
            <a:r>
              <a:rPr lang="en-US" altLang="en-US" sz="1800">
                <a:latin typeface="Arial" panose="020B0604020202020204" pitchFamily="34" charset="0"/>
              </a:rPr>
              <a:t>] matrices are found to be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B0A228A-8581-2449-6602-6EE4B3EEE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543" y="2710787"/>
            <a:ext cx="6667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547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2A38-EF05-3753-6D16-2C0BA744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E2D746-78B4-0247-DA24-4A5EC7916E6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F7933-5DE6-082D-4437-A92137BF8BD9}"/>
              </a:ext>
            </a:extLst>
          </p:cNvPr>
          <p:cNvSpPr txBox="1">
            <a:spLocks noChangeArrowheads="1"/>
          </p:cNvSpPr>
          <p:nvPr/>
        </p:nvSpPr>
        <p:spPr>
          <a:xfrm>
            <a:off x="1544715" y="682357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Example: Inverse of a Matrix</a:t>
            </a:r>
            <a:endParaRPr lang="en-US" altLang="en-US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B7EAB05-71A6-236F-EA12-E753C4694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915" y="1969819"/>
            <a:ext cx="601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</a:rPr>
              <a:t>Solving for the each column of [</a:t>
            </a:r>
            <a:r>
              <a:rPr lang="en-US" sz="1800" i="1" dirty="0">
                <a:latin typeface="Arial" charset="0"/>
              </a:rPr>
              <a:t>B</a:t>
            </a:r>
            <a:r>
              <a:rPr lang="en-US" sz="1800" dirty="0">
                <a:latin typeface="Arial" charset="0"/>
              </a:rPr>
              <a:t>] requires two steps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arenR"/>
              <a:defRPr/>
            </a:pPr>
            <a:r>
              <a:rPr lang="en-US" sz="1800" dirty="0">
                <a:latin typeface="Arial" charset="0"/>
              </a:rPr>
              <a:t>Solve [</a:t>
            </a:r>
            <a:r>
              <a:rPr lang="en-US" sz="1800" i="1" dirty="0">
                <a:latin typeface="Arial" charset="0"/>
              </a:rPr>
              <a:t>L</a:t>
            </a:r>
            <a:r>
              <a:rPr lang="en-US" sz="1800" dirty="0">
                <a:latin typeface="Arial" charset="0"/>
              </a:rPr>
              <a:t>] [</a:t>
            </a:r>
            <a:r>
              <a:rPr lang="en-US" sz="1800" i="1" dirty="0">
                <a:latin typeface="Arial" charset="0"/>
              </a:rPr>
              <a:t>Z</a:t>
            </a:r>
            <a:r>
              <a:rPr lang="en-US" sz="1800" dirty="0">
                <a:latin typeface="Arial" charset="0"/>
              </a:rPr>
              <a:t>] = [</a:t>
            </a:r>
            <a:r>
              <a:rPr lang="en-US" sz="1800" i="1" dirty="0">
                <a:latin typeface="Arial" charset="0"/>
              </a:rPr>
              <a:t>b</a:t>
            </a:r>
            <a:r>
              <a:rPr lang="en-US" sz="1800" dirty="0">
                <a:latin typeface="Arial" charset="0"/>
              </a:rPr>
              <a:t>] for [</a:t>
            </a:r>
            <a:r>
              <a:rPr lang="en-US" sz="1800" i="1" dirty="0">
                <a:latin typeface="Arial" charset="0"/>
              </a:rPr>
              <a:t>Z</a:t>
            </a:r>
            <a:r>
              <a:rPr lang="en-US" sz="1800" dirty="0">
                <a:latin typeface="Arial" charset="0"/>
              </a:rPr>
              <a:t>] 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arenR"/>
              <a:defRPr/>
            </a:pPr>
            <a:r>
              <a:rPr lang="en-US" sz="1800" dirty="0">
                <a:latin typeface="Arial" charset="0"/>
              </a:rPr>
              <a:t>Solve [</a:t>
            </a:r>
            <a:r>
              <a:rPr lang="en-US" sz="1800" i="1" dirty="0">
                <a:latin typeface="Arial" charset="0"/>
              </a:rPr>
              <a:t>U</a:t>
            </a:r>
            <a:r>
              <a:rPr lang="en-US" sz="1800" dirty="0">
                <a:latin typeface="Arial" charset="0"/>
              </a:rPr>
              <a:t>] [</a:t>
            </a:r>
            <a:r>
              <a:rPr lang="en-US" sz="1800" i="1" dirty="0">
                <a:latin typeface="Arial" charset="0"/>
              </a:rPr>
              <a:t>X</a:t>
            </a:r>
            <a:r>
              <a:rPr lang="en-US" sz="1800" dirty="0">
                <a:latin typeface="Arial" charset="0"/>
              </a:rPr>
              <a:t>] = [</a:t>
            </a:r>
            <a:r>
              <a:rPr lang="en-US" sz="1800" i="1" dirty="0">
                <a:latin typeface="Arial" charset="0"/>
              </a:rPr>
              <a:t>Z</a:t>
            </a:r>
            <a:r>
              <a:rPr lang="en-US" sz="1800" dirty="0">
                <a:latin typeface="Arial" charset="0"/>
              </a:rPr>
              <a:t>] for [</a:t>
            </a:r>
            <a:r>
              <a:rPr lang="en-US" sz="1800" i="1" dirty="0">
                <a:latin typeface="Arial" charset="0"/>
              </a:rPr>
              <a:t>X</a:t>
            </a:r>
            <a:r>
              <a:rPr lang="en-US" sz="1800" dirty="0">
                <a:latin typeface="Arial" charset="0"/>
              </a:rPr>
              <a:t>] 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CBBBBF2F-7657-9B98-049E-EA97DBCB8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715" y="3668444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Step 1: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0BB8CF4-42EF-12F5-7940-C856D6F1E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8115" y="4574907"/>
            <a:ext cx="3200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This generates the equations: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0F150B8-9976-EDF4-3D91-504EE74EDA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23005"/>
              </p:ext>
            </p:extLst>
          </p:nvPr>
        </p:nvGraphicFramePr>
        <p:xfrm>
          <a:off x="3830715" y="4713019"/>
          <a:ext cx="3271838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685800" progId="Equation.3">
                  <p:embed/>
                </p:oleObj>
              </mc:Choice>
              <mc:Fallback>
                <p:oleObj name="Equation" r:id="rId2" imgW="1371600" imgH="685800" progId="Equation.3">
                  <p:embed/>
                  <p:pic>
                    <p:nvPicPr>
                      <p:cNvPr id="58374" name="Object 13">
                        <a:extLst>
                          <a:ext uri="{FF2B5EF4-FFF2-40B4-BE49-F238E27FC236}">
                            <a16:creationId xmlns:a16="http://schemas.microsoft.com/office/drawing/2014/main" id="{F0791766-55B9-068D-4AB6-EB13FC63F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715" y="4713019"/>
                        <a:ext cx="3271838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2">
            <a:extLst>
              <a:ext uri="{FF2B5EF4-FFF2-40B4-BE49-F238E27FC236}">
                <a16:creationId xmlns:a16="http://schemas.microsoft.com/office/drawing/2014/main" id="{E26F555B-D32C-692B-1BD9-2FBEE61A6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115" y="3349357"/>
            <a:ext cx="2895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241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301BD-7C61-B0D6-0D93-2315810A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50297B1-C818-C2B1-4A2E-123AE62E4A38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3BBB9B8-2C9A-074B-0821-1858451DE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136" y="179107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Solving for [</a:t>
            </a:r>
            <a:r>
              <a:rPr lang="en-US" altLang="en-US" sz="1800" i="1">
                <a:latin typeface="Arial" panose="020B0604020202020204" pitchFamily="34" charset="0"/>
              </a:rPr>
              <a:t>Z</a:t>
            </a:r>
            <a:r>
              <a:rPr lang="en-US" altLang="en-US" sz="1800">
                <a:latin typeface="Arial" panose="020B0604020202020204" pitchFamily="34" charset="0"/>
              </a:rPr>
              <a:t>]</a:t>
            </a:r>
          </a:p>
        </p:txBody>
      </p:sp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335E15E4-3F75-75AC-2878-8A2AF25E8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555281"/>
              </p:ext>
            </p:extLst>
          </p:nvPr>
        </p:nvGraphicFramePr>
        <p:xfrm>
          <a:off x="1768136" y="2324470"/>
          <a:ext cx="3135313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9100" imgH="1600200" progId="Equation.3">
                  <p:embed/>
                </p:oleObj>
              </mc:Choice>
              <mc:Fallback>
                <p:oleObj name="Equation" r:id="rId2" imgW="1689100" imgH="1600200" progId="Equation.3">
                  <p:embed/>
                  <p:pic>
                    <p:nvPicPr>
                      <p:cNvPr id="60424" name="Object 19">
                        <a:extLst>
                          <a:ext uri="{FF2B5EF4-FFF2-40B4-BE49-F238E27FC236}">
                            <a16:creationId xmlns:a16="http://schemas.microsoft.com/office/drawing/2014/main" id="{FFDB24C1-569F-8F26-7FA6-184300E85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136" y="2324470"/>
                        <a:ext cx="3135313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1">
            <a:extLst>
              <a:ext uri="{FF2B5EF4-FFF2-40B4-BE49-F238E27FC236}">
                <a16:creationId xmlns:a16="http://schemas.microsoft.com/office/drawing/2014/main" id="{71D85591-78EE-5B3D-679F-DEF9B5F28E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58717"/>
              </p:ext>
            </p:extLst>
          </p:nvPr>
        </p:nvGraphicFramePr>
        <p:xfrm>
          <a:off x="5273336" y="2400670"/>
          <a:ext cx="285750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700" imgH="711200" progId="Equation.3">
                  <p:embed/>
                </p:oleObj>
              </mc:Choice>
              <mc:Fallback>
                <p:oleObj name="Equation" r:id="rId4" imgW="1282700" imgH="711200" progId="Equation.3">
                  <p:embed/>
                  <p:pic>
                    <p:nvPicPr>
                      <p:cNvPr id="60425" name="Object 21">
                        <a:extLst>
                          <a:ext uri="{FF2B5EF4-FFF2-40B4-BE49-F238E27FC236}">
                            <a16:creationId xmlns:a16="http://schemas.microsoft.com/office/drawing/2014/main" id="{04D3523D-E966-CAE2-223E-1194F5F0F7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336" y="2400670"/>
                        <a:ext cx="2857500" cy="159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9094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DF11-3E3A-EF07-7E1F-E049B644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4797A1-CE8C-C9A2-C795-16CA02D72F88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AB07FD15-FFE0-9FBA-F3AC-6984306F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ED63167A-8F2B-BB97-EB35-C6AC07CE0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035292"/>
              </p:ext>
            </p:extLst>
          </p:nvPr>
        </p:nvGraphicFramePr>
        <p:xfrm>
          <a:off x="4191000" y="2209800"/>
          <a:ext cx="38862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711200" progId="Equation.3">
                  <p:embed/>
                </p:oleObj>
              </mc:Choice>
              <mc:Fallback>
                <p:oleObj name="Equation" r:id="rId2" imgW="2247900" imgH="711200" progId="Equation.3">
                  <p:embed/>
                  <p:pic>
                    <p:nvPicPr>
                      <p:cNvPr id="62473" name="Object 11">
                        <a:extLst>
                          <a:ext uri="{FF2B5EF4-FFF2-40B4-BE49-F238E27FC236}">
                            <a16:creationId xmlns:a16="http://schemas.microsoft.com/office/drawing/2014/main" id="{713F020B-BA46-F6CF-34EE-E645C310DB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209800"/>
                        <a:ext cx="388620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01D310BD-CED8-A140-6704-040290F5052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324600" y="2213256"/>
            <a:ext cx="609600" cy="1192186"/>
          </a:xfrm>
          <a:prstGeom prst="rect">
            <a:avLst/>
          </a:prstGeom>
          <a:blipFill>
            <a:blip r:embed="rId4"/>
            <a:stretch>
              <a:fillRect r="-9000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5906340-AF90-F659-5EBF-AC10884906F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7837" y="3964697"/>
            <a:ext cx="3961660" cy="1754326"/>
          </a:xfrm>
          <a:prstGeom prst="rect">
            <a:avLst/>
          </a:prstGeom>
          <a:blipFill>
            <a:blip r:embed="rId5"/>
            <a:stretch>
              <a:fillRect l="-2923" t="-2778" b="-8333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9251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A1AB-61E8-B18F-52EA-9A3A16F8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D176F6-BA56-1BDE-9333-8E3819C186E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B0E81A38-33BF-0DE0-59EF-49661AC88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212" y="1905000"/>
            <a:ext cx="457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Using Backward Substitution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37972CB-9290-35C7-20BE-8826BEDB364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8200" y="2769216"/>
            <a:ext cx="4648200" cy="247106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9000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CD08-7037-FF87-B4D7-DAC5C50C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E12B82-D7EF-E987-138F-DF2741299A9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4E41B-5D3B-E212-F70D-576784419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56" y="1252565"/>
            <a:ext cx="8902287" cy="339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72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3BAE-3F8F-E7E1-8252-C24EE978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712578-51E0-FEDB-05F6-8B63FF058AE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CABC23-9246-AD43-F558-4CC628F8ED79}"/>
              </a:ext>
            </a:extLst>
          </p:cNvPr>
          <p:cNvSpPr txBox="1">
            <a:spLocks noChangeArrowheads="1"/>
          </p:cNvSpPr>
          <p:nvPr/>
        </p:nvSpPr>
        <p:spPr>
          <a:xfrm>
            <a:off x="1127464" y="1373079"/>
            <a:ext cx="91440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lang="en-US" altLang="en-US" sz="4000">
                <a:latin typeface="Arial" panose="020B0604020202020204" pitchFamily="34" charset="0"/>
              </a:rPr>
              <a:t>Finding the inverse of a square matrix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4C3C21F6-566E-89DA-22BB-05A769C1F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464" y="3430479"/>
            <a:ext cx="7645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The inverse [B] of a square matrix [</a:t>
            </a:r>
            <a:r>
              <a:rPr lang="en-US" altLang="en-US" sz="2400" i="1">
                <a:latin typeface="Arial" panose="020B0604020202020204" pitchFamily="34" charset="0"/>
              </a:rPr>
              <a:t>A</a:t>
            </a:r>
            <a:r>
              <a:rPr lang="en-US" altLang="en-US" sz="2400">
                <a:latin typeface="Arial" panose="020B0604020202020204" pitchFamily="34" charset="0"/>
              </a:rPr>
              <a:t>] is defined as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altLang="en-US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altLang="en-US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en-US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48679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13B8-132B-C93F-7061-E149F220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7A5EC0D-88BD-0F01-49D5-C65FC81AC56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0EDE1E-9558-9FF8-9A9C-9BAF3359E4D7}"/>
              </a:ext>
            </a:extLst>
          </p:cNvPr>
          <p:cNvSpPr txBox="1">
            <a:spLocks noChangeArrowheads="1"/>
          </p:cNvSpPr>
          <p:nvPr/>
        </p:nvSpPr>
        <p:spPr>
          <a:xfrm>
            <a:off x="1411550" y="946012"/>
            <a:ext cx="9144000" cy="12874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lang="en-US" altLang="en-US" sz="4000">
                <a:latin typeface="Arial" panose="020B0604020202020204" pitchFamily="34" charset="0"/>
              </a:rPr>
              <a:t>Finding the inverse of a square matrix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895252B-F20E-4748-534B-9224C9C6E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350" y="2385874"/>
            <a:ext cx="73152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>
                <a:latin typeface="Arial" panose="020B0604020202020204" pitchFamily="34" charset="0"/>
              </a:rPr>
              <a:t>How can LU Decomposition be used to find the inverse?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Assume the first column of [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>
                <a:latin typeface="Arial" panose="020B0604020202020204" pitchFamily="34" charset="0"/>
              </a:rPr>
              <a:t>] to be [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 i="1" baseline="-25000">
                <a:latin typeface="Arial" panose="020B0604020202020204" pitchFamily="34" charset="0"/>
              </a:rPr>
              <a:t>11</a:t>
            </a:r>
            <a:r>
              <a:rPr lang="en-US" altLang="en-US" sz="1800" i="1">
                <a:latin typeface="Arial" panose="020B0604020202020204" pitchFamily="34" charset="0"/>
              </a:rPr>
              <a:t>  b</a:t>
            </a:r>
            <a:r>
              <a:rPr lang="en-US" altLang="en-US" sz="1800" i="1" baseline="-25000">
                <a:latin typeface="Arial" panose="020B0604020202020204" pitchFamily="34" charset="0"/>
              </a:rPr>
              <a:t>12</a:t>
            </a:r>
            <a:r>
              <a:rPr lang="en-US" altLang="en-US" sz="1800" i="1">
                <a:latin typeface="Arial" panose="020B0604020202020204" pitchFamily="34" charset="0"/>
              </a:rPr>
              <a:t>  … b</a:t>
            </a:r>
            <a:r>
              <a:rPr lang="en-US" altLang="en-US" sz="1800" i="1" baseline="-25000">
                <a:latin typeface="Arial" panose="020B0604020202020204" pitchFamily="34" charset="0"/>
              </a:rPr>
              <a:t>n1</a:t>
            </a:r>
            <a:r>
              <a:rPr lang="en-US" altLang="en-US" sz="1800">
                <a:latin typeface="Arial" panose="020B0604020202020204" pitchFamily="34" charset="0"/>
              </a:rPr>
              <a:t>]</a:t>
            </a:r>
            <a:r>
              <a:rPr lang="en-US" altLang="en-US" sz="1800" i="1" baseline="30000">
                <a:latin typeface="Arial" panose="020B0604020202020204" pitchFamily="34" charset="0"/>
              </a:rPr>
              <a:t>T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Using this and the definition of matrix multiplication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First column of [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>
                <a:latin typeface="Arial" panose="020B0604020202020204" pitchFamily="34" charset="0"/>
              </a:rPr>
              <a:t>]      	 	      Second column of [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>
                <a:latin typeface="Arial" panose="020B0604020202020204" pitchFamily="34" charset="0"/>
              </a:rPr>
              <a:t>]</a:t>
            </a: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457D5480-8C56-7F66-D901-60EE6B5D5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220432"/>
              </p:ext>
            </p:extLst>
          </p:nvPr>
        </p:nvGraphicFramePr>
        <p:xfrm>
          <a:off x="3087950" y="4214674"/>
          <a:ext cx="132556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939800" progId="Equation.3">
                  <p:embed/>
                </p:oleObj>
              </mc:Choice>
              <mc:Fallback>
                <p:oleObj name="Equation" r:id="rId2" imgW="914400" imgH="939800" progId="Equation.3">
                  <p:embed/>
                  <p:pic>
                    <p:nvPicPr>
                      <p:cNvPr id="88070" name="Object 9">
                        <a:extLst>
                          <a:ext uri="{FF2B5EF4-FFF2-40B4-BE49-F238E27FC236}">
                            <a16:creationId xmlns:a16="http://schemas.microsoft.com/office/drawing/2014/main" id="{26C93781-C6DB-3C38-BC0D-7951B3864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950" y="4214674"/>
                        <a:ext cx="1325563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A918166B-A58E-C784-8BDF-DFD17B988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061395"/>
              </p:ext>
            </p:extLst>
          </p:nvPr>
        </p:nvGraphicFramePr>
        <p:xfrm>
          <a:off x="6907475" y="4214674"/>
          <a:ext cx="1371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800" imgH="939800" progId="Equation.3">
                  <p:embed/>
                </p:oleObj>
              </mc:Choice>
              <mc:Fallback>
                <p:oleObj name="Equation" r:id="rId4" imgW="939800" imgH="939800" progId="Equation.3">
                  <p:embed/>
                  <p:pic>
                    <p:nvPicPr>
                      <p:cNvPr id="88071" name="Object 11">
                        <a:extLst>
                          <a:ext uri="{FF2B5EF4-FFF2-40B4-BE49-F238E27FC236}">
                            <a16:creationId xmlns:a16="http://schemas.microsoft.com/office/drawing/2014/main" id="{6898B685-C68B-226C-D113-74CF7521C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475" y="4214674"/>
                        <a:ext cx="13716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>
            <a:extLst>
              <a:ext uri="{FF2B5EF4-FFF2-40B4-BE49-F238E27FC236}">
                <a16:creationId xmlns:a16="http://schemas.microsoft.com/office/drawing/2014/main" id="{8F246418-DBC9-76BD-329D-34C23A049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950" y="5738674"/>
            <a:ext cx="701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The remaining columns in [</a:t>
            </a:r>
            <a:r>
              <a:rPr lang="en-US" altLang="en-US" sz="1800" i="1">
                <a:latin typeface="Arial" panose="020B0604020202020204" pitchFamily="34" charset="0"/>
              </a:rPr>
              <a:t>B</a:t>
            </a:r>
            <a:r>
              <a:rPr lang="en-US" altLang="en-US" sz="1800">
                <a:latin typeface="Arial" panose="020B0604020202020204" pitchFamily="34" charset="0"/>
              </a:rPr>
              <a:t>] can be found in the same manner</a:t>
            </a:r>
          </a:p>
        </p:txBody>
      </p:sp>
    </p:spTree>
    <p:extLst>
      <p:ext uri="{BB962C8B-B14F-4D97-AF65-F5344CB8AC3E}">
        <p14:creationId xmlns:p14="http://schemas.microsoft.com/office/powerpoint/2010/main" val="960731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AFEA-982C-DF44-1AF3-B2FC9F4B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A17C16-B8C8-AF1E-F8C9-44AF24B4902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B8D04-3195-BD68-3C37-84D0388BBB0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17538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Example: Inverse of a Matrix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3AD09C0-B2B6-C64C-F57D-CFB1A488C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Find the inverse of a square matrix [</a:t>
            </a:r>
            <a:r>
              <a:rPr lang="en-US" altLang="en-US" sz="2400" i="1">
                <a:latin typeface="Arial" panose="020B0604020202020204" pitchFamily="34" charset="0"/>
              </a:rPr>
              <a:t>A</a:t>
            </a:r>
            <a:r>
              <a:rPr lang="en-US" altLang="en-US" sz="2400">
                <a:latin typeface="Arial" panose="020B0604020202020204" pitchFamily="34" charset="0"/>
              </a:rPr>
              <a:t>]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DEC88A3-9C07-B73E-EECA-252F36B426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362200"/>
          <a:ext cx="243840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711200" progId="Equation.3">
                  <p:embed/>
                </p:oleObj>
              </mc:Choice>
              <mc:Fallback>
                <p:oleObj name="Equation" r:id="rId2" imgW="1193800" imgH="711200" progId="Equation.3">
                  <p:embed/>
                  <p:pic>
                    <p:nvPicPr>
                      <p:cNvPr id="90117" name="Object 4">
                        <a:extLst>
                          <a:ext uri="{FF2B5EF4-FFF2-40B4-BE49-F238E27FC236}">
                            <a16:creationId xmlns:a16="http://schemas.microsoft.com/office/drawing/2014/main" id="{D0AA1A9F-3B69-365D-2D39-4A39969C9B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362200"/>
                        <a:ext cx="2438400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852E3B2A-B10E-DBBE-C90B-F694767F64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4572000"/>
          <a:ext cx="5160963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5600" imgH="711200" progId="Equation.3">
                  <p:embed/>
                </p:oleObj>
              </mc:Choice>
              <mc:Fallback>
                <p:oleObj name="Equation" r:id="rId4" imgW="2895600" imgH="711200" progId="Equation.3">
                  <p:embed/>
                  <p:pic>
                    <p:nvPicPr>
                      <p:cNvPr id="90118" name="Object 6">
                        <a:extLst>
                          <a:ext uri="{FF2B5EF4-FFF2-40B4-BE49-F238E27FC236}">
                            <a16:creationId xmlns:a16="http://schemas.microsoft.com/office/drawing/2014/main" id="{B414E080-9CED-8FE1-49F8-C85B786EC3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572000"/>
                        <a:ext cx="5160963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>
            <a:extLst>
              <a:ext uri="{FF2B5EF4-FFF2-40B4-BE49-F238E27FC236}">
                <a16:creationId xmlns:a16="http://schemas.microsoft.com/office/drawing/2014/main" id="{EB462311-2D9F-B69E-D54D-8DCCC043E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038600"/>
            <a:ext cx="800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Using the decomposition procedure, the [</a:t>
            </a:r>
            <a:r>
              <a:rPr lang="en-US" altLang="en-US" sz="1800" i="1">
                <a:latin typeface="Arial" panose="020B0604020202020204" pitchFamily="34" charset="0"/>
              </a:rPr>
              <a:t>L</a:t>
            </a:r>
            <a:r>
              <a:rPr lang="en-US" altLang="en-US" sz="1800">
                <a:latin typeface="Arial" panose="020B0604020202020204" pitchFamily="34" charset="0"/>
              </a:rPr>
              <a:t>] and [</a:t>
            </a:r>
            <a:r>
              <a:rPr lang="en-US" altLang="en-US" sz="1800" i="1">
                <a:latin typeface="Arial" panose="020B0604020202020204" pitchFamily="34" charset="0"/>
              </a:rPr>
              <a:t>U</a:t>
            </a:r>
            <a:r>
              <a:rPr lang="en-US" altLang="en-US" sz="1800">
                <a:latin typeface="Arial" panose="020B0604020202020204" pitchFamily="34" charset="0"/>
              </a:rPr>
              <a:t>] matrices are found to be</a:t>
            </a:r>
          </a:p>
        </p:txBody>
      </p:sp>
    </p:spTree>
    <p:extLst>
      <p:ext uri="{BB962C8B-B14F-4D97-AF65-F5344CB8AC3E}">
        <p14:creationId xmlns:p14="http://schemas.microsoft.com/office/powerpoint/2010/main" val="3177976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41CB-68C8-D3BF-6871-1D6698F2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50C61B-9E8F-65F3-3552-6FC27E0C65B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8176DF-08EE-05CC-2815-C205F6D50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43" y="2185756"/>
            <a:ext cx="8001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First Column                   Second Column	                 Third Column</a:t>
            </a:r>
          </a:p>
        </p:txBody>
      </p:sp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E04AB611-0704-F04C-21E2-4100456F3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262784"/>
              </p:ext>
            </p:extLst>
          </p:nvPr>
        </p:nvGraphicFramePr>
        <p:xfrm>
          <a:off x="4345418" y="2992206"/>
          <a:ext cx="2286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700" imgH="711200" progId="Equation.3">
                  <p:embed/>
                </p:oleObj>
              </mc:Choice>
              <mc:Fallback>
                <p:oleObj name="Equation" r:id="rId2" imgW="1536700" imgH="711200" progId="Equation.3">
                  <p:embed/>
                  <p:pic>
                    <p:nvPicPr>
                      <p:cNvPr id="92169" name="Object 15">
                        <a:extLst>
                          <a:ext uri="{FF2B5EF4-FFF2-40B4-BE49-F238E27FC236}">
                            <a16:creationId xmlns:a16="http://schemas.microsoft.com/office/drawing/2014/main" id="{13140596-BDFE-B2CA-79FB-5125A9AD4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418" y="2992206"/>
                        <a:ext cx="2286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>
            <a:extLst>
              <a:ext uri="{FF2B5EF4-FFF2-40B4-BE49-F238E27FC236}">
                <a16:creationId xmlns:a16="http://schemas.microsoft.com/office/drawing/2014/main" id="{C56A7A2D-F94E-C8CB-6213-BE14E1582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883578"/>
              </p:ext>
            </p:extLst>
          </p:nvPr>
        </p:nvGraphicFramePr>
        <p:xfrm>
          <a:off x="7461681" y="3158893"/>
          <a:ext cx="247332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711200" progId="Equation.3">
                  <p:embed/>
                </p:oleObj>
              </mc:Choice>
              <mc:Fallback>
                <p:oleObj name="Equation" r:id="rId4" imgW="1562100" imgH="711200" progId="Equation.3">
                  <p:embed/>
                  <p:pic>
                    <p:nvPicPr>
                      <p:cNvPr id="92171" name="Object 19">
                        <a:extLst>
                          <a:ext uri="{FF2B5EF4-FFF2-40B4-BE49-F238E27FC236}">
                            <a16:creationId xmlns:a16="http://schemas.microsoft.com/office/drawing/2014/main" id="{82B2E396-4601-51FF-17C4-918FC3EEE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681" y="3158893"/>
                        <a:ext cx="247332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60578E53-47F4-6995-4CDC-FD37A3059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43" y="2931881"/>
            <a:ext cx="22288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4990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6C6C2-5A68-6244-0763-A886CC76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2DB718-3EC2-08CB-2A5A-024C6AE8C38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30BF6DF-46EA-1B0B-D645-3647137C5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1541016"/>
            <a:ext cx="601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1800" dirty="0">
                <a:latin typeface="Arial" charset="0"/>
              </a:rPr>
              <a:t>Solving for the each column of [</a:t>
            </a:r>
            <a:r>
              <a:rPr lang="en-US" sz="1800" i="1" dirty="0">
                <a:latin typeface="Arial" charset="0"/>
              </a:rPr>
              <a:t>B</a:t>
            </a:r>
            <a:r>
              <a:rPr lang="en-US" sz="1800" dirty="0">
                <a:latin typeface="Arial" charset="0"/>
              </a:rPr>
              <a:t>] requires two steps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arenR"/>
              <a:defRPr/>
            </a:pPr>
            <a:r>
              <a:rPr lang="en-US" sz="1800" dirty="0">
                <a:latin typeface="Arial" charset="0"/>
              </a:rPr>
              <a:t>Solve [</a:t>
            </a:r>
            <a:r>
              <a:rPr lang="en-US" sz="1800" i="1" dirty="0">
                <a:latin typeface="Arial" charset="0"/>
              </a:rPr>
              <a:t>L</a:t>
            </a:r>
            <a:r>
              <a:rPr lang="en-US" sz="1800" dirty="0">
                <a:latin typeface="Arial" charset="0"/>
              </a:rPr>
              <a:t>] [</a:t>
            </a:r>
            <a:r>
              <a:rPr lang="en-US" sz="1800" i="1" dirty="0">
                <a:latin typeface="Arial" charset="0"/>
              </a:rPr>
              <a:t>Z</a:t>
            </a:r>
            <a:r>
              <a:rPr lang="en-US" sz="1800" dirty="0">
                <a:latin typeface="Arial" charset="0"/>
              </a:rPr>
              <a:t>] = [</a:t>
            </a:r>
            <a:r>
              <a:rPr lang="en-US" sz="1800" i="1" dirty="0">
                <a:latin typeface="Arial" charset="0"/>
              </a:rPr>
              <a:t>b</a:t>
            </a:r>
            <a:r>
              <a:rPr lang="en-US" sz="1800" dirty="0">
                <a:latin typeface="Arial" charset="0"/>
              </a:rPr>
              <a:t>] for [</a:t>
            </a:r>
            <a:r>
              <a:rPr lang="en-US" sz="1800" i="1" dirty="0">
                <a:latin typeface="Arial" charset="0"/>
              </a:rPr>
              <a:t>Z</a:t>
            </a:r>
            <a:r>
              <a:rPr lang="en-US" sz="1800" dirty="0">
                <a:latin typeface="Arial" charset="0"/>
              </a:rPr>
              <a:t>] </a:t>
            </a:r>
          </a:p>
          <a:p>
            <a:pPr marL="342900" indent="-342900" eaLnBrk="1" hangingPunct="1">
              <a:spcBef>
                <a:spcPct val="50000"/>
              </a:spcBef>
              <a:buFontTx/>
              <a:buAutoNum type="arabicParenR"/>
              <a:defRPr/>
            </a:pPr>
            <a:r>
              <a:rPr lang="en-US" sz="1800" dirty="0">
                <a:latin typeface="Arial" charset="0"/>
              </a:rPr>
              <a:t>Solve [</a:t>
            </a:r>
            <a:r>
              <a:rPr lang="en-US" sz="1800" i="1" dirty="0">
                <a:latin typeface="Arial" charset="0"/>
              </a:rPr>
              <a:t>U</a:t>
            </a:r>
            <a:r>
              <a:rPr lang="en-US" sz="1800" dirty="0">
                <a:latin typeface="Arial" charset="0"/>
              </a:rPr>
              <a:t>] [</a:t>
            </a:r>
            <a:r>
              <a:rPr lang="en-US" sz="1800" i="1" dirty="0">
                <a:latin typeface="Arial" charset="0"/>
              </a:rPr>
              <a:t>X</a:t>
            </a:r>
            <a:r>
              <a:rPr lang="en-US" sz="1800" dirty="0">
                <a:latin typeface="Arial" charset="0"/>
              </a:rPr>
              <a:t>] = [</a:t>
            </a:r>
            <a:r>
              <a:rPr lang="en-US" sz="1800" i="1" dirty="0">
                <a:latin typeface="Arial" charset="0"/>
              </a:rPr>
              <a:t>Z</a:t>
            </a:r>
            <a:r>
              <a:rPr lang="en-US" sz="1800" dirty="0">
                <a:latin typeface="Arial" charset="0"/>
              </a:rPr>
              <a:t>] for [</a:t>
            </a:r>
            <a:r>
              <a:rPr lang="en-US" sz="1800" i="1" dirty="0">
                <a:latin typeface="Arial" charset="0"/>
              </a:rPr>
              <a:t>X</a:t>
            </a:r>
            <a:r>
              <a:rPr lang="en-US" sz="1800" dirty="0">
                <a:latin typeface="Arial" charset="0"/>
              </a:rPr>
              <a:t>]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8619EAB-0F10-2499-19A9-34D084E7F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3239641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Step 1: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4FF72A11-9E64-1024-99E4-FB1A4FD53B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483287"/>
              </p:ext>
            </p:extLst>
          </p:nvPr>
        </p:nvGraphicFramePr>
        <p:xfrm>
          <a:off x="4076700" y="2782441"/>
          <a:ext cx="4513263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700" imgH="711200" progId="Equation.3">
                  <p:embed/>
                </p:oleObj>
              </mc:Choice>
              <mc:Fallback>
                <p:oleObj name="Equation" r:id="rId2" imgW="2425700" imgH="711200" progId="Equation.3">
                  <p:embed/>
                  <p:pic>
                    <p:nvPicPr>
                      <p:cNvPr id="94213" name="Object 6">
                        <a:extLst>
                          <a:ext uri="{FF2B5EF4-FFF2-40B4-BE49-F238E27FC236}">
                            <a16:creationId xmlns:a16="http://schemas.microsoft.com/office/drawing/2014/main" id="{51DD2CA0-CD8E-2155-D5DE-40FF617414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2782441"/>
                        <a:ext cx="4513263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">
            <a:extLst>
              <a:ext uri="{FF2B5EF4-FFF2-40B4-BE49-F238E27FC236}">
                <a16:creationId xmlns:a16="http://schemas.microsoft.com/office/drawing/2014/main" id="{3F52D794-B320-9023-F656-F46C2F9EA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4146104"/>
            <a:ext cx="3200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This generates the equations:</a:t>
            </a:r>
          </a:p>
        </p:txBody>
      </p:sp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FCE79719-4018-1ED4-B979-33C849091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024630"/>
              </p:ext>
            </p:extLst>
          </p:nvPr>
        </p:nvGraphicFramePr>
        <p:xfrm>
          <a:off x="3924300" y="4284216"/>
          <a:ext cx="3271838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685800" progId="Equation.3">
                  <p:embed/>
                </p:oleObj>
              </mc:Choice>
              <mc:Fallback>
                <p:oleObj name="Equation" r:id="rId4" imgW="1371600" imgH="685800" progId="Equation.3">
                  <p:embed/>
                  <p:pic>
                    <p:nvPicPr>
                      <p:cNvPr id="94215" name="Object 13">
                        <a:extLst>
                          <a:ext uri="{FF2B5EF4-FFF2-40B4-BE49-F238E27FC236}">
                            <a16:creationId xmlns:a16="http://schemas.microsoft.com/office/drawing/2014/main" id="{590C79F1-E0FB-173F-BA35-7718B38DF0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284216"/>
                        <a:ext cx="3271838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0584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C817-480D-B264-AF4F-3DB896881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D09606C-014A-4CED-DD6B-A8EB63F8577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D6CEE0A-9398-DD64-BBC7-4029E9437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141" y="179107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Solving for [</a:t>
            </a:r>
            <a:r>
              <a:rPr lang="en-US" altLang="en-US" sz="1800" i="1">
                <a:latin typeface="Arial" panose="020B0604020202020204" pitchFamily="34" charset="0"/>
              </a:rPr>
              <a:t>Z</a:t>
            </a:r>
            <a:r>
              <a:rPr lang="en-US" altLang="en-US" sz="1800">
                <a:latin typeface="Arial" panose="020B0604020202020204" pitchFamily="34" charset="0"/>
              </a:rPr>
              <a:t>]</a:t>
            </a:r>
          </a:p>
        </p:txBody>
      </p:sp>
      <p:graphicFrame>
        <p:nvGraphicFramePr>
          <p:cNvPr id="4" name="Object 19">
            <a:extLst>
              <a:ext uri="{FF2B5EF4-FFF2-40B4-BE49-F238E27FC236}">
                <a16:creationId xmlns:a16="http://schemas.microsoft.com/office/drawing/2014/main" id="{B5B6396E-0666-7177-F919-C6E67EF82A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24957"/>
              </p:ext>
            </p:extLst>
          </p:nvPr>
        </p:nvGraphicFramePr>
        <p:xfrm>
          <a:off x="2203141" y="2324470"/>
          <a:ext cx="3135313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9100" imgH="1600200" progId="Equation.3">
                  <p:embed/>
                </p:oleObj>
              </mc:Choice>
              <mc:Fallback>
                <p:oleObj name="Equation" r:id="rId2" imgW="1689100" imgH="1600200" progId="Equation.3">
                  <p:embed/>
                  <p:pic>
                    <p:nvPicPr>
                      <p:cNvPr id="96264" name="Object 19">
                        <a:extLst>
                          <a:ext uri="{FF2B5EF4-FFF2-40B4-BE49-F238E27FC236}">
                            <a16:creationId xmlns:a16="http://schemas.microsoft.com/office/drawing/2014/main" id="{A51E8C52-C568-68C1-14DF-90A4488591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141" y="2324470"/>
                        <a:ext cx="3135313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">
            <a:extLst>
              <a:ext uri="{FF2B5EF4-FFF2-40B4-BE49-F238E27FC236}">
                <a16:creationId xmlns:a16="http://schemas.microsoft.com/office/drawing/2014/main" id="{89B79ED4-5ABC-87C1-6322-E81FC2F6C7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765237"/>
              </p:ext>
            </p:extLst>
          </p:nvPr>
        </p:nvGraphicFramePr>
        <p:xfrm>
          <a:off x="5708341" y="2400670"/>
          <a:ext cx="285750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700" imgH="711200" progId="Equation.3">
                  <p:embed/>
                </p:oleObj>
              </mc:Choice>
              <mc:Fallback>
                <p:oleObj name="Equation" r:id="rId4" imgW="1282700" imgH="711200" progId="Equation.3">
                  <p:embed/>
                  <p:pic>
                    <p:nvPicPr>
                      <p:cNvPr id="96265" name="Object 21">
                        <a:extLst>
                          <a:ext uri="{FF2B5EF4-FFF2-40B4-BE49-F238E27FC236}">
                            <a16:creationId xmlns:a16="http://schemas.microsoft.com/office/drawing/2014/main" id="{960E0AC5-984C-DB34-3F83-489CA71A5A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341" y="2400670"/>
                        <a:ext cx="2857500" cy="159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3637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29150-1092-B0E5-85A3-4AB176E3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577758-AF1B-0D5C-84F0-F6EB7DA08BA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934C96D-0F44-DB51-20C1-DF10AB36B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7047" y="2574925"/>
            <a:ext cx="3276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Solving [</a:t>
            </a:r>
            <a:r>
              <a:rPr lang="en-US" altLang="en-US" sz="1800" i="1" dirty="0">
                <a:latin typeface="Arial" panose="020B0604020202020204" pitchFamily="34" charset="0"/>
              </a:rPr>
              <a:t>U</a:t>
            </a:r>
            <a:r>
              <a:rPr lang="en-US" altLang="en-US" sz="1800" dirty="0">
                <a:latin typeface="Arial" panose="020B0604020202020204" pitchFamily="34" charset="0"/>
              </a:rPr>
              <a:t>][</a:t>
            </a:r>
            <a:r>
              <a:rPr lang="en-US" altLang="en-US" sz="1800" i="1" dirty="0">
                <a:latin typeface="Arial" panose="020B0604020202020204" pitchFamily="34" charset="0"/>
              </a:rPr>
              <a:t>X</a:t>
            </a:r>
            <a:r>
              <a:rPr lang="en-US" altLang="en-US" sz="1800" dirty="0">
                <a:latin typeface="Arial" panose="020B0604020202020204" pitchFamily="34" charset="0"/>
              </a:rPr>
              <a:t>] = [</a:t>
            </a:r>
            <a:r>
              <a:rPr lang="en-US" altLang="en-US" sz="1800" i="1" dirty="0">
                <a:latin typeface="Arial" panose="020B0604020202020204" pitchFamily="34" charset="0"/>
              </a:rPr>
              <a:t>Z</a:t>
            </a:r>
            <a:r>
              <a:rPr lang="en-US" altLang="en-US" sz="1800" dirty="0">
                <a:latin typeface="Arial" panose="020B0604020202020204" pitchFamily="34" charset="0"/>
              </a:rPr>
              <a:t>] for [</a:t>
            </a:r>
            <a:r>
              <a:rPr lang="en-US" altLang="en-US" sz="1800" i="1" dirty="0">
                <a:latin typeface="Arial" panose="020B0604020202020204" pitchFamily="34" charset="0"/>
              </a:rPr>
              <a:t>X</a:t>
            </a:r>
            <a:r>
              <a:rPr lang="en-US" altLang="en-US" sz="1800" dirty="0">
                <a:latin typeface="Arial" panose="020B0604020202020204" pitchFamily="34" charset="0"/>
              </a:rPr>
              <a:t>]			 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12253752-BF60-EFC4-1BE2-E585F0D66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53909"/>
              </p:ext>
            </p:extLst>
          </p:nvPr>
        </p:nvGraphicFramePr>
        <p:xfrm>
          <a:off x="5842247" y="2193925"/>
          <a:ext cx="38862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711200" progId="Equation.3">
                  <p:embed/>
                </p:oleObj>
              </mc:Choice>
              <mc:Fallback>
                <p:oleObj name="Equation" r:id="rId2" imgW="2247900" imgH="711200" progId="Equation.3">
                  <p:embed/>
                  <p:pic>
                    <p:nvPicPr>
                      <p:cNvPr id="98313" name="Object 11">
                        <a:extLst>
                          <a:ext uri="{FF2B5EF4-FFF2-40B4-BE49-F238E27FC236}">
                            <a16:creationId xmlns:a16="http://schemas.microsoft.com/office/drawing/2014/main" id="{31CB5A8A-A3C2-DCC1-699F-213C8E8F70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247" y="2193925"/>
                        <a:ext cx="388620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5645D158-0044-E1F5-0574-9AB307554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343897"/>
              </p:ext>
            </p:extLst>
          </p:nvPr>
        </p:nvGraphicFramePr>
        <p:xfrm>
          <a:off x="2260847" y="3565525"/>
          <a:ext cx="3805238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685800" progId="Equation.3">
                  <p:embed/>
                </p:oleObj>
              </mc:Choice>
              <mc:Fallback>
                <p:oleObj name="Equation" r:id="rId4" imgW="1562100" imgH="685800" progId="Equation.3">
                  <p:embed/>
                  <p:pic>
                    <p:nvPicPr>
                      <p:cNvPr id="98314" name="Object 15">
                        <a:extLst>
                          <a:ext uri="{FF2B5EF4-FFF2-40B4-BE49-F238E27FC236}">
                            <a16:creationId xmlns:a16="http://schemas.microsoft.com/office/drawing/2014/main" id="{B616DBFA-1D16-1631-D4DB-D884EAA94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847" y="3565525"/>
                        <a:ext cx="3805238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7130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2BBA-1A1C-583A-17F9-EB21DDC3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E5C029-4603-1D00-AEA0-8F2E7E11319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F1570BF-8554-5D51-7EE4-FDE62FAA0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410" y="1700814"/>
            <a:ext cx="457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Using Backward Substitution</a:t>
            </a:r>
          </a:p>
        </p:txBody>
      </p:sp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10DF8E12-CC14-F712-1B36-2610642AD5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027377"/>
              </p:ext>
            </p:extLst>
          </p:nvPr>
        </p:nvGraphicFramePr>
        <p:xfrm>
          <a:off x="1839435" y="2088164"/>
          <a:ext cx="4121150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300" imgH="2044700" progId="Equation.3">
                  <p:embed/>
                </p:oleObj>
              </mc:Choice>
              <mc:Fallback>
                <p:oleObj name="Equation" r:id="rId2" imgW="2400300" imgH="2044700" progId="Equation.3">
                  <p:embed/>
                  <p:pic>
                    <p:nvPicPr>
                      <p:cNvPr id="100361" name="Object 15">
                        <a:extLst>
                          <a:ext uri="{FF2B5EF4-FFF2-40B4-BE49-F238E27FC236}">
                            <a16:creationId xmlns:a16="http://schemas.microsoft.com/office/drawing/2014/main" id="{10C34936-0739-A15A-5965-E1AE9F05BB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435" y="2088164"/>
                        <a:ext cx="4121150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7">
            <a:extLst>
              <a:ext uri="{FF2B5EF4-FFF2-40B4-BE49-F238E27FC236}">
                <a16:creationId xmlns:a16="http://schemas.microsoft.com/office/drawing/2014/main" id="{B4049BC7-3EDF-BA73-5E91-581F051F2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610" y="2310414"/>
            <a:ext cx="2667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 the first column of the inverse of [</a:t>
            </a:r>
            <a:r>
              <a:rPr lang="en-US" altLang="en-US" sz="1800" i="1">
                <a:latin typeface="Arial" panose="020B0604020202020204" pitchFamily="34" charset="0"/>
              </a:rPr>
              <a:t>A</a:t>
            </a:r>
            <a:r>
              <a:rPr lang="en-US" altLang="en-US" sz="1800">
                <a:latin typeface="Arial" panose="020B0604020202020204" pitchFamily="34" charset="0"/>
              </a:rPr>
              <a:t>] is:</a:t>
            </a:r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331A120D-4BA1-44A4-E0EF-0B46ADA50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767314"/>
              </p:ext>
            </p:extLst>
          </p:nvPr>
        </p:nvGraphicFramePr>
        <p:xfrm>
          <a:off x="6744810" y="3072414"/>
          <a:ext cx="26670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588" imgH="710891" progId="Equation.3">
                  <p:embed/>
                </p:oleObj>
              </mc:Choice>
              <mc:Fallback>
                <p:oleObj name="Equation" r:id="rId4" imgW="1180588" imgH="710891" progId="Equation.3">
                  <p:embed/>
                  <p:pic>
                    <p:nvPicPr>
                      <p:cNvPr id="100363" name="Object 18">
                        <a:extLst>
                          <a:ext uri="{FF2B5EF4-FFF2-40B4-BE49-F238E27FC236}">
                            <a16:creationId xmlns:a16="http://schemas.microsoft.com/office/drawing/2014/main" id="{6881514E-6579-5880-67D0-7B482A4D4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810" y="3072414"/>
                        <a:ext cx="26670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799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F5578-A4D7-6B2B-ADDC-B63042E3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5D1DD2-73C9-EE27-44DB-EEC621550BA8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LU F</a:t>
            </a:r>
            <a:r>
              <a:rPr lang="en-US" altLang="zh-CN" sz="3200" b="1" dirty="0"/>
              <a:t>actorization</a:t>
            </a:r>
            <a:endParaRPr lang="en-US" sz="3200" b="1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19A19FA-EAE6-3C6A-D3D7-16C066E25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352" y="1750381"/>
            <a:ext cx="7543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Repeating for the second and third columns of the inverse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Second Column			Third Column</a:t>
            </a:r>
          </a:p>
        </p:txBody>
      </p:sp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F812EE31-8F22-F97E-D6A0-94917BD01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544344"/>
              </p:ext>
            </p:extLst>
          </p:nvPr>
        </p:nvGraphicFramePr>
        <p:xfrm>
          <a:off x="2547152" y="2736219"/>
          <a:ext cx="228600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700" imgH="711200" progId="Equation.3">
                  <p:embed/>
                </p:oleObj>
              </mc:Choice>
              <mc:Fallback>
                <p:oleObj name="Equation" r:id="rId2" imgW="1536700" imgH="711200" progId="Equation.3">
                  <p:embed/>
                  <p:pic>
                    <p:nvPicPr>
                      <p:cNvPr id="102409" name="Object 15">
                        <a:extLst>
                          <a:ext uri="{FF2B5EF4-FFF2-40B4-BE49-F238E27FC236}">
                            <a16:creationId xmlns:a16="http://schemas.microsoft.com/office/drawing/2014/main" id="{F30F1618-536C-6CE6-D35A-CB5C4B4F3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152" y="2736219"/>
                        <a:ext cx="2286000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4EE4DB3D-7406-E297-7203-FDDEC1923E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382763"/>
              </p:ext>
            </p:extLst>
          </p:nvPr>
        </p:nvGraphicFramePr>
        <p:xfrm>
          <a:off x="2775752" y="3955419"/>
          <a:ext cx="182880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300" imgH="711200" progId="Equation.3">
                  <p:embed/>
                </p:oleObj>
              </mc:Choice>
              <mc:Fallback>
                <p:oleObj name="Equation" r:id="rId4" imgW="1257300" imgH="711200" progId="Equation.3">
                  <p:embed/>
                  <p:pic>
                    <p:nvPicPr>
                      <p:cNvPr id="102410" name="Object 14">
                        <a:extLst>
                          <a:ext uri="{FF2B5EF4-FFF2-40B4-BE49-F238E27FC236}">
                            <a16:creationId xmlns:a16="http://schemas.microsoft.com/office/drawing/2014/main" id="{4BE46525-1C92-9E1F-8D9E-B403BF235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752" y="3955419"/>
                        <a:ext cx="182880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7A06B628-F8B8-28CE-2270-F3FC58CC8B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931346"/>
              </p:ext>
            </p:extLst>
          </p:nvPr>
        </p:nvGraphicFramePr>
        <p:xfrm>
          <a:off x="6452402" y="2747331"/>
          <a:ext cx="247332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100" imgH="711200" progId="Equation.3">
                  <p:embed/>
                </p:oleObj>
              </mc:Choice>
              <mc:Fallback>
                <p:oleObj name="Equation" r:id="rId6" imgW="1562100" imgH="711200" progId="Equation.3">
                  <p:embed/>
                  <p:pic>
                    <p:nvPicPr>
                      <p:cNvPr id="102412" name="Object 19">
                        <a:extLst>
                          <a:ext uri="{FF2B5EF4-FFF2-40B4-BE49-F238E27FC236}">
                            <a16:creationId xmlns:a16="http://schemas.microsoft.com/office/drawing/2014/main" id="{141E181C-2A81-307E-3683-05398F6D92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2402" y="2747331"/>
                        <a:ext cx="247332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6CBC5812-0476-F0B3-5C54-C12BDAD46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48059"/>
              </p:ext>
            </p:extLst>
          </p:nvPr>
        </p:nvGraphicFramePr>
        <p:xfrm>
          <a:off x="6903252" y="3966531"/>
          <a:ext cx="17526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588" imgH="710891" progId="Equation.3">
                  <p:embed/>
                </p:oleObj>
              </mc:Choice>
              <mc:Fallback>
                <p:oleObj name="Equation" r:id="rId8" imgW="1180588" imgH="710891" progId="Equation.3">
                  <p:embed/>
                  <p:pic>
                    <p:nvPicPr>
                      <p:cNvPr id="102413" name="Object 18">
                        <a:extLst>
                          <a:ext uri="{FF2B5EF4-FFF2-40B4-BE49-F238E27FC236}">
                            <a16:creationId xmlns:a16="http://schemas.microsoft.com/office/drawing/2014/main" id="{3404EB7D-5120-5B40-5D77-E9D66DD74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3252" y="3966531"/>
                        <a:ext cx="17526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6371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7C77-3DC2-3ED8-5EDF-99A25F15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5536BC-8487-4C8E-B847-2A52B6479E48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C459FC-B5C6-372C-D7C8-2FCCFDDE0FCD}"/>
              </a:ext>
            </a:extLst>
          </p:cNvPr>
          <p:cNvSpPr txBox="1"/>
          <p:nvPr/>
        </p:nvSpPr>
        <p:spPr>
          <a:xfrm>
            <a:off x="1741991" y="1749367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>
                    <a:lumMod val="85000"/>
                  </a:schemeClr>
                </a:solidFill>
              </a:rPr>
              <a:t>LU F</a:t>
            </a:r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</a:rPr>
              <a:t>actorization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Eigenvalue and Eigenvector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</a:rPr>
              <a:t>Norm</a:t>
            </a:r>
          </a:p>
        </p:txBody>
      </p:sp>
    </p:spTree>
    <p:extLst>
      <p:ext uri="{BB962C8B-B14F-4D97-AF65-F5344CB8AC3E}">
        <p14:creationId xmlns:p14="http://schemas.microsoft.com/office/powerpoint/2010/main" val="3007965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A6116-5E75-1C0B-16DB-1461278A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A4D3B1-BDD4-19A2-A306-8A5727F69C4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Linear algebra</a:t>
            </a:r>
            <a:endParaRPr lang="en-US" sz="32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2E7B59-9421-49FA-C610-10ED24784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087" y="1919906"/>
            <a:ext cx="8935366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90488" indent="-90488" algn="l" rtl="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1. The definitions of Eigenvalues and Eigenvectors; </a:t>
            </a:r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2. Compute the Eigenvalues of a matrix ;</a:t>
            </a:r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90488" marR="0" lvl="0" indent="-90488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3. Compute the Eigenvectors for a given eigenvalue.</a:t>
            </a:r>
          </a:p>
        </p:txBody>
      </p:sp>
    </p:spTree>
    <p:extLst>
      <p:ext uri="{BB962C8B-B14F-4D97-AF65-F5344CB8AC3E}">
        <p14:creationId xmlns:p14="http://schemas.microsoft.com/office/powerpoint/2010/main" val="26519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F80B-B16C-9AB7-7101-A9398953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9319F4-80F6-7326-210D-272E3FDC2F1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Linear algebra</a:t>
            </a:r>
            <a:endParaRPr lang="en-US" sz="3200" b="1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ED6EC0F-AD49-A2A8-F727-743E3EC60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19" y="2151727"/>
            <a:ext cx="9991426" cy="255454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en-US" altLang="zh-TW" sz="3200" b="1" dirty="0">
                <a:latin typeface="Arial" panose="020B0604020202020204" pitchFamily="34" charset="0"/>
              </a:rPr>
              <a:t>Definition</a:t>
            </a:r>
          </a:p>
          <a:p>
            <a:pPr eaLnBrk="1" hangingPunct="1"/>
            <a:r>
              <a:rPr kumimoji="1" lang="en-US" altLang="zh-TW" sz="3200" dirty="0">
                <a:latin typeface="Times New Roman" panose="02020603050405020304" pitchFamily="18" charset="0"/>
              </a:rPr>
              <a:t>Let </a:t>
            </a:r>
            <a:r>
              <a:rPr kumimoji="1" lang="en-US" altLang="zh-TW" sz="3200" i="1" dirty="0">
                <a:latin typeface="Times New Roman" panose="02020603050405020304" pitchFamily="18" charset="0"/>
              </a:rPr>
              <a:t>A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 be an </a:t>
            </a:r>
            <a:r>
              <a:rPr kumimoji="1" lang="en-US" altLang="zh-TW" sz="3200" i="1" dirty="0">
                <a:latin typeface="Times New Roman" panose="02020603050405020304" pitchFamily="18" charset="0"/>
              </a:rPr>
              <a:t>n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 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kumimoji="1" lang="en-US" altLang="zh-TW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matrix. A </a:t>
            </a:r>
            <a:r>
              <a:rPr kumimoji="1" lang="en-US" altLang="zh-TW" sz="3200" i="1" u="sng" dirty="0">
                <a:latin typeface="Times New Roman" panose="02020603050405020304" pitchFamily="18" charset="0"/>
                <a:sym typeface="Symbol" panose="05050102010706020507" pitchFamily="18" charset="2"/>
              </a:rPr>
              <a:t>scalar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 is called an </a:t>
            </a:r>
            <a:r>
              <a:rPr kumimoji="1"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eigenvalue</a:t>
            </a:r>
            <a:r>
              <a:rPr kumimoji="1"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of </a:t>
            </a:r>
            <a:r>
              <a:rPr kumimoji="1" lang="en-US" altLang="zh-TW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if there exists a nonzero vector </a:t>
            </a:r>
            <a:r>
              <a:rPr kumimoji="1" lang="en-US" altLang="zh-TW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in </a:t>
            </a:r>
            <a:r>
              <a:rPr kumimoji="1" lang="en-US" altLang="zh-TW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TW" sz="3200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such that</a:t>
            </a:r>
          </a:p>
          <a:p>
            <a:pPr algn="ctr" eaLnBrk="1" hangingPunct="1"/>
            <a:r>
              <a:rPr kumimoji="1" lang="en-US" altLang="zh-TW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= </a:t>
            </a:r>
            <a:r>
              <a:rPr kumimoji="1" lang="en-US" altLang="zh-TW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/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The vector </a:t>
            </a:r>
            <a:r>
              <a:rPr kumimoji="1" lang="en-US" altLang="zh-TW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is called an </a:t>
            </a:r>
            <a:r>
              <a:rPr kumimoji="1"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eigenvector</a:t>
            </a:r>
            <a:r>
              <a:rPr kumimoji="1"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TW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corresponding to .</a:t>
            </a:r>
          </a:p>
        </p:txBody>
      </p:sp>
    </p:spTree>
    <p:extLst>
      <p:ext uri="{BB962C8B-B14F-4D97-AF65-F5344CB8AC3E}">
        <p14:creationId xmlns:p14="http://schemas.microsoft.com/office/powerpoint/2010/main" val="1598328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C69BB-DE2F-9DDA-8550-409DDCB2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D18B69-AED7-B900-66D3-7B87C9DCAC1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sp>
        <p:nvSpPr>
          <p:cNvPr id="4" name="Text Box 1027">
            <a:extLst>
              <a:ext uri="{FF2B5EF4-FFF2-40B4-BE49-F238E27FC236}">
                <a16:creationId xmlns:a16="http://schemas.microsoft.com/office/drawing/2014/main" id="{243DC963-1F14-1858-4B36-4B0702061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79" y="1489447"/>
            <a:ext cx="9361881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en-US" altLang="zh-TW" sz="2400" dirty="0">
                <a:latin typeface="Times New Roman" panose="02020603050405020304" pitchFamily="18" charset="0"/>
              </a:rPr>
              <a:t>Let </a:t>
            </a:r>
            <a:r>
              <a:rPr kumimoji="1" lang="en-US" altLang="zh-TW" sz="2400" i="1" dirty="0">
                <a:latin typeface="Times New Roman" panose="02020603050405020304" pitchFamily="18" charset="0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</a:rPr>
              <a:t> be an </a:t>
            </a:r>
            <a:r>
              <a:rPr kumimoji="1" lang="en-US" altLang="zh-TW" sz="2400" i="1" dirty="0">
                <a:latin typeface="Times New Roman" panose="02020603050405020304" pitchFamily="18" charset="0"/>
              </a:rPr>
              <a:t>n</a:t>
            </a:r>
            <a:r>
              <a:rPr kumimoji="1" lang="en-US" altLang="zh-TW" sz="2400" dirty="0">
                <a:latin typeface="Times New Roman" panose="02020603050405020304" pitchFamily="18" charset="0"/>
              </a:rPr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matrix with eigenvalue  and corresponding eigenvector 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. Thus 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= 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/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This equation may be written</a:t>
            </a:r>
          </a:p>
          <a:p>
            <a:pPr algn="ctr" eaLnBrk="1" hangingPunct="1"/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–  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  <a:p>
            <a:pPr eaLnBrk="1" hangingPunct="1"/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given </a:t>
            </a:r>
          </a:p>
          <a:p>
            <a:pPr algn="ctr" eaLnBrk="1" hangingPunct="1"/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– 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TW" sz="24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1" lang="en-US" altLang="zh-TW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  <a:p>
            <a:pPr eaLnBrk="1" hangingPunct="1"/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Solving the equation |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– 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TW" sz="24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= 0 for  leads to all the eigenvalues of 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/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The equation |</a:t>
            </a:r>
            <a:r>
              <a:rPr kumimoji="1" lang="en-US" altLang="zh-TW" sz="2400" i="1" dirty="0">
                <a:latin typeface="Times New Roman" panose="02020603050405020304" pitchFamily="18" charset="0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</a:rPr>
              <a:t> – 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TW" sz="2400" i="1" dirty="0">
                <a:latin typeface="Times New Roman" panose="02020603050405020304" pitchFamily="18" charset="0"/>
              </a:rPr>
              <a:t>I</a:t>
            </a:r>
            <a:r>
              <a:rPr kumimoji="1" lang="en-US" altLang="zh-TW" sz="2400" i="1" baseline="-25000" dirty="0">
                <a:latin typeface="Times New Roman" panose="02020603050405020304" pitchFamily="18" charset="0"/>
              </a:rPr>
              <a:t>n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| = 0 is called the </a:t>
            </a:r>
            <a:r>
              <a:rPr kumimoji="1" lang="en-US" altLang="zh-TW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characteristic equation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of </a:t>
            </a:r>
            <a:r>
              <a:rPr kumimoji="1" lang="en-US" altLang="zh-TW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CF8E28-EC48-A05D-CB24-9DFBCA1C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079" y="5368553"/>
            <a:ext cx="740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 b="1" dirty="0">
                <a:solidFill>
                  <a:srgbClr val="FF0000"/>
                </a:solidFill>
                <a:sym typeface="Symbol" panose="05050102010706020507" pitchFamily="18" charset="2"/>
              </a:rPr>
              <a:t>Solve the </a:t>
            </a:r>
            <a:r>
              <a:rPr lang="en-US" altLang="zh-TW" sz="2400" b="1" dirty="0">
                <a:solidFill>
                  <a:srgbClr val="0000FF"/>
                </a:solidFill>
                <a:sym typeface="Symbol" panose="05050102010706020507" pitchFamily="18" charset="2"/>
              </a:rPr>
              <a:t>characteristic equation </a:t>
            </a:r>
            <a:r>
              <a:rPr lang="en-US" altLang="zh-TW" sz="2400" b="1" dirty="0">
                <a:solidFill>
                  <a:srgbClr val="FF0000"/>
                </a:solidFill>
                <a:sym typeface="Symbol" panose="05050102010706020507" pitchFamily="18" charset="2"/>
              </a:rPr>
              <a:t>to get the eigenvalues!</a:t>
            </a:r>
            <a:r>
              <a:rPr lang="en-US" altLang="zh-TW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39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8BB9-B80B-ED05-C299-ECFBAEC2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B1AB57-6417-642B-3770-F0B2DBD28A4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268C52-73DD-7F4E-68AA-A79A185A5E39}"/>
              </a:ext>
            </a:extLst>
          </p:cNvPr>
          <p:cNvSpPr txBox="1">
            <a:spLocks noChangeArrowheads="1"/>
          </p:cNvSpPr>
          <p:nvPr/>
        </p:nvSpPr>
        <p:spPr>
          <a:xfrm>
            <a:off x="-795752" y="646644"/>
            <a:ext cx="7543800" cy="1450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C530CEF8-BBD8-4694-7AB0-152FE2AFAE99}"/>
              </a:ext>
            </a:extLst>
          </p:cNvPr>
          <p:cNvGrpSpPr>
            <a:grpSpLocks/>
          </p:cNvGrpSpPr>
          <p:nvPr/>
        </p:nvGrpSpPr>
        <p:grpSpPr bwMode="auto">
          <a:xfrm>
            <a:off x="1852837" y="2616732"/>
            <a:ext cx="8081963" cy="2093913"/>
            <a:chOff x="336" y="1370"/>
            <a:chExt cx="5091" cy="1319"/>
          </a:xfrm>
        </p:grpSpPr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59EFFB9-6FD2-0C3C-6C2D-6DEE8DD56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70"/>
              <a:ext cx="509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kumimoji="1" lang="en-US" altLang="zh-TW" sz="2400">
                  <a:latin typeface="Times New Roman" panose="02020603050405020304" pitchFamily="18" charset="0"/>
                </a:rPr>
                <a:t>Let us first derive the characteristic polynomial of</a:t>
              </a:r>
              <a:r>
                <a:rPr kumimoji="1" lang="en-US" altLang="zh-TW" sz="2400" i="1">
                  <a:latin typeface="Times New Roman" panose="02020603050405020304" pitchFamily="18" charset="0"/>
                </a:rPr>
                <a:t> A</a:t>
              </a:r>
              <a:r>
                <a:rPr kumimoji="1" lang="en-US" altLang="zh-TW" sz="2400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E9260127-A88C-C522-B540-4F91D08CBC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4" y="1763"/>
            <a:ext cx="3832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083300" imgH="1295400" progId="Equation.3">
                    <p:embed/>
                  </p:oleObj>
                </mc:Choice>
                <mc:Fallback>
                  <p:oleObj name="Equation" r:id="rId2" imgW="6083300" imgH="1295400" progId="Equation.3">
                    <p:embed/>
                    <p:pic>
                      <p:nvPicPr>
                        <p:cNvPr id="12296" name="Object 7">
                          <a:extLst>
                            <a:ext uri="{FF2B5EF4-FFF2-40B4-BE49-F238E27FC236}">
                              <a16:creationId xmlns:a16="http://schemas.microsoft.com/office/drawing/2014/main" id="{13A048D7-A96F-843B-1902-21DC088854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4" y="1763"/>
                          <a:ext cx="3832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D8F7E91C-06F2-9266-23D2-C2776AD508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2417"/>
            <a:ext cx="31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67300" imgH="431800" progId="Equation.3">
                    <p:embed/>
                  </p:oleObj>
                </mc:Choice>
                <mc:Fallback>
                  <p:oleObj name="Equation" r:id="rId4" imgW="5067300" imgH="431800" progId="Equation.3">
                    <p:embed/>
                    <p:pic>
                      <p:nvPicPr>
                        <p:cNvPr id="12297" name="Object 8">
                          <a:extLst>
                            <a:ext uri="{FF2B5EF4-FFF2-40B4-BE49-F238E27FC236}">
                              <a16:creationId xmlns:a16="http://schemas.microsoft.com/office/drawing/2014/main" id="{D107C44D-55BC-23C3-E359-A58419BA61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417"/>
                          <a:ext cx="31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11">
            <a:extLst>
              <a:ext uri="{FF2B5EF4-FFF2-40B4-BE49-F238E27FC236}">
                <a16:creationId xmlns:a16="http://schemas.microsoft.com/office/drawing/2014/main" id="{7C993109-D6AD-8684-6D5D-DCA36BD67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175" y="4861457"/>
            <a:ext cx="81692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en-US" altLang="zh-TW" sz="2400">
                <a:latin typeface="Times New Roman" panose="02020603050405020304" pitchFamily="18" charset="0"/>
              </a:rPr>
              <a:t>We now solve the characteristic equation of </a:t>
            </a:r>
            <a:r>
              <a:rPr kumimoji="1" lang="en-US" altLang="zh-TW" sz="2400" i="1">
                <a:latin typeface="Times New Roman" panose="02020603050405020304" pitchFamily="18" charset="0"/>
              </a:rPr>
              <a:t>A</a:t>
            </a:r>
            <a:r>
              <a:rPr kumimoji="1" lang="en-US" altLang="zh-TW" sz="240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kumimoji="1" lang="en-US" altLang="zh-TW" sz="2400"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en-US" altLang="zh-TW" sz="2400">
                <a:latin typeface="Times New Roman" panose="02020603050405020304" pitchFamily="18" charset="0"/>
              </a:rPr>
              <a:t>The eigenvalues of </a:t>
            </a:r>
            <a:r>
              <a:rPr kumimoji="1" lang="en-US" altLang="zh-TW" sz="2400" i="1">
                <a:latin typeface="Times New Roman" panose="02020603050405020304" pitchFamily="18" charset="0"/>
              </a:rPr>
              <a:t>A</a:t>
            </a:r>
            <a:r>
              <a:rPr kumimoji="1" lang="en-US" altLang="zh-TW" sz="2400">
                <a:latin typeface="Times New Roman" panose="02020603050405020304" pitchFamily="18" charset="0"/>
              </a:rPr>
              <a:t> are 2 and –1.</a:t>
            </a:r>
          </a:p>
        </p:txBody>
      </p: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6EF8E209-B290-C146-E29B-CCCF612F3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184386"/>
              </p:ext>
            </p:extLst>
          </p:nvPr>
        </p:nvGraphicFramePr>
        <p:xfrm>
          <a:off x="2767237" y="5336120"/>
          <a:ext cx="586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67400" imgH="406400" progId="Equation.3">
                  <p:embed/>
                </p:oleObj>
              </mc:Choice>
              <mc:Fallback>
                <p:oleObj name="Equation" r:id="rId6" imgW="5867400" imgH="406400" progId="Equation.3">
                  <p:embed/>
                  <p:pic>
                    <p:nvPicPr>
                      <p:cNvPr id="71692" name="Object 12">
                        <a:extLst>
                          <a:ext uri="{FF2B5EF4-FFF2-40B4-BE49-F238E27FC236}">
                            <a16:creationId xmlns:a16="http://schemas.microsoft.com/office/drawing/2014/main" id="{9093BCFB-3ED9-C51E-A601-871534359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237" y="5336120"/>
                        <a:ext cx="5867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F6F4881C-3A89-B643-C6AF-114D23F40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214964"/>
              </p:ext>
            </p:extLst>
          </p:nvPr>
        </p:nvGraphicFramePr>
        <p:xfrm>
          <a:off x="5700937" y="1201470"/>
          <a:ext cx="182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1379" imgH="830596" progId="Equation.3">
                  <p:embed/>
                </p:oleObj>
              </mc:Choice>
              <mc:Fallback>
                <p:oleObj name="Equation" r:id="rId8" imgW="1821379" imgH="830596" progId="Equation.3">
                  <p:embed/>
                  <p:pic>
                    <p:nvPicPr>
                      <p:cNvPr id="12291" name="Object 4">
                        <a:extLst>
                          <a:ext uri="{FF2B5EF4-FFF2-40B4-BE49-F238E27FC236}">
                            <a16:creationId xmlns:a16="http://schemas.microsoft.com/office/drawing/2014/main" id="{1CDF928B-0BD7-09E7-8A28-F376AD5891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937" y="1201470"/>
                        <a:ext cx="1828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752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7C09-C03D-C267-4685-F997BEE8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532F59-1F01-7B5C-71BA-09BDB4880FC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B316421-956F-5794-8E94-B78E77A02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214" y="966765"/>
            <a:ext cx="8001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90488" indent="-90488" algn="l" rtl="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altLang="zh-TW" sz="2400">
                <a:latin typeface="Times New Roman" panose="02020603050405020304" pitchFamily="18" charset="0"/>
                <a:sym typeface="Symbol" panose="05050102010706020507" pitchFamily="18" charset="2"/>
              </a:rPr>
              <a:t>For </a:t>
            </a:r>
            <a:r>
              <a:rPr lang="en-US" altLang="zh-TW" sz="2400" u="sng">
                <a:latin typeface="Times New Roman" panose="02020603050405020304" pitchFamily="18" charset="0"/>
                <a:sym typeface="Symbol" panose="05050102010706020507" pitchFamily="18" charset="2"/>
              </a:rPr>
              <a:t> = </a:t>
            </a:r>
            <a:r>
              <a:rPr lang="en-US" altLang="zh-TW" sz="2400" u="sng">
                <a:latin typeface="Times New Roman" panose="02020603050405020304" pitchFamily="18" charset="0"/>
              </a:rPr>
              <a:t>–1</a:t>
            </a:r>
          </a:p>
          <a:p>
            <a:pPr defTabSz="914400"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</a:rPr>
              <a:t>	</a:t>
            </a:r>
            <a:r>
              <a:rPr lang="en-US" altLang="zh-TW" sz="2400">
                <a:latin typeface="Times New Roman" panose="02020603050405020304" pitchFamily="18" charset="0"/>
              </a:rPr>
              <a:t>We solve the equation (</a:t>
            </a:r>
            <a:r>
              <a:rPr lang="en-US" altLang="zh-TW" sz="2400" i="1">
                <a:latin typeface="Times New Roman" panose="02020603050405020304" pitchFamily="18" charset="0"/>
              </a:rPr>
              <a:t>A</a:t>
            </a:r>
            <a:r>
              <a:rPr lang="en-US" altLang="zh-TW" sz="2400">
                <a:latin typeface="Times New Roman" panose="02020603050405020304" pitchFamily="18" charset="0"/>
              </a:rPr>
              <a:t> + </a:t>
            </a:r>
            <a:r>
              <a:rPr lang="en-US" altLang="zh-TW" sz="24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TW" sz="2400" i="1">
                <a:latin typeface="Times New Roman" panose="02020603050405020304" pitchFamily="18" charset="0"/>
              </a:rPr>
              <a:t>I</a:t>
            </a:r>
            <a:r>
              <a:rPr lang="en-US" altLang="zh-TW" sz="2400" baseline="-25000">
                <a:latin typeface="Times New Roman" panose="02020603050405020304" pitchFamily="18" charset="0"/>
              </a:rPr>
              <a:t>2</a:t>
            </a:r>
            <a:r>
              <a:rPr lang="en-US" altLang="zh-TW" sz="2400">
                <a:latin typeface="Times New Roman" panose="02020603050405020304" pitchFamily="18" charset="0"/>
              </a:rPr>
              <a:t>)</a:t>
            </a:r>
            <a:r>
              <a:rPr lang="en-US" altLang="zh-TW" sz="2400" i="1">
                <a:latin typeface="Times New Roman" panose="02020603050405020304" pitchFamily="18" charset="0"/>
              </a:rPr>
              <a:t>x</a:t>
            </a:r>
            <a:r>
              <a:rPr lang="en-US" altLang="zh-TW" sz="2400">
                <a:latin typeface="Times New Roman" panose="02020603050405020304" pitchFamily="18" charset="0"/>
              </a:rPr>
              <a:t> = 0 for </a:t>
            </a:r>
            <a:r>
              <a:rPr lang="en-US" altLang="zh-TW" sz="2400" i="1">
                <a:latin typeface="Times New Roman" panose="02020603050405020304" pitchFamily="18" charset="0"/>
              </a:rPr>
              <a:t>x</a:t>
            </a:r>
            <a:r>
              <a:rPr lang="en-US" altLang="zh-TW" sz="2400">
                <a:latin typeface="Times New Roman" panose="02020603050405020304" pitchFamily="18" charset="0"/>
              </a:rPr>
              <a:t>. </a:t>
            </a:r>
          </a:p>
          <a:p>
            <a:pPr defTabSz="914400"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</a:rPr>
              <a:t>The matrix (</a:t>
            </a:r>
            <a:r>
              <a:rPr lang="en-US" altLang="zh-TW" sz="2400" i="1">
                <a:latin typeface="Times New Roman" panose="02020603050405020304" pitchFamily="18" charset="0"/>
              </a:rPr>
              <a:t>A</a:t>
            </a:r>
            <a:r>
              <a:rPr lang="en-US" altLang="zh-TW" sz="2400">
                <a:latin typeface="Times New Roman" panose="02020603050405020304" pitchFamily="18" charset="0"/>
              </a:rPr>
              <a:t> + 1</a:t>
            </a:r>
            <a:r>
              <a:rPr lang="en-US" altLang="zh-TW" sz="2400" i="1">
                <a:latin typeface="Times New Roman" panose="02020603050405020304" pitchFamily="18" charset="0"/>
              </a:rPr>
              <a:t>I</a:t>
            </a:r>
            <a:r>
              <a:rPr lang="en-US" altLang="zh-TW" sz="2400" baseline="-25000">
                <a:latin typeface="Times New Roman" panose="02020603050405020304" pitchFamily="18" charset="0"/>
              </a:rPr>
              <a:t>2</a:t>
            </a:r>
            <a:r>
              <a:rPr lang="en-US" altLang="zh-TW" sz="2400">
                <a:latin typeface="Times New Roman" panose="02020603050405020304" pitchFamily="18" charset="0"/>
              </a:rPr>
              <a:t>) is obtained by adding 1 to the diagonal elements of </a:t>
            </a:r>
            <a:r>
              <a:rPr lang="en-US" altLang="zh-TW" sz="2400" i="1">
                <a:latin typeface="Times New Roman" panose="02020603050405020304" pitchFamily="18" charset="0"/>
              </a:rPr>
              <a:t>A</a:t>
            </a:r>
            <a:r>
              <a:rPr lang="en-US" altLang="zh-TW" sz="2400">
                <a:latin typeface="Times New Roman" panose="02020603050405020304" pitchFamily="18" charset="0"/>
              </a:rPr>
              <a:t>. We get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386AC497-1659-6B25-2B60-C3A51BC3E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214" y="3589583"/>
            <a:ext cx="771207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This leads to the system of equations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TW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Thus </a:t>
            </a:r>
            <a:r>
              <a:rPr kumimoji="1"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TW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= –2</a:t>
            </a:r>
            <a:r>
              <a:rPr kumimoji="1"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TW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. The solutions to this system of equations are </a:t>
            </a:r>
            <a:r>
              <a:rPr kumimoji="1"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TW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= –2 and </a:t>
            </a:r>
            <a:r>
              <a:rPr kumimoji="1"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TW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kumimoji="1"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. Thus the </a:t>
            </a:r>
            <a:r>
              <a:rPr kumimoji="1" lang="en-US" altLang="zh-TW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eigenvectors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of </a:t>
            </a:r>
            <a:r>
              <a:rPr kumimoji="1"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corresponding to 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 = 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–1</a:t>
            </a:r>
            <a:r>
              <a:rPr kumimoji="1"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are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5F06957F-B1E2-D4C3-4028-A9D3F7BD3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103" y="5703607"/>
            <a:ext cx="2270125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A180172F-E722-9D7F-E9F0-0BEDE42D09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482132"/>
              </p:ext>
            </p:extLst>
          </p:nvPr>
        </p:nvGraphicFramePr>
        <p:xfrm>
          <a:off x="4580961" y="2544763"/>
          <a:ext cx="216058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180588" imgH="482391" progId="Equation.3">
                  <p:embed/>
                </p:oleObj>
              </mc:Choice>
              <mc:Fallback>
                <p:oleObj name="方程式" r:id="rId3" imgW="1180588" imgH="482391" progId="Equation.3">
                  <p:embed/>
                  <p:pic>
                    <p:nvPicPr>
                      <p:cNvPr id="14339" name="Object 4">
                        <a:extLst>
                          <a:ext uri="{FF2B5EF4-FFF2-40B4-BE49-F238E27FC236}">
                            <a16:creationId xmlns:a16="http://schemas.microsoft.com/office/drawing/2014/main" id="{2EAC0362-D14A-36E9-0DDE-E8911BEE5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961" y="2544763"/>
                        <a:ext cx="216058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E3FEC0B6-F4A7-76EE-5A98-6DFE7045EE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208446"/>
              </p:ext>
            </p:extLst>
          </p:nvPr>
        </p:nvGraphicFramePr>
        <p:xfrm>
          <a:off x="4431789" y="3986362"/>
          <a:ext cx="1944688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914400" imgH="457200" progId="Equation.3">
                  <p:embed/>
                </p:oleObj>
              </mc:Choice>
              <mc:Fallback>
                <p:oleObj name="方程式" r:id="rId5" imgW="914400" imgH="457200" progId="Equation.3">
                  <p:embed/>
                  <p:pic>
                    <p:nvPicPr>
                      <p:cNvPr id="14341" name="Object 6">
                        <a:extLst>
                          <a:ext uri="{FF2B5EF4-FFF2-40B4-BE49-F238E27FC236}">
                            <a16:creationId xmlns:a16="http://schemas.microsoft.com/office/drawing/2014/main" id="{9D695768-5B35-50F4-78DB-AC46697DF4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1789" y="3986362"/>
                        <a:ext cx="1944688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2283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EE4E-C4EB-E481-7BC6-2D1D3465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43D25E-5B23-AFDF-D084-CF9FB50104A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735C31D-2DCA-A545-A9C1-4B37A21E9F19}"/>
              </a:ext>
            </a:extLst>
          </p:cNvPr>
          <p:cNvSpPr txBox="1">
            <a:spLocks noChangeArrowheads="1"/>
          </p:cNvSpPr>
          <p:nvPr/>
        </p:nvSpPr>
        <p:spPr>
          <a:xfrm>
            <a:off x="1714500" y="858071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0" i="0" u="none" strike="noStrike" kern="1200" cap="none" spc="-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Example 2</a:t>
            </a:r>
            <a:endParaRPr kumimoji="0" lang="en-US" altLang="zh-TW" sz="4800" b="0" i="0" u="none" strike="noStrike" kern="1200" cap="none" spc="-5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83B18F35-0B76-24DA-FA57-06071AEB59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199163"/>
              </p:ext>
            </p:extLst>
          </p:nvPr>
        </p:nvGraphicFramePr>
        <p:xfrm>
          <a:off x="5486400" y="1023171"/>
          <a:ext cx="16764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8714" imgH="1158083" progId="Equation.3">
                  <p:embed/>
                </p:oleObj>
              </mc:Choice>
              <mc:Fallback>
                <p:oleObj name="Equation" r:id="rId2" imgW="1668714" imgH="1158083" progId="Equation.3">
                  <p:embed/>
                  <p:pic>
                    <p:nvPicPr>
                      <p:cNvPr id="15363" name="Object 4">
                        <a:extLst>
                          <a:ext uri="{FF2B5EF4-FFF2-40B4-BE49-F238E27FC236}">
                            <a16:creationId xmlns:a16="http://schemas.microsoft.com/office/drawing/2014/main" id="{74D2F54A-8906-1028-B319-80E08CD864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023171"/>
                        <a:ext cx="16764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1">
            <a:extLst>
              <a:ext uri="{FF2B5EF4-FFF2-40B4-BE49-F238E27FC236}">
                <a16:creationId xmlns:a16="http://schemas.microsoft.com/office/drawing/2014/main" id="{B99BE59E-6DF7-E914-84CA-915A7C080C3B}"/>
              </a:ext>
            </a:extLst>
          </p:cNvPr>
          <p:cNvGrpSpPr>
            <a:grpSpLocks/>
          </p:cNvGrpSpPr>
          <p:nvPr/>
        </p:nvGrpSpPr>
        <p:grpSpPr bwMode="auto">
          <a:xfrm>
            <a:off x="1647825" y="2429696"/>
            <a:ext cx="8077200" cy="1930400"/>
            <a:chOff x="336" y="1632"/>
            <a:chExt cx="5088" cy="1216"/>
          </a:xfrm>
        </p:grpSpPr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63877D71-B69E-13B1-7402-F6A460F25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632"/>
              <a:ext cx="508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The matrix </a:t>
              </a:r>
              <a:r>
                <a:rPr kumimoji="1" lang="en-US" altLang="zh-TW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A</a:t>
              </a:r>
              <a:r>
                <a:rPr kumimoji="1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 – </a:t>
              </a:r>
              <a:r>
                <a:rPr kumimoji="1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TW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</a:t>
              </a:r>
              <a:r>
                <a:rPr kumimoji="1" lang="en-US" altLang="zh-TW" sz="24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3</a:t>
              </a:r>
              <a:r>
                <a:rPr kumimoji="1" lang="en-US" altLang="zh-TW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 </a:t>
              </a:r>
              <a:r>
                <a:rPr kumimoji="1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is obtained by subtracting </a:t>
              </a:r>
              <a:r>
                <a:rPr kumimoji="1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sym typeface="Symbol" panose="05050102010706020507" pitchFamily="18" charset="2"/>
                </a:rPr>
                <a:t> from the diagonal elements of </a:t>
              </a:r>
              <a:r>
                <a:rPr kumimoji="1" lang="en-US" altLang="zh-TW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kumimoji="1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</a:p>
          </p:txBody>
        </p:sp>
        <p:graphicFrame>
          <p:nvGraphicFramePr>
            <p:cNvPr id="21" name="Object 6">
              <a:extLst>
                <a:ext uri="{FF2B5EF4-FFF2-40B4-BE49-F238E27FC236}">
                  <a16:creationId xmlns:a16="http://schemas.microsoft.com/office/drawing/2014/main" id="{85AF547D-D785-B8DC-94E8-D79A2FEF67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6" y="2112"/>
            <a:ext cx="2208" cy="7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505200" imgH="1168400" progId="Equation.3">
                    <p:embed/>
                  </p:oleObj>
                </mc:Choice>
                <mc:Fallback>
                  <p:oleObj name="Equation" r:id="rId4" imgW="3505200" imgH="1168400" progId="Equation.3">
                    <p:embed/>
                    <p:pic>
                      <p:nvPicPr>
                        <p:cNvPr id="15368" name="Object 6">
                          <a:extLst>
                            <a:ext uri="{FF2B5EF4-FFF2-40B4-BE49-F238E27FC236}">
                              <a16:creationId xmlns:a16="http://schemas.microsoft.com/office/drawing/2014/main" id="{75AD3715-95D0-04DA-9D0F-625BB91F2A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112"/>
                          <a:ext cx="2208" cy="7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10">
            <a:extLst>
              <a:ext uri="{FF2B5EF4-FFF2-40B4-BE49-F238E27FC236}">
                <a16:creationId xmlns:a16="http://schemas.microsoft.com/office/drawing/2014/main" id="{863AE141-4C1F-51B8-F9D3-83C66F62C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4375971"/>
            <a:ext cx="8016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</a:rPr>
              <a:t>The characteristic polynomial of </a:t>
            </a:r>
            <a:r>
              <a:rPr kumimoji="1" lang="en-US" altLang="zh-TW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</a:rPr>
              <a:t> is |</a:t>
            </a:r>
            <a:r>
              <a:rPr kumimoji="1" lang="en-US" altLang="zh-TW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</a:rPr>
              <a:t> – </a:t>
            </a: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TW" sz="2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TW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</a:rPr>
              <a:t>|.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A2D0496-E095-EF92-719E-67629630F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88" y="5133208"/>
            <a:ext cx="4068762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709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5300-4222-E6E9-A139-4A78FE4D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1578BE-9217-ABD9-2177-0D3E6CDF1A6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76C25C0-41F3-DAAC-3A2B-7D38CDEC237F}"/>
              </a:ext>
            </a:extLst>
          </p:cNvPr>
          <p:cNvSpPr txBox="1">
            <a:spLocks/>
          </p:cNvSpPr>
          <p:nvPr/>
        </p:nvSpPr>
        <p:spPr>
          <a:xfrm>
            <a:off x="504825" y="485507"/>
            <a:ext cx="9180843" cy="1120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Formula of the Determinant of 3×3 Matrix</a:t>
            </a:r>
          </a:p>
        </p:txBody>
      </p:sp>
      <p:pic>
        <p:nvPicPr>
          <p:cNvPr id="9" name="Picture 2" descr="The determinant of matrix A = [a,b,c;d,e,f;g,h,i] is calculated as determinant of A = det(A) = det [a,b,c;d,e,f;g,h,i] = a times determinant of matrix [e,f;h,] minus b times determinant of matrix [d,f;g,i] + c times determinant of [d,e;g,h].">
            <a:extLst>
              <a:ext uri="{FF2B5EF4-FFF2-40B4-BE49-F238E27FC236}">
                <a16:creationId xmlns:a16="http://schemas.microsoft.com/office/drawing/2014/main" id="{74E0AEB2-5608-BCB5-BD54-DCF5E2BAD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1743075"/>
            <a:ext cx="7602538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1C8F7A0-BFF1-B91C-7021-E18D3D31B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3200400"/>
            <a:ext cx="70564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rPr>
              <a:t>S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</a:rPr>
              <a:t>ee more details and examples on </a:t>
            </a: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hlinkClick r:id="rId3"/>
              </a:rPr>
              <a:t>https://www.chilimath.com/lessons/advanced-algebra/determinant-3x3-matrix/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4D0FD8-181F-A19B-9783-99541096D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4124325"/>
            <a:ext cx="4067175" cy="128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0A6DB4-545A-495A-CDB9-AB458BD3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313" y="5516563"/>
            <a:ext cx="6897687" cy="119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227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C99C1-C921-199F-3FCA-0F2FEB584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451D09-6EDC-F623-CBBF-AC6D081858E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8AFED3C3-AC56-22AF-2826-3E4F922B4DD0}"/>
              </a:ext>
            </a:extLst>
          </p:cNvPr>
          <p:cNvGrpSpPr>
            <a:grpSpLocks/>
          </p:cNvGrpSpPr>
          <p:nvPr/>
        </p:nvGrpSpPr>
        <p:grpSpPr bwMode="auto">
          <a:xfrm>
            <a:off x="1794003" y="3636121"/>
            <a:ext cx="8093075" cy="1938338"/>
            <a:chOff x="326" y="2016"/>
            <a:chExt cx="5098" cy="1221"/>
          </a:xfrm>
        </p:grpSpPr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60A07599-CB38-8DF7-D789-452EA7E26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2016"/>
              <a:ext cx="5098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kumimoji="1" lang="en-US" altLang="zh-TW" sz="2400">
                  <a:latin typeface="Times New Roman" panose="02020603050405020304" pitchFamily="18" charset="0"/>
                </a:rPr>
                <a:t>We now solving the characteristic equation of </a:t>
              </a:r>
              <a:r>
                <a:rPr kumimoji="1" lang="en-US" altLang="zh-TW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TW" sz="2400">
                  <a:latin typeface="Times New Roman" panose="02020603050405020304" pitchFamily="18" charset="0"/>
                </a:rPr>
                <a:t>:</a:t>
              </a:r>
            </a:p>
            <a:p>
              <a:pPr eaLnBrk="1" hangingPunct="1"/>
              <a:endParaRPr kumimoji="1" lang="en-US" altLang="zh-TW" sz="2400">
                <a:latin typeface="Times New Roman" panose="02020603050405020304" pitchFamily="18" charset="0"/>
              </a:endParaRPr>
            </a:p>
            <a:p>
              <a:pPr eaLnBrk="1" hangingPunct="1"/>
              <a:endParaRPr kumimoji="1" lang="en-US" altLang="zh-TW" sz="2400">
                <a:latin typeface="Times New Roman" panose="02020603050405020304" pitchFamily="18" charset="0"/>
              </a:endParaRPr>
            </a:p>
            <a:p>
              <a:pPr eaLnBrk="1" hangingPunct="1"/>
              <a:endParaRPr kumimoji="1" lang="en-US" altLang="zh-TW" sz="24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kumimoji="1" lang="en-US" altLang="zh-TW" sz="2400">
                  <a:latin typeface="Times New Roman" panose="02020603050405020304" pitchFamily="18" charset="0"/>
                </a:rPr>
                <a:t>The eigenvalues of </a:t>
              </a:r>
              <a:r>
                <a:rPr kumimoji="1" lang="en-US" altLang="zh-TW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TW" sz="2400">
                  <a:latin typeface="Times New Roman" panose="02020603050405020304" pitchFamily="18" charset="0"/>
                </a:rPr>
                <a:t> are 10 and 1.</a:t>
              </a:r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7EB4AF9F-71B5-B836-0756-921AEF8F85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2" y="2288"/>
            <a:ext cx="1976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36900" imgH="787400" progId="Equation.3">
                    <p:embed/>
                  </p:oleObj>
                </mc:Choice>
                <mc:Fallback>
                  <p:oleObj name="Equation" r:id="rId2" imgW="3136900" imgH="787400" progId="Equation.3">
                    <p:embed/>
                    <p:pic>
                      <p:nvPicPr>
                        <p:cNvPr id="17413" name="Object 4">
                          <a:extLst>
                            <a:ext uri="{FF2B5EF4-FFF2-40B4-BE49-F238E27FC236}">
                              <a16:creationId xmlns:a16="http://schemas.microsoft.com/office/drawing/2014/main" id="{03316C95-D353-5366-30C1-A9B85D5169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" y="2288"/>
                          <a:ext cx="1976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F46BB9D0-86C6-F6C4-AE1A-C93DB1882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91" y="1429496"/>
            <a:ext cx="6354762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2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3459D-27F6-5029-1717-C0B2E0BB1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3F43B5-0149-BBB8-E974-BD19DC94DCF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79E1FA-C6AE-AB17-F161-40D25BBEF9D4}"/>
              </a:ext>
            </a:extLst>
          </p:cNvPr>
          <p:cNvSpPr txBox="1">
            <a:spLocks noChangeArrowheads="1"/>
          </p:cNvSpPr>
          <p:nvPr/>
        </p:nvSpPr>
        <p:spPr>
          <a:xfrm>
            <a:off x="239319" y="1537265"/>
            <a:ext cx="7543800" cy="78105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chemeClr val="tx1">
                    <a:lumMod val="75000"/>
                    <a:lumOff val="25000"/>
                  </a:schemeClr>
                </a:solidFill>
              </a:rPr>
              <a:t>A practice example </a:t>
            </a:r>
            <a:endParaRPr lang="en-US" altLang="zh-TW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782EB1E-1472-E3B9-AE61-81F1957E23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658104"/>
              </p:ext>
            </p:extLst>
          </p:nvPr>
        </p:nvGraphicFramePr>
        <p:xfrm>
          <a:off x="3474762" y="3074593"/>
          <a:ext cx="3126351" cy="1617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3040" imgH="754239" progId="Equation.3">
                  <p:embed/>
                </p:oleObj>
              </mc:Choice>
              <mc:Fallback>
                <p:oleObj name="Equation" r:id="rId2" imgW="1463040" imgH="754239" progId="Equation.3">
                  <p:embed/>
                  <p:pic>
                    <p:nvPicPr>
                      <p:cNvPr id="18435" name="Object 4">
                        <a:extLst>
                          <a:ext uri="{FF2B5EF4-FFF2-40B4-BE49-F238E27FC236}">
                            <a16:creationId xmlns:a16="http://schemas.microsoft.com/office/drawing/2014/main" id="{DD49CA9E-086E-A94F-8D6F-A20FEADC7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762" y="3074593"/>
                        <a:ext cx="3126351" cy="1617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1218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7296-FDE7-085A-213C-2652A8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C76E9F-031D-3AF6-3B68-86BFC454092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b="1" dirty="0"/>
              <a:t>Computation of Eigenvalues</a:t>
            </a:r>
            <a:endParaRPr lang="en-US" sz="3200" b="1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FE584E0-7F99-F087-BDB2-34AF79B68879}"/>
              </a:ext>
            </a:extLst>
          </p:cNvPr>
          <p:cNvSpPr txBox="1">
            <a:spLocks noChangeArrowheads="1"/>
          </p:cNvSpPr>
          <p:nvPr/>
        </p:nvSpPr>
        <p:spPr>
          <a:xfrm>
            <a:off x="2117214" y="1273378"/>
            <a:ext cx="7543800" cy="781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0" i="0" u="none" strike="noStrike" kern="1200" cap="none" spc="-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新細明體" panose="02020500000000000000" pitchFamily="18" charset="-120"/>
                <a:cs typeface="+mj-cs"/>
              </a:rPr>
              <a:t>A practice example </a:t>
            </a:r>
            <a:endParaRPr kumimoji="0" lang="en-US" altLang="zh-TW" sz="4800" b="0" i="0" u="none" strike="noStrike" kern="1200" cap="none" spc="-5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4A913176-F374-0C40-CD22-0112312EB8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036855"/>
              </p:ext>
            </p:extLst>
          </p:nvPr>
        </p:nvGraphicFramePr>
        <p:xfrm>
          <a:off x="7230552" y="1282903"/>
          <a:ext cx="1473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3040" imgH="754239" progId="Equation.3">
                  <p:embed/>
                </p:oleObj>
              </mc:Choice>
              <mc:Fallback>
                <p:oleObj name="Equation" r:id="rId2" imgW="1463040" imgH="754239" progId="Equation.3">
                  <p:embed/>
                  <p:pic>
                    <p:nvPicPr>
                      <p:cNvPr id="19459" name="Object 4">
                        <a:extLst>
                          <a:ext uri="{FF2B5EF4-FFF2-40B4-BE49-F238E27FC236}">
                            <a16:creationId xmlns:a16="http://schemas.microsoft.com/office/drawing/2014/main" id="{48A783B2-4826-4A7E-7C9E-C3D59C35F7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0552" y="1282903"/>
                        <a:ext cx="1473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4">
            <a:extLst>
              <a:ext uri="{FF2B5EF4-FFF2-40B4-BE49-F238E27FC236}">
                <a16:creationId xmlns:a16="http://schemas.microsoft.com/office/drawing/2014/main" id="{26ED93E3-F1D9-6BB4-5072-32D42333CC6A}"/>
              </a:ext>
            </a:extLst>
          </p:cNvPr>
          <p:cNvGrpSpPr>
            <a:grpSpLocks/>
          </p:cNvGrpSpPr>
          <p:nvPr/>
        </p:nvGrpSpPr>
        <p:grpSpPr bwMode="auto">
          <a:xfrm>
            <a:off x="1979102" y="2827540"/>
            <a:ext cx="6397625" cy="2460625"/>
            <a:chOff x="326" y="802"/>
            <a:chExt cx="4030" cy="1550"/>
          </a:xfrm>
        </p:grpSpPr>
        <p:graphicFrame>
          <p:nvGraphicFramePr>
            <p:cNvPr id="13" name="Object 7">
              <a:extLst>
                <a:ext uri="{FF2B5EF4-FFF2-40B4-BE49-F238E27FC236}">
                  <a16:creationId xmlns:a16="http://schemas.microsoft.com/office/drawing/2014/main" id="{6370C422-A46D-1D43-D183-54A40B40ED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9" y="802"/>
            <a:ext cx="148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49500" imgH="685800" progId="Equation.DSMT4">
                    <p:embed/>
                  </p:oleObj>
                </mc:Choice>
                <mc:Fallback>
                  <p:oleObj name="Equation" r:id="rId4" imgW="2349500" imgH="685800" progId="Equation.DSMT4">
                    <p:embed/>
                    <p:pic>
                      <p:nvPicPr>
                        <p:cNvPr id="19462" name="Object 7">
                          <a:extLst>
                            <a:ext uri="{FF2B5EF4-FFF2-40B4-BE49-F238E27FC236}">
                              <a16:creationId xmlns:a16="http://schemas.microsoft.com/office/drawing/2014/main" id="{CB7A318A-BE64-7168-E158-5E7987B8CE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9" y="802"/>
                          <a:ext cx="1480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F917C29F-26F9-C383-86B2-F0CD90BAEE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1369"/>
              <a:ext cx="2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The characteristic equation is</a:t>
              </a:r>
            </a:p>
          </p:txBody>
        </p:sp>
        <p:graphicFrame>
          <p:nvGraphicFramePr>
            <p:cNvPr id="15" name="Object 9">
              <a:extLst>
                <a:ext uri="{FF2B5EF4-FFF2-40B4-BE49-F238E27FC236}">
                  <a16:creationId xmlns:a16="http://schemas.microsoft.com/office/drawing/2014/main" id="{3316BFA2-01D4-2A4E-8A69-8F4BEDD55C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4" y="1792"/>
            <a:ext cx="2952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686300" imgH="889000" progId="Equation.3">
                    <p:embed/>
                  </p:oleObj>
                </mc:Choice>
                <mc:Fallback>
                  <p:oleObj name="Equation" r:id="rId6" imgW="4686300" imgH="889000" progId="Equation.3">
                    <p:embed/>
                    <p:pic>
                      <p:nvPicPr>
                        <p:cNvPr id="19464" name="Object 9">
                          <a:extLst>
                            <a:ext uri="{FF2B5EF4-FFF2-40B4-BE49-F238E27FC236}">
                              <a16:creationId xmlns:a16="http://schemas.microsoft.com/office/drawing/2014/main" id="{9C04EFC8-A4EB-613E-A59E-A8BED01E23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" y="1792"/>
                          <a:ext cx="2952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10">
            <a:extLst>
              <a:ext uri="{FF2B5EF4-FFF2-40B4-BE49-F238E27FC236}">
                <a16:creationId xmlns:a16="http://schemas.microsoft.com/office/drawing/2014/main" id="{8D633210-30BE-A870-5D1E-03626DABA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352" y="5712028"/>
            <a:ext cx="8093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</a:rPr>
              <a:t>There is a single eigenvalue, </a:t>
            </a: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 = 2. </a:t>
            </a:r>
            <a:endParaRPr kumimoji="1"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0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034D-5EBF-CE32-607B-9F11038CA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D1AF73-EA8F-2C4F-5EC2-1457D14C9B7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365421-2A0C-900A-A5FF-DD8A13F9ED30}"/>
              </a:ext>
            </a:extLst>
          </p:cNvPr>
          <p:cNvSpPr txBox="1"/>
          <p:nvPr/>
        </p:nvSpPr>
        <p:spPr>
          <a:xfrm>
            <a:off x="1435145" y="1651177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2">
                    <a:lumMod val="90000"/>
                  </a:schemeClr>
                </a:solidFill>
              </a:rPr>
              <a:t>LU F</a:t>
            </a:r>
            <a:r>
              <a:rPr lang="en-US" altLang="zh-CN" sz="2800" b="1" dirty="0">
                <a:solidFill>
                  <a:schemeClr val="bg2">
                    <a:lumMod val="90000"/>
                  </a:schemeClr>
                </a:solidFill>
              </a:rPr>
              <a:t>actorization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2">
                    <a:lumMod val="90000"/>
                  </a:schemeClr>
                </a:solidFill>
              </a:rPr>
              <a:t>Eigenvalue and Eigenvector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Norm Condition number</a:t>
            </a:r>
          </a:p>
        </p:txBody>
      </p:sp>
    </p:spTree>
    <p:extLst>
      <p:ext uri="{BB962C8B-B14F-4D97-AF65-F5344CB8AC3E}">
        <p14:creationId xmlns:p14="http://schemas.microsoft.com/office/powerpoint/2010/main" val="2636840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49A9-C407-C2A8-02BD-4490FCB3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69B542-A175-7F0A-B138-032282B85D0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8B32C-5008-49F0-92EB-51B9C380524B}"/>
              </a:ext>
            </a:extLst>
          </p:cNvPr>
          <p:cNvSpPr txBox="1"/>
          <p:nvPr/>
        </p:nvSpPr>
        <p:spPr>
          <a:xfrm>
            <a:off x="1834937" y="3019362"/>
            <a:ext cx="8045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H</a:t>
            </a:r>
            <a:r>
              <a:rPr lang="en-US" altLang="zh-CN" sz="3600" b="1" dirty="0"/>
              <a:t>ow can we do the error estimation</a:t>
            </a:r>
            <a:r>
              <a:rPr lang="zh-CN" altLang="en-US" sz="3600" b="1" dirty="0"/>
              <a:t>？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584824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3C2F1-E7F8-FD71-E632-E67224E0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410162-68B1-918D-E9E0-021B98B343E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914BBB1-17B7-1E21-8DEE-0E362AB10304}"/>
              </a:ext>
            </a:extLst>
          </p:cNvPr>
          <p:cNvSpPr txBox="1">
            <a:spLocks/>
          </p:cNvSpPr>
          <p:nvPr/>
        </p:nvSpPr>
        <p:spPr bwMode="auto">
          <a:xfrm>
            <a:off x="1511066" y="1036510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Vector Norms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9EA0E57-23F5-31F0-DEB4-2F475ED2E3CD}"/>
              </a:ext>
            </a:extLst>
          </p:cNvPr>
          <p:cNvSpPr txBox="1">
            <a:spLocks/>
          </p:cNvSpPr>
          <p:nvPr/>
        </p:nvSpPr>
        <p:spPr bwMode="auto">
          <a:xfrm>
            <a:off x="1469791" y="1981072"/>
            <a:ext cx="82296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The 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p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-norm of a vector X is:</a:t>
            </a:r>
            <a:b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</a:br>
            <a:b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</a:b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Important examples of vector 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p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-norms include: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7D7E9186-06B8-2EBF-5FCC-0207411B9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644391"/>
              </p:ext>
            </p:extLst>
          </p:nvPr>
        </p:nvGraphicFramePr>
        <p:xfrm>
          <a:off x="2117491" y="3933697"/>
          <a:ext cx="6800850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90900" imgH="1168400" progId="Equation.3">
                  <p:embed/>
                </p:oleObj>
              </mc:Choice>
              <mc:Fallback>
                <p:oleObj name="Equation" r:id="rId2" imgW="3390900" imgH="1168400" progId="Equation.3">
                  <p:embed/>
                  <p:pic>
                    <p:nvPicPr>
                      <p:cNvPr id="24580" name="Object 5">
                        <a:extLst>
                          <a:ext uri="{FF2B5EF4-FFF2-40B4-BE49-F238E27FC236}">
                            <a16:creationId xmlns:a16="http://schemas.microsoft.com/office/drawing/2014/main" id="{5302EE3C-9482-742D-D553-AFF017EB40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491" y="3933697"/>
                        <a:ext cx="6800850" cy="234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7DFD7ACC-E6AA-F10B-70E1-A96A690D9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723099"/>
              </p:ext>
            </p:extLst>
          </p:nvPr>
        </p:nvGraphicFramePr>
        <p:xfrm>
          <a:off x="5965591" y="1819147"/>
          <a:ext cx="22669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300" imgH="495300" progId="Equation.3">
                  <p:embed/>
                </p:oleObj>
              </mc:Choice>
              <mc:Fallback>
                <p:oleObj name="Equation" r:id="rId4" imgW="1130300" imgH="495300" progId="Equation.3">
                  <p:embed/>
                  <p:pic>
                    <p:nvPicPr>
                      <p:cNvPr id="24581" name="Object 6">
                        <a:extLst>
                          <a:ext uri="{FF2B5EF4-FFF2-40B4-BE49-F238E27FC236}">
                            <a16:creationId xmlns:a16="http://schemas.microsoft.com/office/drawing/2014/main" id="{DF48A716-592D-0C40-4983-76AEDFED58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591" y="1819147"/>
                        <a:ext cx="226695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7199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C031A-C430-D0B5-D354-B8A9FF7F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8517BA-F348-2734-98B7-1530736F064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93E1245-4FAF-18BE-2972-195E05E78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16" y="1017705"/>
            <a:ext cx="8283575" cy="535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30452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F919-F2FA-041B-CB55-A898690C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9906BE-D615-3473-1761-F76D738FCE0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064B46-1D67-9378-EFCA-3FD7D520BCB7}"/>
              </a:ext>
            </a:extLst>
          </p:cNvPr>
          <p:cNvSpPr txBox="1">
            <a:spLocks/>
          </p:cNvSpPr>
          <p:nvPr/>
        </p:nvSpPr>
        <p:spPr bwMode="auto">
          <a:xfrm>
            <a:off x="1002739" y="1082582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Norms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B75E9F5-8663-D1E9-5F62-033CAD33C261}"/>
              </a:ext>
            </a:extLst>
          </p:cNvPr>
          <p:cNvSpPr txBox="1">
            <a:spLocks/>
          </p:cNvSpPr>
          <p:nvPr/>
        </p:nvSpPr>
        <p:spPr bwMode="auto">
          <a:xfrm>
            <a:off x="961464" y="1989044"/>
            <a:ext cx="8229600" cy="2724150"/>
          </a:xfrm>
          <a:prstGeom prst="rect">
            <a:avLst/>
          </a:prstGeom>
          <a:blipFill>
            <a:blip r:embed="rId2"/>
            <a:stretch>
              <a:fillRect l="-222" t="-223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41089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4D4A-B75C-E15A-9086-C6A4133F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328E1BB-14A4-6565-7C2C-BA284495743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B22ECC-AC64-D0E5-20B2-B9549D25C542}"/>
              </a:ext>
            </a:extLst>
          </p:cNvPr>
          <p:cNvSpPr txBox="1">
            <a:spLocks/>
          </p:cNvSpPr>
          <p:nvPr/>
        </p:nvSpPr>
        <p:spPr bwMode="auto">
          <a:xfrm>
            <a:off x="779930" y="1004122"/>
            <a:ext cx="8229600" cy="4476750"/>
          </a:xfrm>
          <a:prstGeom prst="rect">
            <a:avLst/>
          </a:prstGeom>
          <a:blipFill>
            <a:blip r:embed="rId2"/>
            <a:stretch>
              <a:fillRect l="-222" t="-1361" b="-802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 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50BB4514-87AB-FA22-AF86-A5EAACF32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011194"/>
              </p:ext>
            </p:extLst>
          </p:nvPr>
        </p:nvGraphicFramePr>
        <p:xfrm>
          <a:off x="2328022" y="1377128"/>
          <a:ext cx="5991978" cy="293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1600200" progId="Equation.3">
                  <p:embed/>
                </p:oleObj>
              </mc:Choice>
              <mc:Fallback>
                <p:oleObj name="Equation" r:id="rId3" imgW="2616200" imgH="1600200" progId="Equation.3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ACF3BC1E-ACE8-208B-8D6F-D94701B958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022" y="1377128"/>
                        <a:ext cx="5991978" cy="2937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182A704A-B203-B2BA-5928-FB4A2612653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90600" y="5907932"/>
            <a:ext cx="7556500" cy="111601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noFill/>
                <a:latin typeface="Arial" panose="020B0604020202020204" pitchFamily="34" charset="0"/>
                <a:ea typeface="MS PGothic" panose="020B0600070205080204" pitchFamily="34" charset="-128"/>
              </a:rPr>
              <a:t>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DBF5B9-CC38-077C-3273-F530BE879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811" y="4921623"/>
            <a:ext cx="1416763" cy="55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86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8DCC-7019-5901-7909-60DC32C3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247695-35FB-47AA-745F-ECF68B12B9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15DF68-805B-A866-C03D-1EC1E169CE59}"/>
              </a:ext>
            </a:extLst>
          </p:cNvPr>
          <p:cNvSpPr txBox="1">
            <a:spLocks/>
          </p:cNvSpPr>
          <p:nvPr/>
        </p:nvSpPr>
        <p:spPr bwMode="auto">
          <a:xfrm>
            <a:off x="457200" y="682357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Norms: examples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121C60-DCE8-E80D-6EDE-4532F4F8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285837"/>
            <a:ext cx="10074042" cy="548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443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3A369-24A2-C4F7-2FA6-5847674CA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6698E-410D-638A-B590-643D8EAC2A4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C7430D-B601-47A9-3F8D-4C0A6FC4E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14" y="1206322"/>
            <a:ext cx="10353920" cy="677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262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2635</TotalTime>
  <Words>1105</Words>
  <Application>Microsoft Office PowerPoint</Application>
  <PresentationFormat>Custom</PresentationFormat>
  <Paragraphs>178</Paragraphs>
  <Slides>44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SimSun</vt:lpstr>
      <vt:lpstr>Aptos</vt:lpstr>
      <vt:lpstr>Aptos Display</vt:lpstr>
      <vt:lpstr>Arial</vt:lpstr>
      <vt:lpstr>Calibri</vt:lpstr>
      <vt:lpstr>Calibri Light</vt:lpstr>
      <vt:lpstr>Cambria Math</vt:lpstr>
      <vt:lpstr>Symbol</vt:lpstr>
      <vt:lpstr>Tahoma</vt:lpstr>
      <vt:lpstr>Times New Roman</vt:lpstr>
      <vt:lpstr>Wingdings</vt:lpstr>
      <vt:lpstr>Office 主题​​</vt:lpstr>
      <vt:lpstr>Equation</vt:lpstr>
      <vt:lpstr>方程式</vt:lpstr>
      <vt:lpstr>Microsoft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Chuqi</dc:creator>
  <cp:lastModifiedBy>Chen, Chuqi</cp:lastModifiedBy>
  <cp:revision>10</cp:revision>
  <dcterms:created xsi:type="dcterms:W3CDTF">2026-01-28T04:55:09Z</dcterms:created>
  <dcterms:modified xsi:type="dcterms:W3CDTF">2026-02-09T04:28:01Z</dcterms:modified>
</cp:coreProperties>
</file>